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dde66feca22425d" /><Relationship Type="http://schemas.openxmlformats.org/officeDocument/2006/relationships/extended-properties" Target="/docProps/app.xml" Id="Rc3ed022c51654bc8" /><Relationship Type="http://schemas.openxmlformats.org/officeDocument/2006/relationships/officeDocument" Target="/ppt/presentation.xml" Id="Rf2720e37ea0645bb" /></Relationships>
</file>

<file path=ppt/presentation.xml><?xml version="1.0" encoding="utf-8"?>
<p:presentation xmlns:p="http://schemas.openxmlformats.org/presentationml/2006/main">
  <p:sldMasterIdLst>
    <p:sldMasterId xmlns:r="http://schemas.openxmlformats.org/officeDocument/2006/relationships" id="2147483648" r:id="R00f5e07566204168"/>
  </p:sldMasterIdLst>
  <p:notesMasterIdLst>
    <p:notesMasterId xmlns:r="http://schemas.openxmlformats.org/officeDocument/2006/relationships" r:id="R88b0b3bd49c44109"/>
  </p:notesMasterIdLst>
  <p:sldIdLst>
    <p:sldId xmlns:r="http://schemas.openxmlformats.org/officeDocument/2006/relationships" id="256" r:id="Rfe60b1f4bbd048e3"/>
    <p:sldId xmlns:r="http://schemas.openxmlformats.org/officeDocument/2006/relationships" id="257" r:id="R0c14b8d67a364cf8"/>
    <p:sldId xmlns:r="http://schemas.openxmlformats.org/officeDocument/2006/relationships" id="258" r:id="Rc05f7069a0594aa4"/>
    <p:sldId xmlns:r="http://schemas.openxmlformats.org/officeDocument/2006/relationships" id="259" r:id="Rca3417969eba4174"/>
    <p:sldId xmlns:r="http://schemas.openxmlformats.org/officeDocument/2006/relationships" id="260" r:id="R6ed41dc59cb94743"/>
    <p:sldId xmlns:r="http://schemas.openxmlformats.org/officeDocument/2006/relationships" id="261" r:id="R9cafcbb14a3840d7"/>
    <p:sldId xmlns:r="http://schemas.openxmlformats.org/officeDocument/2006/relationships" id="262" r:id="R1bdec0d2618448fb"/>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e18e16b57724737" /><Relationship Type="http://schemas.openxmlformats.org/officeDocument/2006/relationships/slideMaster" Target="/ppt/slideMasters/slideMaster1.xml" Id="R00f5e07566204168" /><Relationship Type="http://schemas.openxmlformats.org/officeDocument/2006/relationships/notesMaster" Target="/ppt/notesMasters/notesMaster1.xml" Id="R88b0b3bd49c44109" /><Relationship Type="http://schemas.openxmlformats.org/officeDocument/2006/relationships/presProps" Target="/ppt/presProps.xml" Id="R2dc2cef61ad5451d" /><Relationship Type="http://schemas.openxmlformats.org/officeDocument/2006/relationships/tableStyles" Target="/ppt/tableStyles.xml" Id="R0e4620d2d8f14da5" /><Relationship Type="http://schemas.openxmlformats.org/officeDocument/2006/relationships/slide" Target="/ppt/slides/slide1.xml" Id="Rfe60b1f4bbd048e3" /><Relationship Type="http://schemas.openxmlformats.org/officeDocument/2006/relationships/slide" Target="/ppt/slides/slide2.xml" Id="R0c14b8d67a364cf8" /><Relationship Type="http://schemas.openxmlformats.org/officeDocument/2006/relationships/slide" Target="/ppt/slides/slide3.xml" Id="Rc05f7069a0594aa4" /><Relationship Type="http://schemas.openxmlformats.org/officeDocument/2006/relationships/slide" Target="/ppt/slides/slide4.xml" Id="Rca3417969eba4174" /><Relationship Type="http://schemas.openxmlformats.org/officeDocument/2006/relationships/slide" Target="/ppt/slides/slide5.xml" Id="R6ed41dc59cb94743" /><Relationship Type="http://schemas.openxmlformats.org/officeDocument/2006/relationships/slide" Target="/ppt/slides/slide6.xml" Id="R9cafcbb14a3840d7" /><Relationship Type="http://schemas.openxmlformats.org/officeDocument/2006/relationships/slide" Target="/ppt/slides/slide7.xml" Id="R1bdec0d2618448f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904a28628b94f9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8b6cb50613a42d5" /><Relationship Type="http://schemas.openxmlformats.org/officeDocument/2006/relationships/notesMaster" Target="/ppt/notesMasters/notesMaster1.xml" Id="Rd7a0a164f22544c3" /></Relationships>
</file>

<file path=ppt/notesSlides/_rels/notesSlide2.xml.rels>&#65279;<?xml version="1.0" encoding="utf-8"?><Relationships xmlns="http://schemas.openxmlformats.org/package/2006/relationships"><Relationship Type="http://schemas.openxmlformats.org/officeDocument/2006/relationships/slide" Target="/ppt/slides/slide2.xml" Id="Ra4769ad8d3d843f2" /><Relationship Type="http://schemas.openxmlformats.org/officeDocument/2006/relationships/notesMaster" Target="/ppt/notesMasters/notesMaster1.xml" Id="R0db4cd2de9694546" /></Relationships>
</file>

<file path=ppt/notesSlides/_rels/notesSlide3.xml.rels>&#65279;<?xml version="1.0" encoding="utf-8"?><Relationships xmlns="http://schemas.openxmlformats.org/package/2006/relationships"><Relationship Type="http://schemas.openxmlformats.org/officeDocument/2006/relationships/slide" Target="/ppt/slides/slide3.xml" Id="Rf49676d13b44464e" /><Relationship Type="http://schemas.openxmlformats.org/officeDocument/2006/relationships/notesMaster" Target="/ppt/notesMasters/notesMaster1.xml" Id="Rdbdd673d98404326" /></Relationships>
</file>

<file path=ppt/notesSlides/_rels/notesSlide4.xml.rels>&#65279;<?xml version="1.0" encoding="utf-8"?><Relationships xmlns="http://schemas.openxmlformats.org/package/2006/relationships"><Relationship Type="http://schemas.openxmlformats.org/officeDocument/2006/relationships/slide" Target="/ppt/slides/slide4.xml" Id="Rc5b3cc98c26440dd" /><Relationship Type="http://schemas.openxmlformats.org/officeDocument/2006/relationships/notesMaster" Target="/ppt/notesMasters/notesMaster1.xml" Id="R3240f1bfe3484270" /></Relationships>
</file>

<file path=ppt/notesSlides/_rels/notesSlide5.xml.rels>&#65279;<?xml version="1.0" encoding="utf-8"?><Relationships xmlns="http://schemas.openxmlformats.org/package/2006/relationships"><Relationship Type="http://schemas.openxmlformats.org/officeDocument/2006/relationships/slide" Target="/ppt/slides/slide5.xml" Id="R9e6ddaec42cb42c7" /><Relationship Type="http://schemas.openxmlformats.org/officeDocument/2006/relationships/notesMaster" Target="/ppt/notesMasters/notesMaster1.xml" Id="R726dfe03e35c4caf" /></Relationships>
</file>

<file path=ppt/notesSlides/_rels/notesSlide6.xml.rels>&#65279;<?xml version="1.0" encoding="utf-8"?><Relationships xmlns="http://schemas.openxmlformats.org/package/2006/relationships"><Relationship Type="http://schemas.openxmlformats.org/officeDocument/2006/relationships/slide" Target="/ppt/slides/slide6.xml" Id="R8d94c768f6ef4712" /><Relationship Type="http://schemas.openxmlformats.org/officeDocument/2006/relationships/notesMaster" Target="/ppt/notesMasters/notesMaster1.xml" Id="R71506fea4f4d4808" /></Relationships>
</file>

<file path=ppt/notesSlides/_rels/notesSlide7.xml.rels>&#65279;<?xml version="1.0" encoding="utf-8"?><Relationships xmlns="http://schemas.openxmlformats.org/package/2006/relationships"><Relationship Type="http://schemas.openxmlformats.org/officeDocument/2006/relationships/slide" Target="/ppt/slides/slide7.xml" Id="Rbe046da04707400d" /><Relationship Type="http://schemas.openxmlformats.org/officeDocument/2006/relationships/notesMaster" Target="/ppt/notesMasters/notesMaster1.xml" Id="Rc714e8df5b404f2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Workforce Advisory, a Talent Decision Intelligence OS. Original brief SW-08. The project compares options before recruitment begins and retains human approval. Sources: D:/SA/docs/COMPLETION-MATRIX.md and D:/SA/docs/METHODOLOGY.md. Prototype capabilities must not be described as certified production operation.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top panels explain the problem and implementation distinctions. The bottom diagram replaces the environmental sensor network while retaining its allocated area. The software ingests mapped exports; it does not claim native Workday/SAP connectivity. See D:/SA/src/server/repository.ts, imports.ts and recruitment.ts.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reflects project code. Sources: D:/SA/src/server/db.ts, auth.ts, repository.ts, market.ts and recruitment.ts. Gemini is optional for non-confidential requirement parsing. Native enterprise execution, shared-team access and semantic vectors are future work. Saved decisions preserve historical evidence. Whole-person reservations apply to new approvals.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Business scalability is a proposed plan rather than a claim of customers, revenue or validated ROI. Begin with an authorized departmental pilot. Existing app isolates personal owners but does not yet implement shared-team delegation. Source: D:/SA/docs/PRESENTATION-GUIDE.md, Business scalability section, and COMPLETION-MATRIX.md.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Feasibility describes implementation choices and remaining production requirements. It does not claim completed build, security, accessibility or load verification. Source: D:/SA/docs/COMPLETION-MATRIX.md. The user requested no tests during the implementation pass, so production certification remains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Benefits are potential outcomes, not measured impact claims. Proposed pilot metrics need a baseline and actual outcomes. Internal fill share and cost comparisons require consistent definitions. Imported performance data can encode bias, so reviewers must permit source correction and monitor disparate outcomes. Source: D:/SA/docs/PRESENTATION-GUIDE.md. No percentage savings, hiring gains or fairness certification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https://www.onetcenter.org/database.html and https://www.onetcenter.org/license_db.html (O*NET 31.0, CC BY 4.0, USDOL/ETA attribution); https://learn.microsoft.com/en-us/training/support/catalog-api-developer-reference; https://github.com/remotive-com/remote-jobs-api; https://developer.adzuna.com/docs/search. Local data provenance: D:/SA/data/onet/manifest.json and D:/SA/data/remote-jobs.json. The comparison is a conceptual mapping of common system roles, not an empirical vendor benchmark. Current app supports imports and local workflows, not every native vendor connector.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7063aae68094fc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bc974293e384c7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7f0c7646c59420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3e60246119349f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e894a63a7634c5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08dbee5ac6843f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640B67-A4AF-4C8B-81B5-ADF7F792E555}"/>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AAE6643-4DC6-4FF9-AEA3-19B4558EA555}"/>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A356E42-7367-4D48-AEE7-E2859A38DE53}"/>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81273AA-2B87-49F3-8BED-805C6C646BC8}"/>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B6A6D0E-E9A6-4D06-910A-29ABB2DECEB3}"/>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328FB6B-3179-4FA0-9105-1B1A6ADDFE2D}"/>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4D4E3F5-72D1-451E-8FBF-A08B2524209C}"/>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B022E92-7E7D-44D3-AC82-28A97EA3E765}"/>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5F6CB75-50D7-489D-9976-5AF865C578DB}"/>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9847D89-5330-4DFD-BAAB-BE3BF09CA46F}"/>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0cb54e41a714a9f" /><Relationship Type="http://schemas.openxmlformats.org/officeDocument/2006/relationships/slideLayout" Target="/ppt/slideLayouts/slideLayout1.xml" Id="R1dd96001c7564f70" /><Relationship Type="http://schemas.openxmlformats.org/officeDocument/2006/relationships/slideLayout" Target="/ppt/slideLayouts/slideLayout2.xml" Id="Rb39a70169c944da0" /><Relationship Type="http://schemas.openxmlformats.org/officeDocument/2006/relationships/slideLayout" Target="/ppt/slideLayouts/slideLayout3.xml" Id="Rc9b2daf1537b4b70" /><Relationship Type="http://schemas.openxmlformats.org/officeDocument/2006/relationships/slideLayout" Target="/ppt/slideLayouts/slideLayout4.xml" Id="Ra1ef16d5014e4959" /><Relationship Type="http://schemas.openxmlformats.org/officeDocument/2006/relationships/slideLayout" Target="/ppt/slideLayouts/slideLayout5.xml" Id="Rcb0c7805ae02490a" /><Relationship Type="http://schemas.openxmlformats.org/officeDocument/2006/relationships/slideLayout" Target="/ppt/slideLayouts/slideLayout6.xml" Id="R18c6d010e11f441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dd96001c7564f70"/>
    <p:sldLayoutId xmlns:r="http://schemas.openxmlformats.org/officeDocument/2006/relationships" id="2147483650" r:id="Rb39a70169c944da0"/>
    <p:sldLayoutId xmlns:r="http://schemas.openxmlformats.org/officeDocument/2006/relationships" id="2147483651" r:id="Rc9b2daf1537b4b70"/>
    <p:sldLayoutId xmlns:r="http://schemas.openxmlformats.org/officeDocument/2006/relationships" id="2147483652" r:id="Ra1ef16d5014e4959"/>
    <p:sldLayoutId xmlns:r="http://schemas.openxmlformats.org/officeDocument/2006/relationships" id="2147483653" r:id="Rcb0c7805ae02490a"/>
    <p:sldLayoutId xmlns:r="http://schemas.openxmlformats.org/officeDocument/2006/relationships" id="2147483654" r:id="R18c6d010e11f441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c4f6d19d544400e" /><Relationship Type="http://schemas.openxmlformats.org/officeDocument/2006/relationships/notesSlide" Target="/ppt/notesSlides/notesSlide1.xml" Id="Reffa4e5949b3495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7f986d3de0f4761" /><Relationship Type="http://schemas.openxmlformats.org/officeDocument/2006/relationships/notesSlide" Target="/ppt/notesSlides/notesSlide2.xml" Id="R590b171728ae4e0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e68dec0267b42cd" /><Relationship Type="http://schemas.openxmlformats.org/officeDocument/2006/relationships/notesSlide" Target="/ppt/notesSlides/notesSlide3.xml" Id="Rb73f4f943df74fd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b3677bf013742db" /><Relationship Type="http://schemas.openxmlformats.org/officeDocument/2006/relationships/notesSlide" Target="/ppt/notesSlides/notesSlide4.xml" Id="Rda8f326b54d1488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0e666e3e8024ebc" /><Relationship Type="http://schemas.openxmlformats.org/officeDocument/2006/relationships/notesSlide" Target="/ppt/notesSlides/notesSlide5.xml" Id="R1e22b8ab7ebd443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36471bd62ba462e" /><Relationship Type="http://schemas.openxmlformats.org/officeDocument/2006/relationships/notesSlide" Target="/ppt/notesSlides/notesSlide6.xml" Id="R1faf16b50393450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6117d89a4e2435f" /><Relationship Type="http://schemas.openxmlformats.org/officeDocument/2006/relationships/hyperlink" Target="https://www.onetcenter.org/database.html" TargetMode="External" Id="R9e0924db9dca4a98" /><Relationship Type="http://schemas.openxmlformats.org/officeDocument/2006/relationships/hyperlink" Target="https://learn.microsoft.com/en-us/training/support/catalog-api-developer-reference" TargetMode="External" Id="R2ac5f03f26d14b0a" /><Relationship Type="http://schemas.openxmlformats.org/officeDocument/2006/relationships/hyperlink" Target="https://github.com/remotive-com/remote-jobs-api" TargetMode="External" Id="R627e9e7680f84ee5" /><Relationship Type="http://schemas.openxmlformats.org/officeDocument/2006/relationships/hyperlink" Target="https://developer.adzuna.com/docs/search" TargetMode="External" Id="R65ac0611781f44d2" /><Relationship Type="http://schemas.openxmlformats.org/officeDocument/2006/relationships/hyperlink" Target="https://www.onetcenter.org/license_db.html" TargetMode="External" Id="R6279942df71942ee" /><Relationship Type="http://schemas.openxmlformats.org/officeDocument/2006/relationships/notesSlide" Target="/ppt/notesSlides/notesSlide7.xml" Id="R52ee70fd823244b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title">
            <a:extLst xmlns:a="http://schemas.openxmlformats.org/drawingml/2006/main">
              <a:ext uri="{FF2B5EF4-FFF2-40B4-BE49-F238E27FC236}">
                <a16:creationId xmlns:a16="http://schemas.microsoft.com/office/drawing/2014/main" id="{ED8F0369-36CC-48CB-A447-3B7845AD6B8B}"/>
              </a:ext>
            </a:extLst>
          </p:cNvPr>
          <p:cNvSpPr>
            <a:spLocks xmlns:a="http://schemas.openxmlformats.org/drawingml/2006/main" noGrp="1"/>
          </p:cNvSpPr>
          <p:nvPr/>
        </p:nvSpPr>
        <p:spPr>
          <a:xfrm xmlns:a="http://schemas.openxmlformats.org/drawingml/2006/main">
            <a:off x="1968500" y="698500"/>
            <a:ext cx="12700000" cy="1079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5700" b="1" i="0">
                <a:solidFill>
                  <a:srgbClr val="214E83"/>
                </a:solidFill>
                <a:latin typeface="Garamond"/>
                <a:ea typeface="Garamond"/>
                <a:cs typeface="Garamond"/>
              </a:defRPr>
            </a:defPPr>
          </a:lstStyle>
          <a:p xmlns:a="http://schemas.openxmlformats.org/drawingml/2006/main">
            <a:pPr algn="ctr">
              <a:defRPr sz="5700" b="1" i="0">
                <a:solidFill>
                  <a:srgbClr val="214E83"/>
                </a:solidFill>
                <a:latin typeface="Garamond"/>
                <a:ea typeface="Garamond"/>
                <a:cs typeface="Garamond"/>
              </a:defRPr>
            </a:pPr>
            <a:r>
              <a:rPr sz="5700" b="1" i="0">
                <a:solidFill>
                  <a:srgbClr val="214E83"/>
                </a:solidFill>
                <a:latin typeface="Garamond"/>
                <a:ea typeface="Garamond"/>
                <a:cs typeface="Garamond"/>
              </a:rPr>
              <a:t>KERNEL PRIME’26</a:t>
            </a:r>
          </a:p>
        </p:txBody>
      </p:sp>
      <p:sp>
        <p:nvSpPr>
          <p:cNvPr id="2" name="shape-2">
            <a:extLst xmlns:a="http://schemas.openxmlformats.org/drawingml/2006/main">
              <a:ext uri="{FF2B5EF4-FFF2-40B4-BE49-F238E27FC236}">
                <a16:creationId xmlns:a16="http://schemas.microsoft.com/office/drawing/2014/main" id="{3F4BA0AC-90F6-4DBF-8A68-550699043467}"/>
              </a:ext>
            </a:extLst>
          </p:cNvPr>
          <p:cNvSpPr>
            <a:spLocks xmlns:a="http://schemas.openxmlformats.org/drawingml/2006/main" noGrp="1"/>
          </p:cNvSpPr>
          <p:nvPr/>
        </p:nvSpPr>
        <p:spPr>
          <a:xfrm xmlns:a="http://schemas.openxmlformats.org/drawingml/2006/main">
            <a:off x="14566900" y="4635500"/>
            <a:ext cx="3479800" cy="4851400"/>
          </a:xfrm>
          <a:prstGeom xmlns:a="http://schemas.openxmlformats.org/drawingml/2006/main" prst="hexagon">
            <a:avLst/>
          </a:prstGeom>
          <a:solidFill xmlns:a="http://schemas.openxmlformats.org/drawingml/2006/main">
            <a:srgbClr val="ECECEC"/>
          </a:solidFill>
          <a:ln xmlns:a="http://schemas.openxmlformats.org/drawingml/2006/main" w="0">
            <a:noFill/>
            <a:prstDash val="solid"/>
          </a:ln>
        </p:spPr>
      </p:sp>
      <p:sp>
        <p:nvSpPr>
          <p:cNvPr id="3" name="shape-3">
            <a:extLst xmlns:a="http://schemas.openxmlformats.org/drawingml/2006/main">
              <a:ext uri="{FF2B5EF4-FFF2-40B4-BE49-F238E27FC236}">
                <a16:creationId xmlns:a16="http://schemas.microsoft.com/office/drawing/2014/main" id="{946B64BD-D9D4-4657-9E40-D5C6128E44A2}"/>
              </a:ext>
            </a:extLst>
          </p:cNvPr>
          <p:cNvSpPr>
            <a:spLocks xmlns:a="http://schemas.openxmlformats.org/drawingml/2006/main" noGrp="1"/>
          </p:cNvSpPr>
          <p:nvPr/>
        </p:nvSpPr>
        <p:spPr>
          <a:xfrm xmlns:a="http://schemas.openxmlformats.org/drawingml/2006/main">
            <a:off x="14071600" y="4025900"/>
            <a:ext cx="1612900" cy="2070100"/>
          </a:xfrm>
          <a:prstGeom xmlns:a="http://schemas.openxmlformats.org/drawingml/2006/main" prst="hexagon">
            <a:avLst/>
          </a:prstGeom>
          <a:noFill xmlns:a="http://schemas.openxmlformats.org/drawingml/2006/main"/>
          <a:ln xmlns:a="http://schemas.openxmlformats.org/drawingml/2006/main" w="101600">
            <a:solidFill>
              <a:srgbClr val="ECECEC"/>
            </a:solidFill>
            <a:prstDash val="solid"/>
          </a:ln>
        </p:spPr>
      </p:sp>
      <p:sp>
        <p:nvSpPr>
          <p:cNvPr id="4" name="shape-4">
            <a:extLst xmlns:a="http://schemas.openxmlformats.org/drawingml/2006/main">
              <a:ext uri="{FF2B5EF4-FFF2-40B4-BE49-F238E27FC236}">
                <a16:creationId xmlns:a16="http://schemas.microsoft.com/office/drawing/2014/main" id="{BB8B5977-54B9-4B92-925C-A3EDE062E54B}"/>
              </a:ext>
            </a:extLst>
          </p:cNvPr>
          <p:cNvSpPr>
            <a:spLocks xmlns:a="http://schemas.openxmlformats.org/drawingml/2006/main" noGrp="1"/>
          </p:cNvSpPr>
          <p:nvPr/>
        </p:nvSpPr>
        <p:spPr>
          <a:xfrm xmlns:a="http://schemas.openxmlformats.org/drawingml/2006/main">
            <a:off x="13296900" y="7340600"/>
            <a:ext cx="1016000" cy="1168400"/>
          </a:xfrm>
          <a:prstGeom xmlns:a="http://schemas.openxmlformats.org/drawingml/2006/main" prst="hexagon">
            <a:avLst/>
          </a:prstGeom>
          <a:solidFill xmlns:a="http://schemas.openxmlformats.org/drawingml/2006/main">
            <a:srgbClr val="ECECEC"/>
          </a:solidFill>
          <a:ln xmlns:a="http://schemas.openxmlformats.org/drawingml/2006/main" w="0">
            <a:noFill/>
            <a:prstDash val="solid"/>
          </a:ln>
        </p:spPr>
      </p:sp>
      <p:sp>
        <p:nvSpPr>
          <p:cNvPr id="5" name="text-6">
            <a:extLst xmlns:a="http://schemas.openxmlformats.org/drawingml/2006/main">
              <a:ext uri="{FF2B5EF4-FFF2-40B4-BE49-F238E27FC236}">
                <a16:creationId xmlns:a16="http://schemas.microsoft.com/office/drawing/2014/main" id="{EE26614F-08A0-41A3-A522-E8A27A50ADFF}"/>
              </a:ext>
            </a:extLst>
          </p:cNvPr>
          <p:cNvSpPr>
            <a:spLocks xmlns:a="http://schemas.openxmlformats.org/drawingml/2006/main" noGrp="1"/>
          </p:cNvSpPr>
          <p:nvPr/>
        </p:nvSpPr>
        <p:spPr>
          <a:xfrm xmlns:a="http://schemas.openxmlformats.org/drawingml/2006/main">
            <a:off x="14947900" y="6604000"/>
            <a:ext cx="26162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900" b="1" i="0">
                <a:solidFill>
                  <a:srgbClr val="214E83"/>
                </a:solidFill>
                <a:latin typeface="Times New Roman"/>
                <a:ea typeface="Times New Roman"/>
                <a:cs typeface="Times New Roman"/>
              </a:defRPr>
            </a:defPPr>
          </a:lstStyle>
          <a:p xmlns:a="http://schemas.openxmlformats.org/drawingml/2006/main">
            <a:pPr algn="ctr">
              <a:defRPr sz="2900" b="1" i="0">
                <a:solidFill>
                  <a:srgbClr val="214E83"/>
                </a:solidFill>
                <a:latin typeface="Times New Roman"/>
                <a:ea typeface="Times New Roman"/>
                <a:cs typeface="Times New Roman"/>
              </a:defRPr>
            </a:pPr>
            <a:r>
              <a:rPr sz="2900" b="1" i="0">
                <a:solidFill>
                  <a:srgbClr val="214E83"/>
                </a:solidFill>
                <a:latin typeface="Times New Roman"/>
                <a:ea typeface="Times New Roman"/>
                <a:cs typeface="Times New Roman"/>
              </a:rPr>
              <a:t>WORKFORCE</a:t>
            </a:r>
          </a:p>
          <a:p xmlns:a="http://schemas.openxmlformats.org/drawingml/2006/main">
            <a:pPr algn="ctr">
              <a:defRPr sz="2900" b="1" i="0">
                <a:solidFill>
                  <a:srgbClr val="214E83"/>
                </a:solidFill>
                <a:latin typeface="Times New Roman"/>
                <a:ea typeface="Times New Roman"/>
                <a:cs typeface="Times New Roman"/>
              </a:defRPr>
            </a:pPr>
            <a:r>
              <a:rPr sz="2900" b="1" i="0">
                <a:solidFill>
                  <a:srgbClr val="214E83"/>
                </a:solidFill>
                <a:latin typeface="Times New Roman"/>
                <a:ea typeface="Times New Roman"/>
                <a:cs typeface="Times New Roman"/>
              </a:rPr>
              <a:t>ADVISORY</a:t>
            </a:r>
          </a:p>
        </p:txBody>
      </p:sp>
      <p:sp>
        <p:nvSpPr>
          <p:cNvPr id="6" name="text-8">
            <a:extLst xmlns:a="http://schemas.openxmlformats.org/drawingml/2006/main">
              <a:ext uri="{FF2B5EF4-FFF2-40B4-BE49-F238E27FC236}">
                <a16:creationId xmlns:a16="http://schemas.microsoft.com/office/drawing/2014/main" id="{07C81608-E214-48A5-ACAD-4C9D1E9FD60D}"/>
              </a:ext>
            </a:extLst>
          </p:cNvPr>
          <p:cNvSpPr>
            <a:spLocks xmlns:a="http://schemas.openxmlformats.org/drawingml/2006/main" noGrp="1"/>
          </p:cNvSpPr>
          <p:nvPr/>
        </p:nvSpPr>
        <p:spPr>
          <a:xfrm xmlns:a="http://schemas.openxmlformats.org/drawingml/2006/main">
            <a:off x="533400" y="2336800"/>
            <a:ext cx="3556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0" i="0">
                <a:solidFill>
                  <a:srgbClr val="000000"/>
                </a:solidFill>
                <a:latin typeface="Times New Roman"/>
                <a:ea typeface="Times New Roman"/>
                <a:cs typeface="Times New Roman"/>
              </a:defRPr>
            </a:defPPr>
          </a:lstStyle>
          <a:p xmlns:a="http://schemas.openxmlformats.org/drawingml/2006/main">
            <a:pPr algn="l">
              <a:defRPr sz="3300" b="0" i="0">
                <a:solidFill>
                  <a:srgbClr val="000000"/>
                </a:solidFill>
                <a:latin typeface="Times New Roman"/>
                <a:ea typeface="Times New Roman"/>
                <a:cs typeface="Times New Roman"/>
              </a:defRPr>
            </a:pPr>
            <a:r>
              <a:rPr sz="3300" b="0" i="0">
                <a:solidFill>
                  <a:srgbClr val="000000"/>
                </a:solidFill>
                <a:latin typeface="Times New Roman"/>
                <a:ea typeface="Times New Roman"/>
                <a:cs typeface="Times New Roman"/>
              </a:rPr>
              <a:t>•</a:t>
            </a:r>
          </a:p>
        </p:txBody>
      </p:sp>
      <p:sp>
        <p:nvSpPr>
          <p:cNvPr id="7" name="text-10">
            <a:extLst xmlns:a="http://schemas.openxmlformats.org/drawingml/2006/main">
              <a:ext uri="{FF2B5EF4-FFF2-40B4-BE49-F238E27FC236}">
                <a16:creationId xmlns:a16="http://schemas.microsoft.com/office/drawing/2014/main" id="{8BEA6597-09FC-4F7D-8B46-B233FB0FD635}"/>
              </a:ext>
            </a:extLst>
          </p:cNvPr>
          <p:cNvSpPr>
            <a:spLocks xmlns:a="http://schemas.openxmlformats.org/drawingml/2006/main" noGrp="1"/>
          </p:cNvSpPr>
          <p:nvPr/>
        </p:nvSpPr>
        <p:spPr>
          <a:xfrm xmlns:a="http://schemas.openxmlformats.org/drawingml/2006/main">
            <a:off x="990600" y="2336800"/>
            <a:ext cx="12890500" cy="660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100" b="0" i="0">
                <a:solidFill>
                  <a:srgbClr val="000000"/>
                </a:solidFill>
                <a:latin typeface="Times New Roman"/>
                <a:ea typeface="Times New Roman"/>
                <a:cs typeface="Times New Roman"/>
              </a:defRPr>
            </a:defPPr>
          </a:lstStyle>
          <a:p xmlns:a="http://schemas.openxmlformats.org/drawingml/2006/main">
            <a:pPr algn="l">
              <a:defRPr sz="3100" b="0" i="0">
                <a:solidFill>
                  <a:srgbClr val="000000"/>
                </a:solidFill>
                <a:latin typeface="Times New Roman"/>
                <a:ea typeface="Times New Roman"/>
                <a:cs typeface="Times New Roman"/>
              </a:defRPr>
            </a:pPr>
            <a:r>
              <a:rPr sz="3100" b="0" i="0">
                <a:solidFill>
                  <a:srgbClr val="000000"/>
                </a:solidFill>
                <a:latin typeface="Times New Roman"/>
                <a:ea typeface="Times New Roman"/>
                <a:cs typeface="Times New Roman"/>
              </a:rPr>
              <a:t>Project Title - </a:t>
            </a:r>
            <a:r>
              <a:rPr sz="3100" b="0" i="0">
                <a:solidFill>
                  <a:srgbClr val="000000"/>
                </a:solidFill>
                <a:latin typeface="Times New Roman"/>
                <a:ea typeface="Times New Roman"/>
                <a:cs typeface="Times New Roman"/>
              </a:rPr>
              <a:t>WORKFORCE ADVISORY</a:t>
            </a:r>
          </a:p>
        </p:txBody>
      </p:sp>
      <p:sp>
        <p:nvSpPr>
          <p:cNvPr id="8" name="text-12">
            <a:extLst xmlns:a="http://schemas.openxmlformats.org/drawingml/2006/main">
              <a:ext uri="{FF2B5EF4-FFF2-40B4-BE49-F238E27FC236}">
                <a16:creationId xmlns:a16="http://schemas.microsoft.com/office/drawing/2014/main" id="{49496EA6-C4AA-43E9-8C10-1C9B14F9FE6D}"/>
              </a:ext>
            </a:extLst>
          </p:cNvPr>
          <p:cNvSpPr>
            <a:spLocks xmlns:a="http://schemas.openxmlformats.org/drawingml/2006/main" noGrp="1"/>
          </p:cNvSpPr>
          <p:nvPr/>
        </p:nvSpPr>
        <p:spPr>
          <a:xfrm xmlns:a="http://schemas.openxmlformats.org/drawingml/2006/main">
            <a:off x="533400" y="3162300"/>
            <a:ext cx="3556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0" i="0">
                <a:solidFill>
                  <a:srgbClr val="000000"/>
                </a:solidFill>
                <a:latin typeface="Times New Roman"/>
                <a:ea typeface="Times New Roman"/>
                <a:cs typeface="Times New Roman"/>
              </a:defRPr>
            </a:defPPr>
          </a:lstStyle>
          <a:p xmlns:a="http://schemas.openxmlformats.org/drawingml/2006/main">
            <a:pPr algn="l">
              <a:defRPr sz="3300" b="0" i="0">
                <a:solidFill>
                  <a:srgbClr val="000000"/>
                </a:solidFill>
                <a:latin typeface="Times New Roman"/>
                <a:ea typeface="Times New Roman"/>
                <a:cs typeface="Times New Roman"/>
              </a:defRPr>
            </a:pPr>
            <a:r>
              <a:rPr sz="3300" b="0" i="0">
                <a:solidFill>
                  <a:srgbClr val="000000"/>
                </a:solidFill>
                <a:latin typeface="Times New Roman"/>
                <a:ea typeface="Times New Roman"/>
                <a:cs typeface="Times New Roman"/>
              </a:rPr>
              <a:t>•</a:t>
            </a:r>
          </a:p>
        </p:txBody>
      </p:sp>
      <p:sp>
        <p:nvSpPr>
          <p:cNvPr id="9" name="text-14">
            <a:extLst xmlns:a="http://schemas.openxmlformats.org/drawingml/2006/main">
              <a:ext uri="{FF2B5EF4-FFF2-40B4-BE49-F238E27FC236}">
                <a16:creationId xmlns:a16="http://schemas.microsoft.com/office/drawing/2014/main" id="{C0215213-3206-4089-B783-216C7BB5F7C6}"/>
              </a:ext>
            </a:extLst>
          </p:cNvPr>
          <p:cNvSpPr>
            <a:spLocks xmlns:a="http://schemas.openxmlformats.org/drawingml/2006/main" noGrp="1"/>
          </p:cNvSpPr>
          <p:nvPr/>
        </p:nvSpPr>
        <p:spPr>
          <a:xfrm xmlns:a="http://schemas.openxmlformats.org/drawingml/2006/main">
            <a:off x="990600" y="3162300"/>
            <a:ext cx="12890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100" b="0" i="0">
                <a:solidFill>
                  <a:srgbClr val="000000"/>
                </a:solidFill>
                <a:latin typeface="Times New Roman"/>
                <a:ea typeface="Times New Roman"/>
                <a:cs typeface="Times New Roman"/>
              </a:defRPr>
            </a:defPPr>
          </a:lstStyle>
          <a:p xmlns:a="http://schemas.openxmlformats.org/drawingml/2006/main">
            <a:pPr algn="l">
              <a:defRPr sz="3100" b="0" i="0">
                <a:solidFill>
                  <a:srgbClr val="000000"/>
                </a:solidFill>
                <a:latin typeface="Times New Roman"/>
                <a:ea typeface="Times New Roman"/>
                <a:cs typeface="Times New Roman"/>
              </a:defRPr>
            </a:pPr>
            <a:r>
              <a:rPr sz="3100" b="0" i="0">
                <a:solidFill>
                  <a:srgbClr val="000000"/>
                </a:solidFill>
                <a:latin typeface="Times New Roman"/>
                <a:ea typeface="Times New Roman"/>
                <a:cs typeface="Times New Roman"/>
              </a:rPr>
              <a:t>Problem Statement - </a:t>
            </a:r>
            <a:r>
              <a:rPr sz="3100" b="0" i="0">
                <a:solidFill>
                  <a:srgbClr val="000000"/>
                </a:solidFill>
                <a:latin typeface="Times New Roman"/>
                <a:ea typeface="Times New Roman"/>
                <a:cs typeface="Times New Roman"/>
              </a:rPr>
              <a:t>Talent Decision Intelligence OS</a:t>
            </a:r>
          </a:p>
        </p:txBody>
      </p:sp>
      <p:sp>
        <p:nvSpPr>
          <p:cNvPr id="10" name="text-16">
            <a:extLst xmlns:a="http://schemas.openxmlformats.org/drawingml/2006/main">
              <a:ext uri="{FF2B5EF4-FFF2-40B4-BE49-F238E27FC236}">
                <a16:creationId xmlns:a16="http://schemas.microsoft.com/office/drawing/2014/main" id="{107AE89F-DD9A-4C6D-A9CD-5D2BEF7733A1}"/>
              </a:ext>
            </a:extLst>
          </p:cNvPr>
          <p:cNvSpPr>
            <a:spLocks xmlns:a="http://schemas.openxmlformats.org/drawingml/2006/main" noGrp="1"/>
          </p:cNvSpPr>
          <p:nvPr/>
        </p:nvSpPr>
        <p:spPr>
          <a:xfrm xmlns:a="http://schemas.openxmlformats.org/drawingml/2006/main">
            <a:off x="1016000" y="3784600"/>
            <a:ext cx="12954000" cy="252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00" b="0" i="0">
                <a:solidFill>
                  <a:srgbClr val="000000"/>
                </a:solidFill>
                <a:latin typeface="Times New Roman"/>
                <a:ea typeface="Times New Roman"/>
                <a:cs typeface="Times New Roman"/>
              </a:defRPr>
            </a:defPPr>
          </a:lstStyle>
          <a:p xmlns:a="http://schemas.openxmlformats.org/drawingml/2006/main">
            <a:pPr algn="l">
              <a:defRPr sz="2800" b="0" i="0">
                <a:solidFill>
                  <a:srgbClr val="000000"/>
                </a:solidFill>
                <a:latin typeface="Times New Roman"/>
                <a:ea typeface="Times New Roman"/>
                <a:cs typeface="Times New Roman"/>
              </a:defRPr>
            </a:pPr>
            <a:r>
              <a:rPr sz="2800" b="0" i="0">
                <a:solidFill>
                  <a:srgbClr val="000000"/>
                </a:solidFill>
                <a:latin typeface="Times New Roman"/>
                <a:ea typeface="Times New Roman"/>
                <a:cs typeface="Times New Roman"/>
              </a:rPr>
              <a:t>Talent information sits across HR, recruitment and contractor systems. Organizations often open an external requisition before checking internal skills, development paths or flexible capacity. Our project compares Build, Buy, Borrow, Automate and Relocate using available evidence, then records a human decision and the recruitment or development action.</a:t>
            </a:r>
          </a:p>
        </p:txBody>
      </p:sp>
      <p:sp>
        <p:nvSpPr>
          <p:cNvPr id="11" name="text-18">
            <a:extLst xmlns:a="http://schemas.openxmlformats.org/drawingml/2006/main">
              <a:ext uri="{FF2B5EF4-FFF2-40B4-BE49-F238E27FC236}">
                <a16:creationId xmlns:a16="http://schemas.microsoft.com/office/drawing/2014/main" id="{0F1C6BD0-350B-4F58-A917-B6A85E55AAE6}"/>
              </a:ext>
            </a:extLst>
          </p:cNvPr>
          <p:cNvSpPr>
            <a:spLocks xmlns:a="http://schemas.openxmlformats.org/drawingml/2006/main" noGrp="1"/>
          </p:cNvSpPr>
          <p:nvPr/>
        </p:nvSpPr>
        <p:spPr>
          <a:xfrm xmlns:a="http://schemas.openxmlformats.org/drawingml/2006/main">
            <a:off x="533400" y="6375400"/>
            <a:ext cx="3556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0" i="0">
                <a:solidFill>
                  <a:srgbClr val="000000"/>
                </a:solidFill>
                <a:latin typeface="Times New Roman"/>
                <a:ea typeface="Times New Roman"/>
                <a:cs typeface="Times New Roman"/>
              </a:defRPr>
            </a:defPPr>
          </a:lstStyle>
          <a:p xmlns:a="http://schemas.openxmlformats.org/drawingml/2006/main">
            <a:pPr algn="l">
              <a:defRPr sz="3300" b="0" i="0">
                <a:solidFill>
                  <a:srgbClr val="000000"/>
                </a:solidFill>
                <a:latin typeface="Times New Roman"/>
                <a:ea typeface="Times New Roman"/>
                <a:cs typeface="Times New Roman"/>
              </a:defRPr>
            </a:pPr>
            <a:r>
              <a:rPr sz="3300" b="0" i="0">
                <a:solidFill>
                  <a:srgbClr val="000000"/>
                </a:solidFill>
                <a:latin typeface="Times New Roman"/>
                <a:ea typeface="Times New Roman"/>
                <a:cs typeface="Times New Roman"/>
              </a:rPr>
              <a:t>•</a:t>
            </a:r>
          </a:p>
        </p:txBody>
      </p:sp>
      <p:sp>
        <p:nvSpPr>
          <p:cNvPr id="12" name="text-20">
            <a:extLst xmlns:a="http://schemas.openxmlformats.org/drawingml/2006/main">
              <a:ext uri="{FF2B5EF4-FFF2-40B4-BE49-F238E27FC236}">
                <a16:creationId xmlns:a16="http://schemas.microsoft.com/office/drawing/2014/main" id="{BF9F085B-484C-415F-9581-9A3CBC217DF4}"/>
              </a:ext>
            </a:extLst>
          </p:cNvPr>
          <p:cNvSpPr>
            <a:spLocks xmlns:a="http://schemas.openxmlformats.org/drawingml/2006/main" noGrp="1"/>
          </p:cNvSpPr>
          <p:nvPr/>
        </p:nvSpPr>
        <p:spPr>
          <a:xfrm xmlns:a="http://schemas.openxmlformats.org/drawingml/2006/main">
            <a:off x="990600" y="6375400"/>
            <a:ext cx="12890500" cy="660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100" b="0" i="0">
                <a:solidFill>
                  <a:srgbClr val="000000"/>
                </a:solidFill>
                <a:latin typeface="Times New Roman"/>
                <a:ea typeface="Times New Roman"/>
                <a:cs typeface="Times New Roman"/>
              </a:defRPr>
            </a:defPPr>
          </a:lstStyle>
          <a:p xmlns:a="http://schemas.openxmlformats.org/drawingml/2006/main">
            <a:pPr algn="l">
              <a:defRPr sz="3100" b="0" i="0">
                <a:solidFill>
                  <a:srgbClr val="000000"/>
                </a:solidFill>
                <a:latin typeface="Times New Roman"/>
                <a:ea typeface="Times New Roman"/>
                <a:cs typeface="Times New Roman"/>
              </a:defRPr>
            </a:pPr>
            <a:r>
              <a:rPr sz="3100" b="0" i="0">
                <a:solidFill>
                  <a:srgbClr val="000000"/>
                </a:solidFill>
                <a:latin typeface="Times New Roman"/>
                <a:ea typeface="Times New Roman"/>
                <a:cs typeface="Times New Roman"/>
              </a:rPr>
              <a:t>Theme - </a:t>
            </a:r>
            <a:r>
              <a:rPr sz="3100" b="0" i="0">
                <a:solidFill>
                  <a:srgbClr val="000000"/>
                </a:solidFill>
                <a:latin typeface="Times New Roman"/>
                <a:ea typeface="Times New Roman"/>
                <a:cs typeface="Times New Roman"/>
              </a:rPr>
              <a:t>Workforce Intelligence and Recruitment</a:t>
            </a:r>
          </a:p>
        </p:txBody>
      </p:sp>
      <p:sp>
        <p:nvSpPr>
          <p:cNvPr id="13" name="text-22">
            <a:extLst xmlns:a="http://schemas.openxmlformats.org/drawingml/2006/main">
              <a:ext uri="{FF2B5EF4-FFF2-40B4-BE49-F238E27FC236}">
                <a16:creationId xmlns:a16="http://schemas.microsoft.com/office/drawing/2014/main" id="{95B7A5D4-D043-471D-812B-8DEAFF00237A}"/>
              </a:ext>
            </a:extLst>
          </p:cNvPr>
          <p:cNvSpPr>
            <a:spLocks xmlns:a="http://schemas.openxmlformats.org/drawingml/2006/main" noGrp="1"/>
          </p:cNvSpPr>
          <p:nvPr/>
        </p:nvSpPr>
        <p:spPr>
          <a:xfrm xmlns:a="http://schemas.openxmlformats.org/drawingml/2006/main">
            <a:off x="533400" y="7239000"/>
            <a:ext cx="3556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0" i="0">
                <a:solidFill>
                  <a:srgbClr val="000000"/>
                </a:solidFill>
                <a:latin typeface="Times New Roman"/>
                <a:ea typeface="Times New Roman"/>
                <a:cs typeface="Times New Roman"/>
              </a:defRPr>
            </a:defPPr>
          </a:lstStyle>
          <a:p xmlns:a="http://schemas.openxmlformats.org/drawingml/2006/main">
            <a:pPr algn="l">
              <a:defRPr sz="3300" b="0" i="0">
                <a:solidFill>
                  <a:srgbClr val="000000"/>
                </a:solidFill>
                <a:latin typeface="Times New Roman"/>
                <a:ea typeface="Times New Roman"/>
                <a:cs typeface="Times New Roman"/>
              </a:defRPr>
            </a:pPr>
            <a:r>
              <a:rPr sz="3300" b="0" i="0">
                <a:solidFill>
                  <a:srgbClr val="000000"/>
                </a:solidFill>
                <a:latin typeface="Times New Roman"/>
                <a:ea typeface="Times New Roman"/>
                <a:cs typeface="Times New Roman"/>
              </a:rPr>
              <a:t>•</a:t>
            </a:r>
          </a:p>
        </p:txBody>
      </p:sp>
      <p:sp>
        <p:nvSpPr>
          <p:cNvPr id="14" name="text-24">
            <a:extLst xmlns:a="http://schemas.openxmlformats.org/drawingml/2006/main">
              <a:ext uri="{FF2B5EF4-FFF2-40B4-BE49-F238E27FC236}">
                <a16:creationId xmlns:a16="http://schemas.microsoft.com/office/drawing/2014/main" id="{935BE2D2-B92A-4EAF-9B7D-63094226E606}"/>
              </a:ext>
            </a:extLst>
          </p:cNvPr>
          <p:cNvSpPr>
            <a:spLocks xmlns:a="http://schemas.openxmlformats.org/drawingml/2006/main" noGrp="1"/>
          </p:cNvSpPr>
          <p:nvPr/>
        </p:nvSpPr>
        <p:spPr>
          <a:xfrm xmlns:a="http://schemas.openxmlformats.org/drawingml/2006/main">
            <a:off x="990600" y="7239000"/>
            <a:ext cx="12890500" cy="660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100" b="0" i="0">
                <a:solidFill>
                  <a:srgbClr val="000000"/>
                </a:solidFill>
                <a:latin typeface="Times New Roman"/>
                <a:ea typeface="Times New Roman"/>
                <a:cs typeface="Times New Roman"/>
              </a:defRPr>
            </a:defPPr>
          </a:lstStyle>
          <a:p xmlns:a="http://schemas.openxmlformats.org/drawingml/2006/main">
            <a:pPr algn="l">
              <a:defRPr sz="3100" b="0" i="0">
                <a:solidFill>
                  <a:srgbClr val="000000"/>
                </a:solidFill>
                <a:latin typeface="Times New Roman"/>
                <a:ea typeface="Times New Roman"/>
                <a:cs typeface="Times New Roman"/>
              </a:defRPr>
            </a:pPr>
            <a:r>
              <a:rPr sz="3100" b="0" i="0">
                <a:solidFill>
                  <a:srgbClr val="000000"/>
                </a:solidFill>
                <a:latin typeface="Times New Roman"/>
                <a:ea typeface="Times New Roman"/>
                <a:cs typeface="Times New Roman"/>
              </a:rPr>
              <a:t>Category - </a:t>
            </a:r>
            <a:r>
              <a:rPr sz="3100" b="0" i="0">
                <a:solidFill>
                  <a:srgbClr val="000000"/>
                </a:solidFill>
                <a:latin typeface="Times New Roman"/>
                <a:ea typeface="Times New Roman"/>
                <a:cs typeface="Times New Roman"/>
              </a:rPr>
              <a:t>Software</a:t>
            </a:r>
          </a:p>
        </p:txBody>
      </p:sp>
      <p:sp>
        <p:nvSpPr>
          <p:cNvPr id="15" name="text-26">
            <a:extLst xmlns:a="http://schemas.openxmlformats.org/drawingml/2006/main">
              <a:ext uri="{FF2B5EF4-FFF2-40B4-BE49-F238E27FC236}">
                <a16:creationId xmlns:a16="http://schemas.microsoft.com/office/drawing/2014/main" id="{93AC2D54-2159-49A2-83A6-0D3E0C8CF1A1}"/>
              </a:ext>
            </a:extLst>
          </p:cNvPr>
          <p:cNvSpPr>
            <a:spLocks xmlns:a="http://schemas.openxmlformats.org/drawingml/2006/main" noGrp="1"/>
          </p:cNvSpPr>
          <p:nvPr/>
        </p:nvSpPr>
        <p:spPr>
          <a:xfrm xmlns:a="http://schemas.openxmlformats.org/drawingml/2006/main">
            <a:off x="533400" y="8102600"/>
            <a:ext cx="3556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0" i="0">
                <a:solidFill>
                  <a:srgbClr val="000000"/>
                </a:solidFill>
                <a:latin typeface="Times New Roman"/>
                <a:ea typeface="Times New Roman"/>
                <a:cs typeface="Times New Roman"/>
              </a:defRPr>
            </a:defPPr>
          </a:lstStyle>
          <a:p xmlns:a="http://schemas.openxmlformats.org/drawingml/2006/main">
            <a:pPr algn="l">
              <a:defRPr sz="3300" b="0" i="0">
                <a:solidFill>
                  <a:srgbClr val="000000"/>
                </a:solidFill>
                <a:latin typeface="Times New Roman"/>
                <a:ea typeface="Times New Roman"/>
                <a:cs typeface="Times New Roman"/>
              </a:defRPr>
            </a:pPr>
            <a:r>
              <a:rPr sz="3300" b="0" i="0">
                <a:solidFill>
                  <a:srgbClr val="000000"/>
                </a:solidFill>
                <a:latin typeface="Times New Roman"/>
                <a:ea typeface="Times New Roman"/>
                <a:cs typeface="Times New Roman"/>
              </a:rPr>
              <a:t>•</a:t>
            </a:r>
          </a:p>
        </p:txBody>
      </p:sp>
      <p:sp>
        <p:nvSpPr>
          <p:cNvPr id="16" name="text-28">
            <a:extLst xmlns:a="http://schemas.openxmlformats.org/drawingml/2006/main">
              <a:ext uri="{FF2B5EF4-FFF2-40B4-BE49-F238E27FC236}">
                <a16:creationId xmlns:a16="http://schemas.microsoft.com/office/drawing/2014/main" id="{8CBFD76D-9E74-4154-AF0D-4DC4F08CC8EC}"/>
              </a:ext>
            </a:extLst>
          </p:cNvPr>
          <p:cNvSpPr>
            <a:spLocks xmlns:a="http://schemas.openxmlformats.org/drawingml/2006/main" noGrp="1"/>
          </p:cNvSpPr>
          <p:nvPr/>
        </p:nvSpPr>
        <p:spPr>
          <a:xfrm xmlns:a="http://schemas.openxmlformats.org/drawingml/2006/main">
            <a:off x="990600" y="8102600"/>
            <a:ext cx="12890500" cy="660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100" b="0" i="0">
                <a:solidFill>
                  <a:srgbClr val="000000"/>
                </a:solidFill>
                <a:latin typeface="Times New Roman"/>
                <a:ea typeface="Times New Roman"/>
                <a:cs typeface="Times New Roman"/>
              </a:defRPr>
            </a:defPPr>
          </a:lstStyle>
          <a:p xmlns:a="http://schemas.openxmlformats.org/drawingml/2006/main">
            <a:pPr algn="l">
              <a:defRPr sz="3100" b="0" i="0">
                <a:solidFill>
                  <a:srgbClr val="000000"/>
                </a:solidFill>
                <a:latin typeface="Times New Roman"/>
                <a:ea typeface="Times New Roman"/>
                <a:cs typeface="Times New Roman"/>
              </a:defRPr>
            </a:pPr>
            <a:r>
              <a:rPr sz="3100" b="0" i="0">
                <a:solidFill>
                  <a:srgbClr val="000000"/>
                </a:solidFill>
                <a:latin typeface="Times New Roman"/>
                <a:ea typeface="Times New Roman"/>
                <a:cs typeface="Times New Roman"/>
              </a:rPr>
              <a:t>Decision Model - </a:t>
            </a:r>
            <a:r>
              <a:rPr sz="3100" b="0" i="0">
                <a:solidFill>
                  <a:srgbClr val="000000"/>
                </a:solidFill>
                <a:latin typeface="Times New Roman"/>
                <a:ea typeface="Times New Roman"/>
                <a:cs typeface="Times New Roman"/>
              </a:rPr>
              <a:t>Build, Buy, Borrow, Automate, Relocate</a:t>
            </a:r>
          </a:p>
        </p:txBody>
      </p:sp>
      <p:sp>
        <p:nvSpPr>
          <p:cNvPr id="17" name="text-30">
            <a:extLst xmlns:a="http://schemas.openxmlformats.org/drawingml/2006/main">
              <a:ext uri="{FF2B5EF4-FFF2-40B4-BE49-F238E27FC236}">
                <a16:creationId xmlns:a16="http://schemas.microsoft.com/office/drawing/2014/main" id="{A88D09F0-15A2-4432-AA6A-91E9DA7D3FED}"/>
              </a:ext>
            </a:extLst>
          </p:cNvPr>
          <p:cNvSpPr>
            <a:spLocks xmlns:a="http://schemas.openxmlformats.org/drawingml/2006/main" noGrp="1"/>
          </p:cNvSpPr>
          <p:nvPr/>
        </p:nvSpPr>
        <p:spPr>
          <a:xfrm xmlns:a="http://schemas.openxmlformats.org/drawingml/2006/main">
            <a:off x="533400" y="8966200"/>
            <a:ext cx="3556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0" i="0">
                <a:solidFill>
                  <a:srgbClr val="000000"/>
                </a:solidFill>
                <a:latin typeface="Times New Roman"/>
                <a:ea typeface="Times New Roman"/>
                <a:cs typeface="Times New Roman"/>
              </a:defRPr>
            </a:defPPr>
          </a:lstStyle>
          <a:p xmlns:a="http://schemas.openxmlformats.org/drawingml/2006/main">
            <a:pPr algn="l">
              <a:defRPr sz="3300" b="0" i="0">
                <a:solidFill>
                  <a:srgbClr val="000000"/>
                </a:solidFill>
                <a:latin typeface="Times New Roman"/>
                <a:ea typeface="Times New Roman"/>
                <a:cs typeface="Times New Roman"/>
              </a:defRPr>
            </a:pPr>
            <a:r>
              <a:rPr sz="3300" b="0" i="0">
                <a:solidFill>
                  <a:srgbClr val="000000"/>
                </a:solidFill>
                <a:latin typeface="Times New Roman"/>
                <a:ea typeface="Times New Roman"/>
                <a:cs typeface="Times New Roman"/>
              </a:rPr>
              <a:t>•</a:t>
            </a:r>
          </a:p>
        </p:txBody>
      </p:sp>
      <p:sp>
        <p:nvSpPr>
          <p:cNvPr id="18" name="text-32">
            <a:extLst xmlns:a="http://schemas.openxmlformats.org/drawingml/2006/main">
              <a:ext uri="{FF2B5EF4-FFF2-40B4-BE49-F238E27FC236}">
                <a16:creationId xmlns:a16="http://schemas.microsoft.com/office/drawing/2014/main" id="{FC957335-CF11-48E3-BFC5-0BC54E6EE12E}"/>
              </a:ext>
            </a:extLst>
          </p:cNvPr>
          <p:cNvSpPr>
            <a:spLocks xmlns:a="http://schemas.openxmlformats.org/drawingml/2006/main" noGrp="1"/>
          </p:cNvSpPr>
          <p:nvPr/>
        </p:nvSpPr>
        <p:spPr>
          <a:xfrm xmlns:a="http://schemas.openxmlformats.org/drawingml/2006/main">
            <a:off x="990600" y="8966200"/>
            <a:ext cx="12890500" cy="660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100" b="0" i="0">
                <a:solidFill>
                  <a:srgbClr val="000000"/>
                </a:solidFill>
                <a:latin typeface="Times New Roman"/>
                <a:ea typeface="Times New Roman"/>
                <a:cs typeface="Times New Roman"/>
              </a:defRPr>
            </a:defPPr>
          </a:lstStyle>
          <a:p xmlns:a="http://schemas.openxmlformats.org/drawingml/2006/main">
            <a:pPr algn="l">
              <a:defRPr sz="3100" b="0" i="0">
                <a:solidFill>
                  <a:srgbClr val="000000"/>
                </a:solidFill>
                <a:latin typeface="Times New Roman"/>
                <a:ea typeface="Times New Roman"/>
                <a:cs typeface="Times New Roman"/>
              </a:defRPr>
            </a:pPr>
            <a:r>
              <a:rPr sz="3100" b="0" i="0">
                <a:solidFill>
                  <a:srgbClr val="000000"/>
                </a:solidFill>
                <a:latin typeface="Times New Roman"/>
                <a:ea typeface="Times New Roman"/>
                <a:cs typeface="Times New Roman"/>
              </a:rPr>
              <a:t>Primary Users - </a:t>
            </a:r>
            <a:r>
              <a:rPr sz="3100" b="0" i="0">
                <a:solidFill>
                  <a:srgbClr val="000000"/>
                </a:solidFill>
                <a:latin typeface="Times New Roman"/>
                <a:ea typeface="Times New Roman"/>
                <a:cs typeface="Times New Roman"/>
              </a:rPr>
              <a:t>HR teams and workforce planners</a:t>
            </a:r>
          </a:p>
        </p:txBody>
      </p:sp>
    </p:spTree>
    <p:extLst>
      <p:ext uri="{BB962C8B-B14F-4D97-AF65-F5344CB8AC3E}">
        <p14:creationId xmlns:p14="http://schemas.microsoft.com/office/powerpoint/2010/main" val="52363299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6" name="shape-33">
            <a:extLst xmlns:a="http://schemas.openxmlformats.org/drawingml/2006/main">
              <a:ext uri="{FF2B5EF4-FFF2-40B4-BE49-F238E27FC236}">
                <a16:creationId xmlns:a16="http://schemas.microsoft.com/office/drawing/2014/main" id="{E980AFA9-01DA-4385-B4AC-7B7F64594252}"/>
              </a:ext>
            </a:extLst>
          </p:cNvPr>
          <p:cNvSpPr>
            <a:spLocks xmlns:a="http://schemas.openxmlformats.org/drawingml/2006/main" noGrp="1"/>
          </p:cNvSpPr>
          <p:nvPr/>
        </p:nvSpPr>
        <p:spPr>
          <a:xfrm xmlns:a="http://schemas.openxmlformats.org/drawingml/2006/main">
            <a:off x="127000" y="114300"/>
            <a:ext cx="1524000" cy="990600"/>
          </a:xfrm>
          <a:prstGeom xmlns:a="http://schemas.openxmlformats.org/drawingml/2006/main" prst="ellipse">
            <a:avLst/>
          </a:prstGeom>
          <a:noFill xmlns:a="http://schemas.openxmlformats.org/drawingml/2006/main"/>
          <a:ln xmlns:a="http://schemas.openxmlformats.org/drawingml/2006/main" w="30480">
            <a:solidFill>
              <a:srgbClr val="8064A2"/>
            </a:solidFill>
            <a:prstDash val="solid"/>
          </a:ln>
        </p:spPr>
      </p:sp>
      <p:sp>
        <p:nvSpPr>
          <p:cNvPr id="2" name="text-35">
            <a:extLst xmlns:a="http://schemas.openxmlformats.org/drawingml/2006/main">
              <a:ext uri="{FF2B5EF4-FFF2-40B4-BE49-F238E27FC236}">
                <a16:creationId xmlns:a16="http://schemas.microsoft.com/office/drawing/2014/main" id="{AFAC2CB5-884D-4116-A055-DC9BB1FE37FD}"/>
              </a:ext>
            </a:extLst>
          </p:cNvPr>
          <p:cNvSpPr>
            <a:spLocks xmlns:a="http://schemas.openxmlformats.org/drawingml/2006/main" noGrp="1"/>
          </p:cNvSpPr>
          <p:nvPr/>
        </p:nvSpPr>
        <p:spPr>
          <a:xfrm xmlns:a="http://schemas.openxmlformats.org/drawingml/2006/main">
            <a:off x="190500" y="381000"/>
            <a:ext cx="1397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300" b="1" i="0">
                <a:solidFill>
                  <a:srgbClr val="000000"/>
                </a:solidFill>
                <a:latin typeface="Times New Roman"/>
                <a:ea typeface="Times New Roman"/>
                <a:cs typeface="Times New Roman"/>
              </a:defRPr>
            </a:defPPr>
          </a:lstStyle>
          <a:p xmlns:a="http://schemas.openxmlformats.org/drawingml/2006/main">
            <a:pPr algn="ctr">
              <a:defRPr sz="1300" b="1" i="0">
                <a:solidFill>
                  <a:srgbClr val="000000"/>
                </a:solidFill>
                <a:latin typeface="Times New Roman"/>
                <a:ea typeface="Times New Roman"/>
                <a:cs typeface="Times New Roman"/>
              </a:defRPr>
            </a:pPr>
            <a:r>
              <a:rPr sz="1300" b="1" i="0">
                <a:solidFill>
                  <a:srgbClr val="000000"/>
                </a:solidFill>
                <a:latin typeface="Times New Roman"/>
                <a:ea typeface="Times New Roman"/>
                <a:cs typeface="Times New Roman"/>
              </a:rPr>
              <a:t>WORKFORCE</a:t>
            </a:r>
          </a:p>
          <a:p xmlns:a="http://schemas.openxmlformats.org/drawingml/2006/main">
            <a:pPr algn="ctr">
              <a:defRPr sz="1300" b="1" i="0">
                <a:solidFill>
                  <a:srgbClr val="000000"/>
                </a:solidFill>
                <a:latin typeface="Times New Roman"/>
                <a:ea typeface="Times New Roman"/>
                <a:cs typeface="Times New Roman"/>
              </a:defRPr>
            </a:pPr>
            <a:r>
              <a:rPr sz="1300" b="1" i="0">
                <a:solidFill>
                  <a:srgbClr val="000000"/>
                </a:solidFill>
                <a:latin typeface="Times New Roman"/>
                <a:ea typeface="Times New Roman"/>
                <a:cs typeface="Times New Roman"/>
              </a:rPr>
              <a:t>ADVISORY</a:t>
            </a:r>
          </a:p>
        </p:txBody>
      </p:sp>
      <p:sp>
        <p:nvSpPr>
          <p:cNvPr id="3" name="slide-title">
            <a:extLst xmlns:a="http://schemas.openxmlformats.org/drawingml/2006/main">
              <a:ext uri="{FF2B5EF4-FFF2-40B4-BE49-F238E27FC236}">
                <a16:creationId xmlns:a16="http://schemas.microsoft.com/office/drawing/2014/main" id="{24E56C8D-11A7-4CF6-9C48-BCADFEFCF47D}"/>
              </a:ext>
            </a:extLst>
          </p:cNvPr>
          <p:cNvSpPr>
            <a:spLocks xmlns:a="http://schemas.openxmlformats.org/drawingml/2006/main" noGrp="1"/>
          </p:cNvSpPr>
          <p:nvPr/>
        </p:nvSpPr>
        <p:spPr>
          <a:xfrm xmlns:a="http://schemas.openxmlformats.org/drawingml/2006/main">
            <a:off x="1905000" y="152400"/>
            <a:ext cx="13335000" cy="850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4300" b="1" i="0">
                <a:solidFill>
                  <a:srgbClr val="000000"/>
                </a:solidFill>
                <a:latin typeface="Times New Roman"/>
                <a:ea typeface="Times New Roman"/>
                <a:cs typeface="Times New Roman"/>
              </a:defRPr>
            </a:defPPr>
          </a:lstStyle>
          <a:p xmlns:a="http://schemas.openxmlformats.org/drawingml/2006/main">
            <a:pPr algn="ctr">
              <a:defRPr sz="4300" b="1" i="0">
                <a:solidFill>
                  <a:srgbClr val="000000"/>
                </a:solidFill>
                <a:latin typeface="Times New Roman"/>
                <a:ea typeface="Times New Roman"/>
                <a:cs typeface="Times New Roman"/>
              </a:defRPr>
            </a:pPr>
            <a:r>
              <a:rPr sz="4300" b="1" i="0">
                <a:solidFill>
                  <a:srgbClr val="000000"/>
                </a:solidFill>
                <a:latin typeface="Times New Roman"/>
                <a:ea typeface="Times New Roman"/>
                <a:cs typeface="Times New Roman"/>
              </a:rPr>
              <a:t>IDEA TITLE</a:t>
            </a:r>
          </a:p>
        </p:txBody>
      </p:sp>
      <p:sp>
        <p:nvSpPr>
          <p:cNvPr id="4" name="text-38">
            <a:extLst xmlns:a="http://schemas.openxmlformats.org/drawingml/2006/main">
              <a:ext uri="{FF2B5EF4-FFF2-40B4-BE49-F238E27FC236}">
                <a16:creationId xmlns:a16="http://schemas.microsoft.com/office/drawing/2014/main" id="{F46C1CD2-1241-416A-8645-9E8481209A01}"/>
              </a:ext>
            </a:extLst>
          </p:cNvPr>
          <p:cNvSpPr>
            <a:spLocks xmlns:a="http://schemas.openxmlformats.org/drawingml/2006/main" noGrp="1"/>
          </p:cNvSpPr>
          <p:nvPr/>
        </p:nvSpPr>
        <p:spPr>
          <a:xfrm xmlns:a="http://schemas.openxmlformats.org/drawingml/2006/main">
            <a:off x="15557500" y="215900"/>
            <a:ext cx="2476500" cy="850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700" b="1" i="0">
                <a:solidFill>
                  <a:srgbClr val="214E83"/>
                </a:solidFill>
                <a:latin typeface="Garamond"/>
                <a:ea typeface="Garamond"/>
                <a:cs typeface="Garamond"/>
              </a:defRPr>
            </a:defPPr>
          </a:lstStyle>
          <a:p xmlns:a="http://schemas.openxmlformats.org/drawingml/2006/main">
            <a:pPr algn="ctr">
              <a:defRPr sz="2700" b="1" i="0">
                <a:solidFill>
                  <a:srgbClr val="214E83"/>
                </a:solidFill>
                <a:latin typeface="Garamond"/>
                <a:ea typeface="Garamond"/>
                <a:cs typeface="Garamond"/>
              </a:defRPr>
            </a:pPr>
            <a:r>
              <a:rPr sz="2700" b="1" i="0">
                <a:solidFill>
                  <a:srgbClr val="214E83"/>
                </a:solidFill>
                <a:latin typeface="Garamond"/>
                <a:ea typeface="Garamond"/>
                <a:cs typeface="Garamond"/>
              </a:rPr>
              <a:t>KERNEL</a:t>
            </a:r>
          </a:p>
          <a:p xmlns:a="http://schemas.openxmlformats.org/drawingml/2006/main">
            <a:pPr algn="ctr">
              <a:defRPr sz="2700" b="1" i="0">
                <a:solidFill>
                  <a:srgbClr val="214E83"/>
                </a:solidFill>
                <a:latin typeface="Garamond"/>
                <a:ea typeface="Garamond"/>
                <a:cs typeface="Garamond"/>
              </a:defRPr>
            </a:pPr>
            <a:r>
              <a:rPr sz="2700" b="1" i="0">
                <a:solidFill>
                  <a:srgbClr val="214E83"/>
                </a:solidFill>
                <a:latin typeface="Garamond"/>
                <a:ea typeface="Garamond"/>
                <a:cs typeface="Garamond"/>
              </a:rPr>
              <a:t>PRIME’26</a:t>
            </a:r>
          </a:p>
        </p:txBody>
      </p:sp>
      <p:sp>
        <p:nvSpPr>
          <p:cNvPr id="5" name="shape-39">
            <a:extLst xmlns:a="http://schemas.openxmlformats.org/drawingml/2006/main">
              <a:ext uri="{FF2B5EF4-FFF2-40B4-BE49-F238E27FC236}">
                <a16:creationId xmlns:a16="http://schemas.microsoft.com/office/drawing/2014/main" id="{D72DE571-8073-4696-90D8-A1D0B4337B75}"/>
              </a:ext>
            </a:extLst>
          </p:cNvPr>
          <p:cNvSpPr>
            <a:spLocks xmlns:a="http://schemas.openxmlformats.org/drawingml/2006/main" noGrp="1"/>
          </p:cNvSpPr>
          <p:nvPr/>
        </p:nvSpPr>
        <p:spPr>
          <a:xfrm xmlns:a="http://schemas.openxmlformats.org/drawingml/2006/main">
            <a:off x="0" y="9690100"/>
            <a:ext cx="18288000" cy="596900"/>
          </a:xfrm>
          <a:prstGeom xmlns:a="http://schemas.openxmlformats.org/drawingml/2006/main" prst="rect">
            <a:avLst/>
          </a:prstGeom>
          <a:solidFill xmlns:a="http://schemas.openxmlformats.org/drawingml/2006/main">
            <a:srgbClr val="0071BC"/>
          </a:solidFill>
          <a:ln xmlns:a="http://schemas.openxmlformats.org/drawingml/2006/main" w="0">
            <a:noFill/>
            <a:prstDash val="solid"/>
          </a:ln>
        </p:spPr>
      </p:sp>
      <p:sp>
        <p:nvSpPr>
          <p:cNvPr id="6" name="text-41">
            <a:extLst xmlns:a="http://schemas.openxmlformats.org/drawingml/2006/main">
              <a:ext uri="{FF2B5EF4-FFF2-40B4-BE49-F238E27FC236}">
                <a16:creationId xmlns:a16="http://schemas.microsoft.com/office/drawing/2014/main" id="{C3E3ADE3-B8E2-46EB-BC1A-8630A61C405D}"/>
              </a:ext>
            </a:extLst>
          </p:cNvPr>
          <p:cNvSpPr>
            <a:spLocks xmlns:a="http://schemas.openxmlformats.org/drawingml/2006/main" noGrp="1"/>
          </p:cNvSpPr>
          <p:nvPr/>
        </p:nvSpPr>
        <p:spPr>
          <a:xfrm xmlns:a="http://schemas.openxmlformats.org/drawingml/2006/main">
            <a:off x="17081500" y="9893300"/>
            <a:ext cx="571500" cy="25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00" b="1" i="0">
                <a:solidFill>
                  <a:srgbClr val="FFFFFF"/>
                </a:solidFill>
                <a:latin typeface="Times New Roman"/>
                <a:ea typeface="Times New Roman"/>
                <a:cs typeface="Times New Roman"/>
              </a:defRPr>
            </a:defPPr>
          </a:lstStyle>
          <a:p xmlns:a="http://schemas.openxmlformats.org/drawingml/2006/main">
            <a:pPr algn="ctr">
              <a:defRPr sz="1600" b="1" i="0">
                <a:solidFill>
                  <a:srgbClr val="FFFFFF"/>
                </a:solidFill>
                <a:latin typeface="Times New Roman"/>
                <a:ea typeface="Times New Roman"/>
                <a:cs typeface="Times New Roman"/>
              </a:defRPr>
            </a:pPr>
            <a:r>
              <a:rPr sz="1600" b="1" i="0">
                <a:solidFill>
                  <a:srgbClr val="FFFFFF"/>
                </a:solidFill>
                <a:latin typeface="Times New Roman"/>
                <a:ea typeface="Times New Roman"/>
                <a:cs typeface="Times New Roman"/>
              </a:rPr>
              <a:t>2</a:t>
            </a:r>
          </a:p>
        </p:txBody>
      </p:sp>
      <p:sp>
        <p:nvSpPr>
          <p:cNvPr id="7" name="shape-42">
            <a:extLst xmlns:a="http://schemas.openxmlformats.org/drawingml/2006/main">
              <a:ext uri="{FF2B5EF4-FFF2-40B4-BE49-F238E27FC236}">
                <a16:creationId xmlns:a16="http://schemas.microsoft.com/office/drawing/2014/main" id="{A05834BC-0013-456D-8440-A878F121733F}"/>
              </a:ext>
            </a:extLst>
          </p:cNvPr>
          <p:cNvSpPr>
            <a:spLocks xmlns:a="http://schemas.openxmlformats.org/drawingml/2006/main" noGrp="1"/>
          </p:cNvSpPr>
          <p:nvPr/>
        </p:nvSpPr>
        <p:spPr>
          <a:xfrm xmlns:a="http://schemas.openxmlformats.org/drawingml/2006/main">
            <a:off x="330200" y="1333500"/>
            <a:ext cx="8953500" cy="3632200"/>
          </a:xfrm>
          <a:prstGeom xmlns:a="http://schemas.openxmlformats.org/drawingml/2006/main" prst="roundRect">
            <a:avLst>
              <a:gd name="adj" fmla="val 4196"/>
            </a:avLst>
          </a:prstGeom>
          <a:solidFill xmlns:a="http://schemas.openxmlformats.org/drawingml/2006/main">
            <a:srgbClr val="E0EDF6"/>
          </a:solidFill>
          <a:ln xmlns:a="http://schemas.openxmlformats.org/drawingml/2006/main" w="17780">
            <a:solidFill>
              <a:srgbClr val="000000"/>
            </a:solidFill>
            <a:prstDash val="solid"/>
          </a:ln>
        </p:spPr>
      </p:sp>
      <p:sp>
        <p:nvSpPr>
          <p:cNvPr id="8" name="shape-43">
            <a:extLst xmlns:a="http://schemas.openxmlformats.org/drawingml/2006/main">
              <a:ext uri="{FF2B5EF4-FFF2-40B4-BE49-F238E27FC236}">
                <a16:creationId xmlns:a16="http://schemas.microsoft.com/office/drawing/2014/main" id="{ABAF3637-DA49-4310-B5DF-6E3B1976DD63}"/>
              </a:ext>
            </a:extLst>
          </p:cNvPr>
          <p:cNvSpPr>
            <a:spLocks xmlns:a="http://schemas.openxmlformats.org/drawingml/2006/main" noGrp="1"/>
          </p:cNvSpPr>
          <p:nvPr/>
        </p:nvSpPr>
        <p:spPr>
          <a:xfrm xmlns:a="http://schemas.openxmlformats.org/drawingml/2006/main">
            <a:off x="9372600" y="1333500"/>
            <a:ext cx="8597900" cy="3632200"/>
          </a:xfrm>
          <a:prstGeom xmlns:a="http://schemas.openxmlformats.org/drawingml/2006/main" prst="roundRect">
            <a:avLst>
              <a:gd name="adj" fmla="val 4196"/>
            </a:avLst>
          </a:prstGeom>
          <a:solidFill xmlns:a="http://schemas.openxmlformats.org/drawingml/2006/main">
            <a:srgbClr val="FFF8E0"/>
          </a:solidFill>
          <a:ln xmlns:a="http://schemas.openxmlformats.org/drawingml/2006/main" w="17780">
            <a:solidFill>
              <a:srgbClr val="000000"/>
            </a:solidFill>
            <a:prstDash val="solid"/>
          </a:ln>
        </p:spPr>
      </p:sp>
      <p:sp>
        <p:nvSpPr>
          <p:cNvPr id="9" name="shape-44">
            <a:extLst xmlns:a="http://schemas.openxmlformats.org/drawingml/2006/main">
              <a:ext uri="{FF2B5EF4-FFF2-40B4-BE49-F238E27FC236}">
                <a16:creationId xmlns:a16="http://schemas.microsoft.com/office/drawing/2014/main" id="{A12D5FAE-A50C-4AB7-8F78-2EADDF637DD9}"/>
              </a:ext>
            </a:extLst>
          </p:cNvPr>
          <p:cNvSpPr>
            <a:spLocks xmlns:a="http://schemas.openxmlformats.org/drawingml/2006/main" noGrp="1"/>
          </p:cNvSpPr>
          <p:nvPr/>
        </p:nvSpPr>
        <p:spPr>
          <a:xfrm xmlns:a="http://schemas.openxmlformats.org/drawingml/2006/main">
            <a:off x="177800" y="5207000"/>
            <a:ext cx="17957800" cy="4381500"/>
          </a:xfrm>
          <a:prstGeom xmlns:a="http://schemas.openxmlformats.org/drawingml/2006/main" prst="roundRect">
            <a:avLst>
              <a:gd name="adj" fmla="val 3478"/>
            </a:avLst>
          </a:prstGeom>
          <a:solidFill xmlns:a="http://schemas.openxmlformats.org/drawingml/2006/main">
            <a:srgbClr val="D7EED0"/>
          </a:solidFill>
          <a:ln xmlns:a="http://schemas.openxmlformats.org/drawingml/2006/main" w="17780">
            <a:solidFill>
              <a:srgbClr val="000000"/>
            </a:solidFill>
            <a:prstDash val="solid"/>
          </a:ln>
        </p:spPr>
      </p:sp>
      <p:sp>
        <p:nvSpPr>
          <p:cNvPr id="10" name="shape-45">
            <a:extLst xmlns:a="http://schemas.openxmlformats.org/drawingml/2006/main">
              <a:ext uri="{FF2B5EF4-FFF2-40B4-BE49-F238E27FC236}">
                <a16:creationId xmlns:a16="http://schemas.microsoft.com/office/drawing/2014/main" id="{31F78D61-59D5-4F1D-A59B-A5C5A20747C9}"/>
              </a:ext>
            </a:extLst>
          </p:cNvPr>
          <p:cNvSpPr>
            <a:spLocks xmlns:a="http://schemas.openxmlformats.org/drawingml/2006/main" noGrp="1"/>
          </p:cNvSpPr>
          <p:nvPr/>
        </p:nvSpPr>
        <p:spPr>
          <a:xfrm xmlns:a="http://schemas.openxmlformats.org/drawingml/2006/main">
            <a:off x="673100" y="1473200"/>
            <a:ext cx="2730500" cy="457200"/>
          </a:xfrm>
          <a:prstGeom xmlns:a="http://schemas.openxmlformats.org/drawingml/2006/main" prst="roundRect">
            <a:avLst>
              <a:gd name="adj" fmla="val 27778"/>
            </a:avLst>
          </a:prstGeom>
          <a:solidFill xmlns:a="http://schemas.openxmlformats.org/drawingml/2006/main">
            <a:srgbClr val="54AFE8"/>
          </a:solidFill>
          <a:ln xmlns:a="http://schemas.openxmlformats.org/drawingml/2006/main" w="0">
            <a:noFill/>
            <a:prstDash val="solid"/>
          </a:ln>
        </p:spPr>
        <p:txBody>
          <a:bodyPr xmlns:a="http://schemas.openxmlformats.org/drawingml/2006/main" wrap="square" lIns="88900" tIns="88900" rIns="88900" bIns="88900" anchor="ctr">
            <a:noAutofit/>
          </a:bodyPr>
          <a:lstStyle xmlns:a="http://schemas.openxmlformats.org/drawingml/2006/main">
            <a:defPPr algn="ctr">
              <a:defRPr sz="2300" b="1">
                <a:solidFill>
                  <a:srgbClr val="000000"/>
                </a:solidFill>
                <a:latin typeface="Times New Roman"/>
                <a:ea typeface="Times New Roman"/>
                <a:cs typeface="Times New Roman"/>
              </a:defRPr>
            </a:defPPr>
          </a:lstStyle>
          <a:p xmlns:a="http://schemas.openxmlformats.org/drawingml/2006/main">
            <a:pPr algn="ctr">
              <a:defRPr sz="2300" b="1">
                <a:solidFill>
                  <a:srgbClr val="000000"/>
                </a:solidFill>
                <a:latin typeface="Times New Roman"/>
                <a:ea typeface="Times New Roman"/>
                <a:cs typeface="Times New Roman"/>
              </a:defRPr>
            </a:pPr>
            <a:r>
              <a:rPr sz="2300" b="1">
                <a:solidFill>
                  <a:srgbClr val="000000"/>
                </a:solidFill>
                <a:latin typeface="Times New Roman"/>
                <a:ea typeface="Times New Roman"/>
                <a:cs typeface="Times New Roman"/>
              </a:rPr>
              <a:t>THE PROBLEM</a:t>
            </a:r>
          </a:p>
        </p:txBody>
      </p:sp>
      <p:sp>
        <p:nvSpPr>
          <p:cNvPr id="11" name="text-47">
            <a:extLst xmlns:a="http://schemas.openxmlformats.org/drawingml/2006/main">
              <a:ext uri="{FF2B5EF4-FFF2-40B4-BE49-F238E27FC236}">
                <a16:creationId xmlns:a16="http://schemas.microsoft.com/office/drawing/2014/main" id="{386A93E5-9641-4CFE-8D99-5F43777BB776}"/>
              </a:ext>
            </a:extLst>
          </p:cNvPr>
          <p:cNvSpPr>
            <a:spLocks xmlns:a="http://schemas.openxmlformats.org/drawingml/2006/main" noGrp="1"/>
          </p:cNvSpPr>
          <p:nvPr/>
        </p:nvSpPr>
        <p:spPr>
          <a:xfrm xmlns:a="http://schemas.openxmlformats.org/drawingml/2006/main">
            <a:off x="584200" y="2133600"/>
            <a:ext cx="8458200" cy="1003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00" b="0" i="0">
                <a:solidFill>
                  <a:srgbClr val="000000"/>
                </a:solidFill>
                <a:latin typeface="Times New Roman"/>
                <a:ea typeface="Times New Roman"/>
                <a:cs typeface="Times New Roman"/>
              </a:defRPr>
            </a:defPPr>
          </a:lstStyle>
          <a:p xmlns:a="http://schemas.openxmlformats.org/drawingml/2006/main">
            <a:pPr algn="l">
              <a:defRPr sz="2300" b="0" i="0">
                <a:solidFill>
                  <a:srgbClr val="000000"/>
                </a:solidFill>
                <a:latin typeface="Times New Roman"/>
                <a:ea typeface="Times New Roman"/>
                <a:cs typeface="Times New Roman"/>
              </a:defRPr>
            </a:pPr>
            <a:r>
              <a:rPr sz="2300" b="0" i="0">
                <a:solidFill>
                  <a:srgbClr val="000000"/>
                </a:solidFill>
                <a:latin typeface="Times New Roman"/>
                <a:ea typeface="Times New Roman"/>
                <a:cs typeface="Times New Roman"/>
              </a:rPr>
              <a:t>People, skills and hiring evidence remain scattered across HRIS, ATS, VMS, learning systems and job boards.</a:t>
            </a:r>
          </a:p>
        </p:txBody>
      </p:sp>
      <p:sp>
        <p:nvSpPr>
          <p:cNvPr id="12" name="text-49">
            <a:extLst xmlns:a="http://schemas.openxmlformats.org/drawingml/2006/main">
              <a:ext uri="{FF2B5EF4-FFF2-40B4-BE49-F238E27FC236}">
                <a16:creationId xmlns:a16="http://schemas.microsoft.com/office/drawing/2014/main" id="{8059EACB-2BBB-4042-89BA-571E3A88A8F2}"/>
              </a:ext>
            </a:extLst>
          </p:cNvPr>
          <p:cNvSpPr>
            <a:spLocks xmlns:a="http://schemas.openxmlformats.org/drawingml/2006/main" noGrp="1"/>
          </p:cNvSpPr>
          <p:nvPr/>
        </p:nvSpPr>
        <p:spPr>
          <a:xfrm xmlns:a="http://schemas.openxmlformats.org/drawingml/2006/main">
            <a:off x="774700" y="3479800"/>
            <a:ext cx="8064500" cy="850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300" b="0" i="0">
                <a:solidFill>
                  <a:srgbClr val="000000"/>
                </a:solidFill>
                <a:latin typeface="Times New Roman"/>
                <a:ea typeface="Times New Roman"/>
                <a:cs typeface="Times New Roman"/>
              </a:defRPr>
            </a:defPPr>
          </a:lstStyle>
          <a:p xmlns:a="http://schemas.openxmlformats.org/drawingml/2006/main">
            <a:pPr algn="ctr">
              <a:defRPr sz="2300" b="0" i="0">
                <a:solidFill>
                  <a:srgbClr val="000000"/>
                </a:solidFill>
                <a:latin typeface="Times New Roman"/>
                <a:ea typeface="Times New Roman"/>
                <a:cs typeface="Times New Roman"/>
              </a:defRPr>
            </a:pPr>
            <a:r>
              <a:rPr sz="2300" b="0" i="0">
                <a:solidFill>
                  <a:srgbClr val="000000"/>
                </a:solidFill>
                <a:latin typeface="Times New Roman"/>
                <a:ea typeface="Times New Roman"/>
                <a:cs typeface="Times New Roman"/>
              </a:rPr>
              <a:t>Recruiters may search externally before checking who can develop, transfer or convert from a contract role.</a:t>
            </a:r>
          </a:p>
        </p:txBody>
      </p:sp>
      <p:sp>
        <p:nvSpPr>
          <p:cNvPr id="13" name="text-51">
            <a:extLst xmlns:a="http://schemas.openxmlformats.org/drawingml/2006/main">
              <a:ext uri="{FF2B5EF4-FFF2-40B4-BE49-F238E27FC236}">
                <a16:creationId xmlns:a16="http://schemas.microsoft.com/office/drawing/2014/main" id="{64DD1957-8E3D-4985-8FCC-0CD2C761CB8A}"/>
              </a:ext>
            </a:extLst>
          </p:cNvPr>
          <p:cNvSpPr>
            <a:spLocks xmlns:a="http://schemas.openxmlformats.org/drawingml/2006/main" noGrp="1"/>
          </p:cNvSpPr>
          <p:nvPr/>
        </p:nvSpPr>
        <p:spPr>
          <a:xfrm xmlns:a="http://schemas.openxmlformats.org/drawingml/2006/main">
            <a:off x="850900" y="4572000"/>
            <a:ext cx="8140700" cy="31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000" b="1" i="1">
                <a:solidFill>
                  <a:srgbClr val="000000"/>
                </a:solidFill>
                <a:latin typeface="Times New Roman"/>
                <a:ea typeface="Times New Roman"/>
                <a:cs typeface="Times New Roman"/>
              </a:defRPr>
            </a:defPPr>
          </a:lstStyle>
          <a:p xmlns:a="http://schemas.openxmlformats.org/drawingml/2006/main">
            <a:pPr algn="ctr">
              <a:defRPr sz="2000" b="1" i="1">
                <a:solidFill>
                  <a:srgbClr val="000000"/>
                </a:solidFill>
                <a:latin typeface="Times New Roman"/>
                <a:ea typeface="Times New Roman"/>
                <a:cs typeface="Times New Roman"/>
              </a:defRPr>
            </a:pPr>
            <a:r>
              <a:rPr sz="2000" b="1" i="1">
                <a:solidFill>
                  <a:srgbClr val="000000"/>
                </a:solidFill>
                <a:latin typeface="Times New Roman"/>
                <a:ea typeface="Times New Roman"/>
                <a:cs typeface="Times New Roman"/>
              </a:rPr>
              <a:t>The missing step is an evidence-based workforce decision.</a:t>
            </a:r>
          </a:p>
        </p:txBody>
      </p:sp>
      <p:sp>
        <p:nvSpPr>
          <p:cNvPr id="14" name="shape-52">
            <a:extLst xmlns:a="http://schemas.openxmlformats.org/drawingml/2006/main">
              <a:ext uri="{FF2B5EF4-FFF2-40B4-BE49-F238E27FC236}">
                <a16:creationId xmlns:a16="http://schemas.microsoft.com/office/drawing/2014/main" id="{14F13DC4-FAE7-4568-B8FB-0E79E7483E98}"/>
              </a:ext>
            </a:extLst>
          </p:cNvPr>
          <p:cNvSpPr>
            <a:spLocks xmlns:a="http://schemas.openxmlformats.org/drawingml/2006/main" noGrp="1"/>
          </p:cNvSpPr>
          <p:nvPr/>
        </p:nvSpPr>
        <p:spPr>
          <a:xfrm xmlns:a="http://schemas.openxmlformats.org/drawingml/2006/main">
            <a:off x="9728200" y="1511300"/>
            <a:ext cx="5334000" cy="457200"/>
          </a:xfrm>
          <a:prstGeom xmlns:a="http://schemas.openxmlformats.org/drawingml/2006/main" prst="roundRect">
            <a:avLst>
              <a:gd name="adj" fmla="val 27778"/>
            </a:avLst>
          </a:prstGeom>
          <a:solidFill xmlns:a="http://schemas.openxmlformats.org/drawingml/2006/main">
            <a:srgbClr val="FCE7D1"/>
          </a:solidFill>
          <a:ln xmlns:a="http://schemas.openxmlformats.org/drawingml/2006/main" w="0">
            <a:noFill/>
            <a:prstDash val="solid"/>
          </a:ln>
        </p:spPr>
        <p:txBody>
          <a:bodyPr xmlns:a="http://schemas.openxmlformats.org/drawingml/2006/main" wrap="square" lIns="88900" tIns="88900" rIns="88900" bIns="88900" anchor="ctr">
            <a:noAutofit/>
          </a:bodyPr>
          <a:lstStyle xmlns:a="http://schemas.openxmlformats.org/drawingml/2006/main">
            <a:defPPr algn="ctr">
              <a:defRPr sz="2200" b="1">
                <a:solidFill>
                  <a:srgbClr val="000000"/>
                </a:solidFill>
                <a:latin typeface="Times New Roman"/>
                <a:ea typeface="Times New Roman"/>
                <a:cs typeface="Times New Roman"/>
              </a:defRPr>
            </a:defPPr>
          </a:lstStyle>
          <a:p xmlns:a="http://schemas.openxmlformats.org/drawingml/2006/main">
            <a:pPr algn="ctr">
              <a:defRPr sz="2200" b="1">
                <a:solidFill>
                  <a:srgbClr val="000000"/>
                </a:solidFill>
                <a:latin typeface="Times New Roman"/>
                <a:ea typeface="Times New Roman"/>
                <a:cs typeface="Times New Roman"/>
              </a:defRPr>
            </a:pPr>
            <a:r>
              <a:rPr sz="2200" b="1">
                <a:solidFill>
                  <a:srgbClr val="000000"/>
                </a:solidFill>
                <a:latin typeface="Times New Roman"/>
                <a:ea typeface="Times New Roman"/>
                <a:cs typeface="Times New Roman"/>
              </a:rPr>
              <a:t>INNOVATION / UNIQUENESS</a:t>
            </a:r>
          </a:p>
        </p:txBody>
      </p:sp>
      <p:sp>
        <p:nvSpPr>
          <p:cNvPr id="15" name="shape-53">
            <a:extLst xmlns:a="http://schemas.openxmlformats.org/drawingml/2006/main">
              <a:ext uri="{FF2B5EF4-FFF2-40B4-BE49-F238E27FC236}">
                <a16:creationId xmlns:a16="http://schemas.microsoft.com/office/drawing/2014/main" id="{FBE43963-594E-42D3-8B40-714276C0CAB9}"/>
              </a:ext>
            </a:extLst>
          </p:cNvPr>
          <p:cNvSpPr>
            <a:spLocks xmlns:a="http://schemas.openxmlformats.org/drawingml/2006/main" noGrp="1"/>
          </p:cNvSpPr>
          <p:nvPr/>
        </p:nvSpPr>
        <p:spPr>
          <a:xfrm xmlns:a="http://schemas.openxmlformats.org/drawingml/2006/main">
            <a:off x="9601200" y="2133600"/>
            <a:ext cx="495300" cy="495300"/>
          </a:xfrm>
          <a:prstGeom xmlns:a="http://schemas.openxmlformats.org/drawingml/2006/main" prst="ellipse">
            <a:avLst/>
          </a:prstGeom>
          <a:solidFill xmlns:a="http://schemas.openxmlformats.org/drawingml/2006/main">
            <a:srgbClr val="F1CCAD"/>
          </a:solidFill>
          <a:ln xmlns:a="http://schemas.openxmlformats.org/drawingml/2006/main" w="8890">
            <a:solidFill>
              <a:srgbClr val="000000"/>
            </a:solidFill>
            <a:prstDash val="solid"/>
          </a:ln>
        </p:spPr>
      </p:sp>
      <p:sp>
        <p:nvSpPr>
          <p:cNvPr id="16" name="text-55">
            <a:extLst xmlns:a="http://schemas.openxmlformats.org/drawingml/2006/main">
              <a:ext uri="{FF2B5EF4-FFF2-40B4-BE49-F238E27FC236}">
                <a16:creationId xmlns:a16="http://schemas.microsoft.com/office/drawing/2014/main" id="{BC22189B-1B06-40C0-AE63-2FAE27A44A8F}"/>
              </a:ext>
            </a:extLst>
          </p:cNvPr>
          <p:cNvSpPr>
            <a:spLocks xmlns:a="http://schemas.openxmlformats.org/drawingml/2006/main" noGrp="1"/>
          </p:cNvSpPr>
          <p:nvPr/>
        </p:nvSpPr>
        <p:spPr>
          <a:xfrm xmlns:a="http://schemas.openxmlformats.org/drawingml/2006/main">
            <a:off x="9715500" y="2235200"/>
            <a:ext cx="279400" cy="279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00" b="0" i="0">
                <a:solidFill>
                  <a:srgbClr val="000000"/>
                </a:solidFill>
                <a:latin typeface="Times New Roman"/>
                <a:ea typeface="Times New Roman"/>
                <a:cs typeface="Times New Roman"/>
              </a:defRPr>
            </a:defPPr>
          </a:lstStyle>
          <a:p xmlns:a="http://schemas.openxmlformats.org/drawingml/2006/main">
            <a:pPr algn="ctr">
              <a:defRPr sz="1700" b="0" i="0">
                <a:solidFill>
                  <a:srgbClr val="000000"/>
                </a:solidFill>
                <a:latin typeface="Times New Roman"/>
                <a:ea typeface="Times New Roman"/>
                <a:cs typeface="Times New Roman"/>
              </a:defRPr>
            </a:pPr>
            <a:r>
              <a:rPr sz="1700" b="0" i="0">
                <a:solidFill>
                  <a:srgbClr val="000000"/>
                </a:solidFill>
                <a:latin typeface="Times New Roman"/>
                <a:ea typeface="Times New Roman"/>
                <a:cs typeface="Times New Roman"/>
              </a:rPr>
              <a:t>1</a:t>
            </a:r>
          </a:p>
        </p:txBody>
      </p:sp>
      <p:sp>
        <p:nvSpPr>
          <p:cNvPr id="17" name="text-57">
            <a:extLst xmlns:a="http://schemas.openxmlformats.org/drawingml/2006/main">
              <a:ext uri="{FF2B5EF4-FFF2-40B4-BE49-F238E27FC236}">
                <a16:creationId xmlns:a16="http://schemas.microsoft.com/office/drawing/2014/main" id="{D855D618-A3E2-4496-8DBA-BE9364CB32CD}"/>
              </a:ext>
            </a:extLst>
          </p:cNvPr>
          <p:cNvSpPr>
            <a:spLocks xmlns:a="http://schemas.openxmlformats.org/drawingml/2006/main" noGrp="1"/>
          </p:cNvSpPr>
          <p:nvPr/>
        </p:nvSpPr>
        <p:spPr>
          <a:xfrm xmlns:a="http://schemas.openxmlformats.org/drawingml/2006/main">
            <a:off x="10261600" y="2120900"/>
            <a:ext cx="3429000" cy="558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1" i="0">
                <a:solidFill>
                  <a:srgbClr val="000000"/>
                </a:solidFill>
                <a:latin typeface="Times New Roman"/>
                <a:ea typeface="Times New Roman"/>
                <a:cs typeface="Times New Roman"/>
              </a:defRPr>
            </a:defPPr>
          </a:lstStyle>
          <a:p xmlns:a="http://schemas.openxmlformats.org/drawingml/2006/main">
            <a:pPr algn="l">
              <a:defRPr sz="2000" b="1" i="0">
                <a:solidFill>
                  <a:srgbClr val="000000"/>
                </a:solidFill>
                <a:latin typeface="Times New Roman"/>
                <a:ea typeface="Times New Roman"/>
                <a:cs typeface="Times New Roman"/>
              </a:defRPr>
            </a:pPr>
            <a:r>
              <a:rPr sz="2000" b="1" i="0">
                <a:solidFill>
                  <a:srgbClr val="000000"/>
                </a:solidFill>
                <a:latin typeface="Times New Roman"/>
                <a:ea typeface="Times New Roman"/>
                <a:cs typeface="Times New Roman"/>
              </a:rPr>
              <a:t>FIVE-OPTION COMPARISON</a:t>
            </a:r>
          </a:p>
        </p:txBody>
      </p:sp>
      <p:sp>
        <p:nvSpPr>
          <p:cNvPr id="18" name="text-59">
            <a:extLst xmlns:a="http://schemas.openxmlformats.org/drawingml/2006/main">
              <a:ext uri="{FF2B5EF4-FFF2-40B4-BE49-F238E27FC236}">
                <a16:creationId xmlns:a16="http://schemas.microsoft.com/office/drawing/2014/main" id="{E5FDC9B0-6D4C-46A2-8DA4-405284D7256E}"/>
              </a:ext>
            </a:extLst>
          </p:cNvPr>
          <p:cNvSpPr>
            <a:spLocks xmlns:a="http://schemas.openxmlformats.org/drawingml/2006/main" noGrp="1"/>
          </p:cNvSpPr>
          <p:nvPr/>
        </p:nvSpPr>
        <p:spPr>
          <a:xfrm xmlns:a="http://schemas.openxmlformats.org/drawingml/2006/main">
            <a:off x="10261600" y="2755900"/>
            <a:ext cx="3403600" cy="774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i="0">
                <a:solidFill>
                  <a:srgbClr val="000000"/>
                </a:solidFill>
                <a:latin typeface="Times New Roman"/>
                <a:ea typeface="Times New Roman"/>
                <a:cs typeface="Times New Roman"/>
              </a:defRPr>
            </a:defPPr>
          </a:lstStyle>
          <a:p xmlns:a="http://schemas.openxmlformats.org/drawingml/2006/main">
            <a:pPr algn="l">
              <a:defRPr sz="1800" b="0" i="0">
                <a:solidFill>
                  <a:srgbClr val="000000"/>
                </a:solidFill>
                <a:latin typeface="Times New Roman"/>
                <a:ea typeface="Times New Roman"/>
                <a:cs typeface="Times New Roman"/>
              </a:defRPr>
            </a:pPr>
            <a:r>
              <a:rPr sz="1800" b="0" i="0">
                <a:solidFill>
                  <a:srgbClr val="000000"/>
                </a:solidFill>
                <a:latin typeface="Times New Roman"/>
                <a:ea typeface="Times New Roman"/>
                <a:cs typeface="Times New Roman"/>
              </a:rPr>
              <a:t>Compare delivery options before creating a requisition.</a:t>
            </a:r>
          </a:p>
        </p:txBody>
      </p:sp>
      <p:sp>
        <p:nvSpPr>
          <p:cNvPr id="19" name="shape-60">
            <a:extLst xmlns:a="http://schemas.openxmlformats.org/drawingml/2006/main">
              <a:ext uri="{FF2B5EF4-FFF2-40B4-BE49-F238E27FC236}">
                <a16:creationId xmlns:a16="http://schemas.microsoft.com/office/drawing/2014/main" id="{133EA8F4-95FD-4C80-B5BB-47E505DB2D7E}"/>
              </a:ext>
            </a:extLst>
          </p:cNvPr>
          <p:cNvSpPr>
            <a:spLocks xmlns:a="http://schemas.openxmlformats.org/drawingml/2006/main" noGrp="1"/>
          </p:cNvSpPr>
          <p:nvPr/>
        </p:nvSpPr>
        <p:spPr>
          <a:xfrm xmlns:a="http://schemas.openxmlformats.org/drawingml/2006/main">
            <a:off x="9601200" y="3429000"/>
            <a:ext cx="495300" cy="495300"/>
          </a:xfrm>
          <a:prstGeom xmlns:a="http://schemas.openxmlformats.org/drawingml/2006/main" prst="ellipse">
            <a:avLst/>
          </a:prstGeom>
          <a:solidFill xmlns:a="http://schemas.openxmlformats.org/drawingml/2006/main">
            <a:srgbClr val="F1CCAD"/>
          </a:solidFill>
          <a:ln xmlns:a="http://schemas.openxmlformats.org/drawingml/2006/main" w="8890">
            <a:solidFill>
              <a:srgbClr val="000000"/>
            </a:solidFill>
            <a:prstDash val="solid"/>
          </a:ln>
        </p:spPr>
      </p:sp>
      <p:sp>
        <p:nvSpPr>
          <p:cNvPr id="20" name="text-62">
            <a:extLst xmlns:a="http://schemas.openxmlformats.org/drawingml/2006/main">
              <a:ext uri="{FF2B5EF4-FFF2-40B4-BE49-F238E27FC236}">
                <a16:creationId xmlns:a16="http://schemas.microsoft.com/office/drawing/2014/main" id="{4E329C6E-2700-4E52-9DE6-89BB85106C32}"/>
              </a:ext>
            </a:extLst>
          </p:cNvPr>
          <p:cNvSpPr>
            <a:spLocks xmlns:a="http://schemas.openxmlformats.org/drawingml/2006/main" noGrp="1"/>
          </p:cNvSpPr>
          <p:nvPr/>
        </p:nvSpPr>
        <p:spPr>
          <a:xfrm xmlns:a="http://schemas.openxmlformats.org/drawingml/2006/main">
            <a:off x="9715500" y="3530600"/>
            <a:ext cx="279400" cy="279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00" b="0" i="0">
                <a:solidFill>
                  <a:srgbClr val="000000"/>
                </a:solidFill>
                <a:latin typeface="Times New Roman"/>
                <a:ea typeface="Times New Roman"/>
                <a:cs typeface="Times New Roman"/>
              </a:defRPr>
            </a:defPPr>
          </a:lstStyle>
          <a:p xmlns:a="http://schemas.openxmlformats.org/drawingml/2006/main">
            <a:pPr algn="ctr">
              <a:defRPr sz="1700" b="0" i="0">
                <a:solidFill>
                  <a:srgbClr val="000000"/>
                </a:solidFill>
                <a:latin typeface="Times New Roman"/>
                <a:ea typeface="Times New Roman"/>
                <a:cs typeface="Times New Roman"/>
              </a:defRPr>
            </a:pPr>
            <a:r>
              <a:rPr sz="1700" b="0" i="0">
                <a:solidFill>
                  <a:srgbClr val="000000"/>
                </a:solidFill>
                <a:latin typeface="Times New Roman"/>
                <a:ea typeface="Times New Roman"/>
                <a:cs typeface="Times New Roman"/>
              </a:rPr>
              <a:t>2</a:t>
            </a:r>
          </a:p>
        </p:txBody>
      </p:sp>
      <p:sp>
        <p:nvSpPr>
          <p:cNvPr id="21" name="text-64">
            <a:extLst xmlns:a="http://schemas.openxmlformats.org/drawingml/2006/main">
              <a:ext uri="{FF2B5EF4-FFF2-40B4-BE49-F238E27FC236}">
                <a16:creationId xmlns:a16="http://schemas.microsoft.com/office/drawing/2014/main" id="{387258CC-940B-443D-91B6-745C16EBCE63}"/>
              </a:ext>
            </a:extLst>
          </p:cNvPr>
          <p:cNvSpPr>
            <a:spLocks xmlns:a="http://schemas.openxmlformats.org/drawingml/2006/main" noGrp="1"/>
          </p:cNvSpPr>
          <p:nvPr/>
        </p:nvSpPr>
        <p:spPr>
          <a:xfrm xmlns:a="http://schemas.openxmlformats.org/drawingml/2006/main">
            <a:off x="10261600" y="3416300"/>
            <a:ext cx="3429000" cy="558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1" i="0">
                <a:solidFill>
                  <a:srgbClr val="000000"/>
                </a:solidFill>
                <a:latin typeface="Times New Roman"/>
                <a:ea typeface="Times New Roman"/>
                <a:cs typeface="Times New Roman"/>
              </a:defRPr>
            </a:defPPr>
          </a:lstStyle>
          <a:p xmlns:a="http://schemas.openxmlformats.org/drawingml/2006/main">
            <a:pPr algn="l">
              <a:defRPr sz="2000" b="1" i="0">
                <a:solidFill>
                  <a:srgbClr val="000000"/>
                </a:solidFill>
                <a:latin typeface="Times New Roman"/>
                <a:ea typeface="Times New Roman"/>
                <a:cs typeface="Times New Roman"/>
              </a:defRPr>
            </a:pPr>
            <a:r>
              <a:rPr sz="2000" b="1" i="0">
                <a:solidFill>
                  <a:srgbClr val="000000"/>
                </a:solidFill>
                <a:latin typeface="Times New Roman"/>
                <a:ea typeface="Times New Roman"/>
                <a:cs typeface="Times New Roman"/>
              </a:rPr>
              <a:t>EVIDENCE AND PROVENANCE</a:t>
            </a:r>
          </a:p>
        </p:txBody>
      </p:sp>
      <p:sp>
        <p:nvSpPr>
          <p:cNvPr id="22" name="text-66">
            <a:extLst xmlns:a="http://schemas.openxmlformats.org/drawingml/2006/main">
              <a:ext uri="{FF2B5EF4-FFF2-40B4-BE49-F238E27FC236}">
                <a16:creationId xmlns:a16="http://schemas.microsoft.com/office/drawing/2014/main" id="{8A6CC038-DCEB-4350-B5E8-8260732D878B}"/>
              </a:ext>
            </a:extLst>
          </p:cNvPr>
          <p:cNvSpPr>
            <a:spLocks xmlns:a="http://schemas.openxmlformats.org/drawingml/2006/main" noGrp="1"/>
          </p:cNvSpPr>
          <p:nvPr/>
        </p:nvSpPr>
        <p:spPr>
          <a:xfrm xmlns:a="http://schemas.openxmlformats.org/drawingml/2006/main">
            <a:off x="10261600" y="4051300"/>
            <a:ext cx="3403600" cy="774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i="0">
                <a:solidFill>
                  <a:srgbClr val="000000"/>
                </a:solidFill>
                <a:latin typeface="Times New Roman"/>
                <a:ea typeface="Times New Roman"/>
                <a:cs typeface="Times New Roman"/>
              </a:defRPr>
            </a:defPPr>
          </a:lstStyle>
          <a:p xmlns:a="http://schemas.openxmlformats.org/drawingml/2006/main">
            <a:pPr algn="l">
              <a:defRPr sz="1800" b="0" i="0">
                <a:solidFill>
                  <a:srgbClr val="000000"/>
                </a:solidFill>
                <a:latin typeface="Times New Roman"/>
                <a:ea typeface="Times New Roman"/>
                <a:cs typeface="Times New Roman"/>
              </a:defRPr>
            </a:pPr>
            <a:r>
              <a:rPr sz="1800" b="0" i="0">
                <a:solidFill>
                  <a:srgbClr val="000000"/>
                </a:solidFill>
                <a:latin typeface="Times New Roman"/>
                <a:ea typeface="Times New Roman"/>
                <a:cs typeface="Times New Roman"/>
              </a:rPr>
              <a:t>Retain sources, dates, skill gaps and forecast assumptions.</a:t>
            </a:r>
          </a:p>
        </p:txBody>
      </p:sp>
      <p:sp>
        <p:nvSpPr>
          <p:cNvPr id="23" name="shape-67">
            <a:extLst xmlns:a="http://schemas.openxmlformats.org/drawingml/2006/main">
              <a:ext uri="{FF2B5EF4-FFF2-40B4-BE49-F238E27FC236}">
                <a16:creationId xmlns:a16="http://schemas.microsoft.com/office/drawing/2014/main" id="{D7F10429-2F17-4A13-B0F1-DF2A5E3D7CFB}"/>
              </a:ext>
            </a:extLst>
          </p:cNvPr>
          <p:cNvSpPr>
            <a:spLocks xmlns:a="http://schemas.openxmlformats.org/drawingml/2006/main" noGrp="1"/>
          </p:cNvSpPr>
          <p:nvPr/>
        </p:nvSpPr>
        <p:spPr>
          <a:xfrm xmlns:a="http://schemas.openxmlformats.org/drawingml/2006/main">
            <a:off x="13512800" y="2133600"/>
            <a:ext cx="495300" cy="495300"/>
          </a:xfrm>
          <a:prstGeom xmlns:a="http://schemas.openxmlformats.org/drawingml/2006/main" prst="ellipse">
            <a:avLst/>
          </a:prstGeom>
          <a:solidFill xmlns:a="http://schemas.openxmlformats.org/drawingml/2006/main">
            <a:srgbClr val="F1CCAD"/>
          </a:solidFill>
          <a:ln xmlns:a="http://schemas.openxmlformats.org/drawingml/2006/main" w="8890">
            <a:solidFill>
              <a:srgbClr val="000000"/>
            </a:solidFill>
            <a:prstDash val="solid"/>
          </a:ln>
        </p:spPr>
      </p:sp>
      <p:sp>
        <p:nvSpPr>
          <p:cNvPr id="24" name="text-69">
            <a:extLst xmlns:a="http://schemas.openxmlformats.org/drawingml/2006/main">
              <a:ext uri="{FF2B5EF4-FFF2-40B4-BE49-F238E27FC236}">
                <a16:creationId xmlns:a16="http://schemas.microsoft.com/office/drawing/2014/main" id="{11B22AC0-936D-4856-AF35-EBE68197DDBA}"/>
              </a:ext>
            </a:extLst>
          </p:cNvPr>
          <p:cNvSpPr>
            <a:spLocks xmlns:a="http://schemas.openxmlformats.org/drawingml/2006/main" noGrp="1"/>
          </p:cNvSpPr>
          <p:nvPr/>
        </p:nvSpPr>
        <p:spPr>
          <a:xfrm xmlns:a="http://schemas.openxmlformats.org/drawingml/2006/main">
            <a:off x="13627100" y="2235200"/>
            <a:ext cx="279400" cy="279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00" b="0" i="0">
                <a:solidFill>
                  <a:srgbClr val="000000"/>
                </a:solidFill>
                <a:latin typeface="Times New Roman"/>
                <a:ea typeface="Times New Roman"/>
                <a:cs typeface="Times New Roman"/>
              </a:defRPr>
            </a:defPPr>
          </a:lstStyle>
          <a:p xmlns:a="http://schemas.openxmlformats.org/drawingml/2006/main">
            <a:pPr algn="ctr">
              <a:defRPr sz="1700" b="0" i="0">
                <a:solidFill>
                  <a:srgbClr val="000000"/>
                </a:solidFill>
                <a:latin typeface="Times New Roman"/>
                <a:ea typeface="Times New Roman"/>
                <a:cs typeface="Times New Roman"/>
              </a:defRPr>
            </a:pPr>
            <a:r>
              <a:rPr sz="1700" b="0" i="0">
                <a:solidFill>
                  <a:srgbClr val="000000"/>
                </a:solidFill>
                <a:latin typeface="Times New Roman"/>
                <a:ea typeface="Times New Roman"/>
                <a:cs typeface="Times New Roman"/>
              </a:rPr>
              <a:t>3</a:t>
            </a:r>
          </a:p>
        </p:txBody>
      </p:sp>
      <p:sp>
        <p:nvSpPr>
          <p:cNvPr id="25" name="text-71">
            <a:extLst xmlns:a="http://schemas.openxmlformats.org/drawingml/2006/main">
              <a:ext uri="{FF2B5EF4-FFF2-40B4-BE49-F238E27FC236}">
                <a16:creationId xmlns:a16="http://schemas.microsoft.com/office/drawing/2014/main" id="{0113AECD-DB78-4DAF-90B3-973F700B9A1A}"/>
              </a:ext>
            </a:extLst>
          </p:cNvPr>
          <p:cNvSpPr>
            <a:spLocks xmlns:a="http://schemas.openxmlformats.org/drawingml/2006/main" noGrp="1"/>
          </p:cNvSpPr>
          <p:nvPr/>
        </p:nvSpPr>
        <p:spPr>
          <a:xfrm xmlns:a="http://schemas.openxmlformats.org/drawingml/2006/main">
            <a:off x="14173200" y="2120900"/>
            <a:ext cx="3429000" cy="558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1" i="0">
                <a:solidFill>
                  <a:srgbClr val="000000"/>
                </a:solidFill>
                <a:latin typeface="Times New Roman"/>
                <a:ea typeface="Times New Roman"/>
                <a:cs typeface="Times New Roman"/>
              </a:defRPr>
            </a:defPPr>
          </a:lstStyle>
          <a:p xmlns:a="http://schemas.openxmlformats.org/drawingml/2006/main">
            <a:pPr algn="l">
              <a:defRPr sz="2000" b="1" i="0">
                <a:solidFill>
                  <a:srgbClr val="000000"/>
                </a:solidFill>
                <a:latin typeface="Times New Roman"/>
                <a:ea typeface="Times New Roman"/>
                <a:cs typeface="Times New Roman"/>
              </a:defRPr>
            </a:pPr>
            <a:r>
              <a:rPr sz="2000" b="1" i="0">
                <a:solidFill>
                  <a:srgbClr val="000000"/>
                </a:solidFill>
                <a:latin typeface="Times New Roman"/>
                <a:ea typeface="Times New Roman"/>
                <a:cs typeface="Times New Roman"/>
              </a:rPr>
              <a:t>CAPACITY RESERVATIONS</a:t>
            </a:r>
          </a:p>
        </p:txBody>
      </p:sp>
      <p:sp>
        <p:nvSpPr>
          <p:cNvPr id="26" name="text-73">
            <a:extLst xmlns:a="http://schemas.openxmlformats.org/drawingml/2006/main">
              <a:ext uri="{FF2B5EF4-FFF2-40B4-BE49-F238E27FC236}">
                <a16:creationId xmlns:a16="http://schemas.microsoft.com/office/drawing/2014/main" id="{F9EF3C90-5236-4DC3-A9C3-A3672E0DD057}"/>
              </a:ext>
            </a:extLst>
          </p:cNvPr>
          <p:cNvSpPr>
            <a:spLocks xmlns:a="http://schemas.openxmlformats.org/drawingml/2006/main" noGrp="1"/>
          </p:cNvSpPr>
          <p:nvPr/>
        </p:nvSpPr>
        <p:spPr>
          <a:xfrm xmlns:a="http://schemas.openxmlformats.org/drawingml/2006/main">
            <a:off x="14173200" y="2755900"/>
            <a:ext cx="3403600" cy="774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i="0">
                <a:solidFill>
                  <a:srgbClr val="000000"/>
                </a:solidFill>
                <a:latin typeface="Times New Roman"/>
                <a:ea typeface="Times New Roman"/>
                <a:cs typeface="Times New Roman"/>
              </a:defRPr>
            </a:defPPr>
          </a:lstStyle>
          <a:p xmlns:a="http://schemas.openxmlformats.org/drawingml/2006/main">
            <a:pPr algn="l">
              <a:defRPr sz="1800" b="0" i="0">
                <a:solidFill>
                  <a:srgbClr val="000000"/>
                </a:solidFill>
                <a:latin typeface="Times New Roman"/>
                <a:ea typeface="Times New Roman"/>
                <a:cs typeface="Times New Roman"/>
              </a:defRPr>
            </a:pPr>
            <a:r>
              <a:rPr sz="1800" b="0" i="0">
                <a:solidFill>
                  <a:srgbClr val="000000"/>
                </a:solidFill>
                <a:latin typeface="Times New Roman"/>
                <a:ea typeface="Times New Roman"/>
                <a:cs typeface="Times New Roman"/>
              </a:rPr>
              <a:t>Prevent new Build/Borrow approvals from sharing one person.</a:t>
            </a:r>
          </a:p>
        </p:txBody>
      </p:sp>
      <p:sp>
        <p:nvSpPr>
          <p:cNvPr id="27" name="shape-74">
            <a:extLst xmlns:a="http://schemas.openxmlformats.org/drawingml/2006/main">
              <a:ext uri="{FF2B5EF4-FFF2-40B4-BE49-F238E27FC236}">
                <a16:creationId xmlns:a16="http://schemas.microsoft.com/office/drawing/2014/main" id="{8CAA3630-89F1-4AF8-949A-54317AC00679}"/>
              </a:ext>
            </a:extLst>
          </p:cNvPr>
          <p:cNvSpPr>
            <a:spLocks xmlns:a="http://schemas.openxmlformats.org/drawingml/2006/main" noGrp="1"/>
          </p:cNvSpPr>
          <p:nvPr/>
        </p:nvSpPr>
        <p:spPr>
          <a:xfrm xmlns:a="http://schemas.openxmlformats.org/drawingml/2006/main">
            <a:off x="13512800" y="3429000"/>
            <a:ext cx="495300" cy="495300"/>
          </a:xfrm>
          <a:prstGeom xmlns:a="http://schemas.openxmlformats.org/drawingml/2006/main" prst="ellipse">
            <a:avLst/>
          </a:prstGeom>
          <a:solidFill xmlns:a="http://schemas.openxmlformats.org/drawingml/2006/main">
            <a:srgbClr val="F1CCAD"/>
          </a:solidFill>
          <a:ln xmlns:a="http://schemas.openxmlformats.org/drawingml/2006/main" w="8890">
            <a:solidFill>
              <a:srgbClr val="000000"/>
            </a:solidFill>
            <a:prstDash val="solid"/>
          </a:ln>
        </p:spPr>
      </p:sp>
      <p:sp>
        <p:nvSpPr>
          <p:cNvPr id="28" name="text-76">
            <a:extLst xmlns:a="http://schemas.openxmlformats.org/drawingml/2006/main">
              <a:ext uri="{FF2B5EF4-FFF2-40B4-BE49-F238E27FC236}">
                <a16:creationId xmlns:a16="http://schemas.microsoft.com/office/drawing/2014/main" id="{5FA9BB91-59EB-4844-BEAE-AAFD2AAE1ABF}"/>
              </a:ext>
            </a:extLst>
          </p:cNvPr>
          <p:cNvSpPr>
            <a:spLocks xmlns:a="http://schemas.openxmlformats.org/drawingml/2006/main" noGrp="1"/>
          </p:cNvSpPr>
          <p:nvPr/>
        </p:nvSpPr>
        <p:spPr>
          <a:xfrm xmlns:a="http://schemas.openxmlformats.org/drawingml/2006/main">
            <a:off x="13627100" y="3530600"/>
            <a:ext cx="279400" cy="279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00" b="0" i="0">
                <a:solidFill>
                  <a:srgbClr val="000000"/>
                </a:solidFill>
                <a:latin typeface="Times New Roman"/>
                <a:ea typeface="Times New Roman"/>
                <a:cs typeface="Times New Roman"/>
              </a:defRPr>
            </a:defPPr>
          </a:lstStyle>
          <a:p xmlns:a="http://schemas.openxmlformats.org/drawingml/2006/main">
            <a:pPr algn="ctr">
              <a:defRPr sz="1700" b="0" i="0">
                <a:solidFill>
                  <a:srgbClr val="000000"/>
                </a:solidFill>
                <a:latin typeface="Times New Roman"/>
                <a:ea typeface="Times New Roman"/>
                <a:cs typeface="Times New Roman"/>
              </a:defRPr>
            </a:pPr>
            <a:r>
              <a:rPr sz="1700" b="0" i="0">
                <a:solidFill>
                  <a:srgbClr val="000000"/>
                </a:solidFill>
                <a:latin typeface="Times New Roman"/>
                <a:ea typeface="Times New Roman"/>
                <a:cs typeface="Times New Roman"/>
              </a:rPr>
              <a:t>4</a:t>
            </a:r>
          </a:p>
        </p:txBody>
      </p:sp>
      <p:sp>
        <p:nvSpPr>
          <p:cNvPr id="29" name="text-78">
            <a:extLst xmlns:a="http://schemas.openxmlformats.org/drawingml/2006/main">
              <a:ext uri="{FF2B5EF4-FFF2-40B4-BE49-F238E27FC236}">
                <a16:creationId xmlns:a16="http://schemas.microsoft.com/office/drawing/2014/main" id="{7F3DC54E-53BF-455B-B403-BDCE34B8F849}"/>
              </a:ext>
            </a:extLst>
          </p:cNvPr>
          <p:cNvSpPr>
            <a:spLocks xmlns:a="http://schemas.openxmlformats.org/drawingml/2006/main" noGrp="1"/>
          </p:cNvSpPr>
          <p:nvPr/>
        </p:nvSpPr>
        <p:spPr>
          <a:xfrm xmlns:a="http://schemas.openxmlformats.org/drawingml/2006/main">
            <a:off x="14173200" y="3416300"/>
            <a:ext cx="3429000" cy="558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1" i="0">
                <a:solidFill>
                  <a:srgbClr val="000000"/>
                </a:solidFill>
                <a:latin typeface="Times New Roman"/>
                <a:ea typeface="Times New Roman"/>
                <a:cs typeface="Times New Roman"/>
              </a:defRPr>
            </a:defPPr>
          </a:lstStyle>
          <a:p xmlns:a="http://schemas.openxmlformats.org/drawingml/2006/main">
            <a:pPr algn="l">
              <a:defRPr sz="2000" b="1" i="0">
                <a:solidFill>
                  <a:srgbClr val="000000"/>
                </a:solidFill>
                <a:latin typeface="Times New Roman"/>
                <a:ea typeface="Times New Roman"/>
                <a:cs typeface="Times New Roman"/>
              </a:defRPr>
            </a:pPr>
            <a:r>
              <a:rPr sz="2000" b="1" i="0">
                <a:solidFill>
                  <a:srgbClr val="000000"/>
                </a:solidFill>
                <a:latin typeface="Times New Roman"/>
                <a:ea typeface="Times New Roman"/>
                <a:cs typeface="Times New Roman"/>
              </a:rPr>
              <a:t>HUMAN DECISION HISTORY</a:t>
            </a:r>
          </a:p>
        </p:txBody>
      </p:sp>
      <p:sp>
        <p:nvSpPr>
          <p:cNvPr id="30" name="text-80">
            <a:extLst xmlns:a="http://schemas.openxmlformats.org/drawingml/2006/main">
              <a:ext uri="{FF2B5EF4-FFF2-40B4-BE49-F238E27FC236}">
                <a16:creationId xmlns:a16="http://schemas.microsoft.com/office/drawing/2014/main" id="{6000EDC5-7898-4503-99BA-766DFBD102D1}"/>
              </a:ext>
            </a:extLst>
          </p:cNvPr>
          <p:cNvSpPr>
            <a:spLocks xmlns:a="http://schemas.openxmlformats.org/drawingml/2006/main" noGrp="1"/>
          </p:cNvSpPr>
          <p:nvPr/>
        </p:nvSpPr>
        <p:spPr>
          <a:xfrm xmlns:a="http://schemas.openxmlformats.org/drawingml/2006/main">
            <a:off x="14173200" y="4051300"/>
            <a:ext cx="3403600" cy="774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i="0">
                <a:solidFill>
                  <a:srgbClr val="000000"/>
                </a:solidFill>
                <a:latin typeface="Times New Roman"/>
                <a:ea typeface="Times New Roman"/>
                <a:cs typeface="Times New Roman"/>
              </a:defRPr>
            </a:defPPr>
          </a:lstStyle>
          <a:p xmlns:a="http://schemas.openxmlformats.org/drawingml/2006/main">
            <a:pPr algn="l">
              <a:defRPr sz="1800" b="0" i="0">
                <a:solidFill>
                  <a:srgbClr val="000000"/>
                </a:solidFill>
                <a:latin typeface="Times New Roman"/>
                <a:ea typeface="Times New Roman"/>
                <a:cs typeface="Times New Roman"/>
              </a:defRPr>
            </a:pPr>
            <a:r>
              <a:rPr sz="1800" b="0" i="0">
                <a:solidFill>
                  <a:srgbClr val="000000"/>
                </a:solidFill>
                <a:latin typeface="Times New Roman"/>
                <a:ea typeface="Times New Roman"/>
                <a:cs typeface="Times New Roman"/>
              </a:rPr>
              <a:t>Record rationale, recruitment stages and accountable work.</a:t>
            </a:r>
          </a:p>
        </p:txBody>
      </p:sp>
      <p:sp>
        <p:nvSpPr>
          <p:cNvPr id="31" name="shape-81">
            <a:extLst xmlns:a="http://schemas.openxmlformats.org/drawingml/2006/main">
              <a:ext uri="{FF2B5EF4-FFF2-40B4-BE49-F238E27FC236}">
                <a16:creationId xmlns:a16="http://schemas.microsoft.com/office/drawing/2014/main" id="{B2218BE2-166C-491E-913E-AA767743BBBB}"/>
              </a:ext>
            </a:extLst>
          </p:cNvPr>
          <p:cNvSpPr>
            <a:spLocks xmlns:a="http://schemas.openxmlformats.org/drawingml/2006/main" noGrp="1"/>
          </p:cNvSpPr>
          <p:nvPr/>
        </p:nvSpPr>
        <p:spPr>
          <a:xfrm xmlns:a="http://schemas.openxmlformats.org/drawingml/2006/main">
            <a:off x="596900" y="5384800"/>
            <a:ext cx="7327900" cy="457200"/>
          </a:xfrm>
          <a:prstGeom xmlns:a="http://schemas.openxmlformats.org/drawingml/2006/main" prst="roundRect">
            <a:avLst>
              <a:gd name="adj" fmla="val 27778"/>
            </a:avLst>
          </a:prstGeom>
          <a:solidFill xmlns:a="http://schemas.openxmlformats.org/drawingml/2006/main">
            <a:srgbClr val="7BA666"/>
          </a:solidFill>
          <a:ln xmlns:a="http://schemas.openxmlformats.org/drawingml/2006/main" w="0">
            <a:noFill/>
            <a:prstDash val="solid"/>
          </a:ln>
        </p:spPr>
        <p:txBody>
          <a:bodyPr xmlns:a="http://schemas.openxmlformats.org/drawingml/2006/main" wrap="square" lIns="88900" tIns="88900" rIns="88900" bIns="88900" anchor="ctr">
            <a:noAutofit/>
          </a:bodyPr>
          <a:lstStyle xmlns:a="http://schemas.openxmlformats.org/drawingml/2006/main">
            <a:defPPr algn="ctr">
              <a:defRPr sz="2300" b="1">
                <a:solidFill>
                  <a:srgbClr val="000000"/>
                </a:solidFill>
                <a:latin typeface="Times New Roman"/>
                <a:ea typeface="Times New Roman"/>
                <a:cs typeface="Times New Roman"/>
              </a:defRPr>
            </a:defPPr>
          </a:lstStyle>
          <a:p xmlns:a="http://schemas.openxmlformats.org/drawingml/2006/main">
            <a:pPr algn="ctr">
              <a:defRPr sz="2300" b="1">
                <a:solidFill>
                  <a:srgbClr val="000000"/>
                </a:solidFill>
                <a:latin typeface="Times New Roman"/>
                <a:ea typeface="Times New Roman"/>
                <a:cs typeface="Times New Roman"/>
              </a:defRPr>
            </a:pPr>
            <a:r>
              <a:rPr sz="2300" b="1">
                <a:solidFill>
                  <a:srgbClr val="000000"/>
                </a:solidFill>
                <a:latin typeface="Times New Roman"/>
                <a:ea typeface="Times New Roman"/>
                <a:cs typeface="Times New Roman"/>
              </a:rPr>
              <a:t>PROPOSED SOLUTION: WORKFORCE ADVISORY</a:t>
            </a:r>
          </a:p>
        </p:txBody>
      </p:sp>
      <p:sp>
        <p:nvSpPr>
          <p:cNvPr id="32" name="text-83">
            <a:extLst xmlns:a="http://schemas.openxmlformats.org/drawingml/2006/main">
              <a:ext uri="{FF2B5EF4-FFF2-40B4-BE49-F238E27FC236}">
                <a16:creationId xmlns:a16="http://schemas.microsoft.com/office/drawing/2014/main" id="{6DA0AD99-EA1A-4355-8C2F-0AC490316F69}"/>
              </a:ext>
            </a:extLst>
          </p:cNvPr>
          <p:cNvSpPr>
            <a:spLocks xmlns:a="http://schemas.openxmlformats.org/drawingml/2006/main" noGrp="1"/>
          </p:cNvSpPr>
          <p:nvPr/>
        </p:nvSpPr>
        <p:spPr>
          <a:xfrm xmlns:a="http://schemas.openxmlformats.org/drawingml/2006/main">
            <a:off x="419100" y="6134100"/>
            <a:ext cx="7874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i="0">
                <a:solidFill>
                  <a:srgbClr val="000000"/>
                </a:solidFill>
                <a:latin typeface="Times New Roman"/>
                <a:ea typeface="Times New Roman"/>
                <a:cs typeface="Times New Roman"/>
              </a:defRPr>
            </a:defPPr>
          </a:lstStyle>
          <a:p xmlns:a="http://schemas.openxmlformats.org/drawingml/2006/main">
            <a:pPr algn="l">
              <a:defRPr sz="2100" b="0" i="0">
                <a:solidFill>
                  <a:srgbClr val="000000"/>
                </a:solidFill>
                <a:latin typeface="Times New Roman"/>
                <a:ea typeface="Times New Roman"/>
                <a:cs typeface="Times New Roman"/>
              </a:defRPr>
            </a:pPr>
            <a:r>
              <a:rPr sz="2100" b="0" i="0">
                <a:solidFill>
                  <a:srgbClr val="000000"/>
                </a:solidFill>
                <a:latin typeface="Times New Roman"/>
                <a:ea typeface="Times New Roman"/>
                <a:cs typeface="Times New Roman"/>
              </a:rPr>
              <a:t>Data foundation: </a:t>
            </a:r>
            <a:r>
              <a:rPr sz="2100" b="0" i="0">
                <a:solidFill>
                  <a:srgbClr val="000000"/>
                </a:solidFill>
                <a:latin typeface="Times New Roman"/>
                <a:ea typeface="Times New Roman"/>
                <a:cs typeface="Times New Roman"/>
              </a:rPr>
              <a:t>Import authorized people and assessments, with official O*NET role and skill references.</a:t>
            </a:r>
          </a:p>
        </p:txBody>
      </p:sp>
      <p:sp>
        <p:nvSpPr>
          <p:cNvPr id="33" name="text-85">
            <a:extLst xmlns:a="http://schemas.openxmlformats.org/drawingml/2006/main">
              <a:ext uri="{FF2B5EF4-FFF2-40B4-BE49-F238E27FC236}">
                <a16:creationId xmlns:a16="http://schemas.microsoft.com/office/drawing/2014/main" id="{E89037CA-9F60-40CD-8A53-84BCAC340643}"/>
              </a:ext>
            </a:extLst>
          </p:cNvPr>
          <p:cNvSpPr>
            <a:spLocks xmlns:a="http://schemas.openxmlformats.org/drawingml/2006/main" noGrp="1"/>
          </p:cNvSpPr>
          <p:nvPr/>
        </p:nvSpPr>
        <p:spPr>
          <a:xfrm xmlns:a="http://schemas.openxmlformats.org/drawingml/2006/main">
            <a:off x="419100" y="6934200"/>
            <a:ext cx="7874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i="0">
                <a:solidFill>
                  <a:srgbClr val="000000"/>
                </a:solidFill>
                <a:latin typeface="Times New Roman"/>
                <a:ea typeface="Times New Roman"/>
                <a:cs typeface="Times New Roman"/>
              </a:defRPr>
            </a:defPPr>
          </a:lstStyle>
          <a:p xmlns:a="http://schemas.openxmlformats.org/drawingml/2006/main">
            <a:pPr algn="l">
              <a:defRPr sz="2100" b="0" i="0">
                <a:solidFill>
                  <a:srgbClr val="000000"/>
                </a:solidFill>
                <a:latin typeface="Times New Roman"/>
                <a:ea typeface="Times New Roman"/>
                <a:cs typeface="Times New Roman"/>
              </a:defRPr>
            </a:pPr>
            <a:r>
              <a:rPr sz="2100" b="0" i="0">
                <a:solidFill>
                  <a:srgbClr val="000000"/>
                </a:solidFill>
                <a:latin typeface="Times New Roman"/>
                <a:ea typeface="Times New Roman"/>
                <a:cs typeface="Times New Roman"/>
              </a:rPr>
              <a:t>Decision analysis: </a:t>
            </a:r>
            <a:r>
              <a:rPr sz="2100" b="0" i="0">
                <a:solidFill>
                  <a:srgbClr val="000000"/>
                </a:solidFill>
                <a:latin typeface="Times New Roman"/>
                <a:ea typeface="Times New Roman"/>
                <a:cs typeface="Times New Roman"/>
              </a:rPr>
              <a:t>Compare skill readiness, cost, time, location and available capacity.</a:t>
            </a:r>
          </a:p>
        </p:txBody>
      </p:sp>
      <p:sp>
        <p:nvSpPr>
          <p:cNvPr id="34" name="text-87">
            <a:extLst xmlns:a="http://schemas.openxmlformats.org/drawingml/2006/main">
              <a:ext uri="{FF2B5EF4-FFF2-40B4-BE49-F238E27FC236}">
                <a16:creationId xmlns:a16="http://schemas.microsoft.com/office/drawing/2014/main" id="{B35C38DB-E1E8-46CB-8CEA-E4CD34BBF121}"/>
              </a:ext>
            </a:extLst>
          </p:cNvPr>
          <p:cNvSpPr>
            <a:spLocks xmlns:a="http://schemas.openxmlformats.org/drawingml/2006/main" noGrp="1"/>
          </p:cNvSpPr>
          <p:nvPr/>
        </p:nvSpPr>
        <p:spPr>
          <a:xfrm xmlns:a="http://schemas.openxmlformats.org/drawingml/2006/main">
            <a:off x="419100" y="7734300"/>
            <a:ext cx="7874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i="0">
                <a:solidFill>
                  <a:srgbClr val="000000"/>
                </a:solidFill>
                <a:latin typeface="Times New Roman"/>
                <a:ea typeface="Times New Roman"/>
                <a:cs typeface="Times New Roman"/>
              </a:defRPr>
            </a:defPPr>
          </a:lstStyle>
          <a:p xmlns:a="http://schemas.openxmlformats.org/drawingml/2006/main">
            <a:pPr algn="l">
              <a:defRPr sz="2100" b="0" i="0">
                <a:solidFill>
                  <a:srgbClr val="000000"/>
                </a:solidFill>
                <a:latin typeface="Times New Roman"/>
                <a:ea typeface="Times New Roman"/>
                <a:cs typeface="Times New Roman"/>
              </a:defRPr>
            </a:pPr>
            <a:r>
              <a:rPr sz="2100" b="0" i="0">
                <a:solidFill>
                  <a:srgbClr val="000000"/>
                </a:solidFill>
                <a:latin typeface="Times New Roman"/>
                <a:ea typeface="Times New Roman"/>
                <a:cs typeface="Times New Roman"/>
              </a:rPr>
              <a:t>Market context: </a:t>
            </a:r>
            <a:r>
              <a:rPr sz="2100" b="0" i="0">
                <a:solidFill>
                  <a:srgbClr val="000000"/>
                </a:solidFill>
                <a:latin typeface="Times New Roman"/>
                <a:ea typeface="Times New Roman"/>
                <a:cs typeface="Times New Roman"/>
              </a:rPr>
              <a:t>Inspect real job advertisements and permitted compensation samples.</a:t>
            </a:r>
          </a:p>
        </p:txBody>
      </p:sp>
      <p:sp>
        <p:nvSpPr>
          <p:cNvPr id="35" name="text-89">
            <a:extLst xmlns:a="http://schemas.openxmlformats.org/drawingml/2006/main">
              <a:ext uri="{FF2B5EF4-FFF2-40B4-BE49-F238E27FC236}">
                <a16:creationId xmlns:a16="http://schemas.microsoft.com/office/drawing/2014/main" id="{D6A1F381-DA77-46C7-8AC9-982ABB11FDB6}"/>
              </a:ext>
            </a:extLst>
          </p:cNvPr>
          <p:cNvSpPr>
            <a:spLocks xmlns:a="http://schemas.openxmlformats.org/drawingml/2006/main" noGrp="1"/>
          </p:cNvSpPr>
          <p:nvPr/>
        </p:nvSpPr>
        <p:spPr>
          <a:xfrm xmlns:a="http://schemas.openxmlformats.org/drawingml/2006/main">
            <a:off x="419100" y="8534400"/>
            <a:ext cx="7874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i="0">
                <a:solidFill>
                  <a:srgbClr val="000000"/>
                </a:solidFill>
                <a:latin typeface="Times New Roman"/>
                <a:ea typeface="Times New Roman"/>
                <a:cs typeface="Times New Roman"/>
              </a:defRPr>
            </a:defPPr>
          </a:lstStyle>
          <a:p xmlns:a="http://schemas.openxmlformats.org/drawingml/2006/main">
            <a:pPr algn="l">
              <a:defRPr sz="2100" b="0" i="0">
                <a:solidFill>
                  <a:srgbClr val="000000"/>
                </a:solidFill>
                <a:latin typeface="Times New Roman"/>
                <a:ea typeface="Times New Roman"/>
                <a:cs typeface="Times New Roman"/>
              </a:defRPr>
            </a:pPr>
            <a:r>
              <a:rPr sz="2100" b="0" i="0">
                <a:solidFill>
                  <a:srgbClr val="000000"/>
                </a:solidFill>
                <a:latin typeface="Times New Roman"/>
                <a:ea typeface="Times New Roman"/>
                <a:cs typeface="Times New Roman"/>
              </a:rPr>
              <a:t>Human follow-through: </a:t>
            </a:r>
            <a:r>
              <a:rPr sz="2100" b="0" i="0">
                <a:solidFill>
                  <a:srgbClr val="000000"/>
                </a:solidFill>
                <a:latin typeface="Times New Roman"/>
                <a:ea typeface="Times New Roman"/>
                <a:cs typeface="Times New Roman"/>
              </a:rPr>
              <a:t>Approve a plan, reserve talent and track recruitment or development.</a:t>
            </a:r>
          </a:p>
        </p:txBody>
      </p:sp>
      <p:sp>
        <p:nvSpPr>
          <p:cNvPr id="36" name="shape-90">
            <a:extLst xmlns:a="http://schemas.openxmlformats.org/drawingml/2006/main">
              <a:ext uri="{FF2B5EF4-FFF2-40B4-BE49-F238E27FC236}">
                <a16:creationId xmlns:a16="http://schemas.microsoft.com/office/drawing/2014/main" id="{8C6DA0F9-5CE0-4847-86C8-195AF10D5149}"/>
              </a:ext>
            </a:extLst>
          </p:cNvPr>
          <p:cNvSpPr>
            <a:spLocks xmlns:a="http://schemas.openxmlformats.org/drawingml/2006/main" noGrp="1"/>
          </p:cNvSpPr>
          <p:nvPr/>
        </p:nvSpPr>
        <p:spPr>
          <a:xfrm xmlns:a="http://schemas.openxmlformats.org/drawingml/2006/main">
            <a:off x="8750300" y="6007100"/>
            <a:ext cx="2463800" cy="9144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5400">
            <a:solidFill>
              <a:srgbClr val="214E83"/>
            </a:solidFill>
            <a:prstDash val="solid"/>
          </a:ln>
        </p:spPr>
        <p:txBody>
          <a:bodyPr xmlns:a="http://schemas.openxmlformats.org/drawingml/2006/main" wrap="square" lIns="88900" tIns="88900" rIns="88900" bIns="88900" anchor="ctr">
            <a:noAutofit/>
          </a:bodyPr>
          <a:lstStyle xmlns:a="http://schemas.openxmlformats.org/drawingml/2006/main">
            <a:defPPr algn="ctr">
              <a:defRPr sz="1700" b="0">
                <a:solidFill>
                  <a:srgbClr val="000000"/>
                </a:solidFill>
                <a:latin typeface="Times New Roman"/>
                <a:ea typeface="Times New Roman"/>
                <a:cs typeface="Times New Roman"/>
              </a:defRPr>
            </a:defPPr>
          </a:lstStyle>
          <a:p xmlns:a="http://schemas.openxmlformats.org/drawingml/2006/main">
            <a:pPr algn="ctr">
              <a:defRPr sz="1700" b="0">
                <a:solidFill>
                  <a:srgbClr val="000000"/>
                </a:solidFill>
                <a:latin typeface="Times New Roman"/>
                <a:ea typeface="Times New Roman"/>
                <a:cs typeface="Times New Roman"/>
              </a:defRPr>
            </a:pPr>
            <a:r>
              <a:rPr sz="1700" b="0">
                <a:solidFill>
                  <a:srgbClr val="000000"/>
                </a:solidFill>
                <a:latin typeface="Times New Roman"/>
                <a:ea typeface="Times New Roman"/>
                <a:cs typeface="Times New Roman"/>
              </a:rPr>
              <a:t>HRIS / ATS / VMS</a:t>
            </a:r>
          </a:p>
          <a:p xmlns:a="http://schemas.openxmlformats.org/drawingml/2006/main">
            <a:pPr algn="ctr">
              <a:defRPr sz="1700" b="0">
                <a:solidFill>
                  <a:srgbClr val="000000"/>
                </a:solidFill>
                <a:latin typeface="Times New Roman"/>
                <a:ea typeface="Times New Roman"/>
                <a:cs typeface="Times New Roman"/>
              </a:defRPr>
            </a:pPr>
            <a:r>
              <a:rPr sz="1700" b="0">
                <a:solidFill>
                  <a:srgbClr val="000000"/>
                </a:solidFill>
                <a:latin typeface="Times New Roman"/>
                <a:ea typeface="Times New Roman"/>
                <a:cs typeface="Times New Roman"/>
              </a:rPr>
              <a:t>Authorized exports</a:t>
            </a:r>
          </a:p>
        </p:txBody>
      </p:sp>
      <p:sp>
        <p:nvSpPr>
          <p:cNvPr id="37" name="shape-91">
            <a:extLst xmlns:a="http://schemas.openxmlformats.org/drawingml/2006/main">
              <a:ext uri="{FF2B5EF4-FFF2-40B4-BE49-F238E27FC236}">
                <a16:creationId xmlns:a16="http://schemas.microsoft.com/office/drawing/2014/main" id="{BF3EEEE7-870C-4756-B717-AC863C121E76}"/>
              </a:ext>
            </a:extLst>
          </p:cNvPr>
          <p:cNvSpPr>
            <a:spLocks xmlns:a="http://schemas.openxmlformats.org/drawingml/2006/main" noGrp="1"/>
          </p:cNvSpPr>
          <p:nvPr/>
        </p:nvSpPr>
        <p:spPr>
          <a:xfrm xmlns:a="http://schemas.openxmlformats.org/drawingml/2006/main">
            <a:off x="8750300" y="7899400"/>
            <a:ext cx="2463800" cy="9144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5400">
            <a:solidFill>
              <a:srgbClr val="214E83"/>
            </a:solidFill>
            <a:prstDash val="solid"/>
          </a:ln>
        </p:spPr>
        <p:txBody>
          <a:bodyPr xmlns:a="http://schemas.openxmlformats.org/drawingml/2006/main" wrap="square" lIns="88900" tIns="88900" rIns="88900" bIns="88900" anchor="ctr">
            <a:noAutofit/>
          </a:bodyPr>
          <a:lstStyle xmlns:a="http://schemas.openxmlformats.org/drawingml/2006/main">
            <a:defPPr algn="ctr">
              <a:defRPr sz="1700" b="0">
                <a:solidFill>
                  <a:srgbClr val="000000"/>
                </a:solidFill>
                <a:latin typeface="Times New Roman"/>
                <a:ea typeface="Times New Roman"/>
                <a:cs typeface="Times New Roman"/>
              </a:defRPr>
            </a:defPPr>
          </a:lstStyle>
          <a:p xmlns:a="http://schemas.openxmlformats.org/drawingml/2006/main">
            <a:pPr algn="ctr">
              <a:defRPr sz="1700" b="0">
                <a:solidFill>
                  <a:srgbClr val="000000"/>
                </a:solidFill>
                <a:latin typeface="Times New Roman"/>
                <a:ea typeface="Times New Roman"/>
                <a:cs typeface="Times New Roman"/>
              </a:defRPr>
            </a:pPr>
            <a:r>
              <a:rPr sz="1700" b="0">
                <a:solidFill>
                  <a:srgbClr val="000000"/>
                </a:solidFill>
                <a:latin typeface="Times New Roman"/>
                <a:ea typeface="Times New Roman"/>
                <a:cs typeface="Times New Roman"/>
              </a:rPr>
              <a:t>O*NET / Learn</a:t>
            </a:r>
          </a:p>
          <a:p xmlns:a="http://schemas.openxmlformats.org/drawingml/2006/main">
            <a:pPr algn="ctr">
              <a:defRPr sz="1700" b="0">
                <a:solidFill>
                  <a:srgbClr val="000000"/>
                </a:solidFill>
                <a:latin typeface="Times New Roman"/>
                <a:ea typeface="Times New Roman"/>
                <a:cs typeface="Times New Roman"/>
              </a:defRPr>
            </a:pPr>
            <a:r>
              <a:rPr sz="1700" b="0">
                <a:solidFill>
                  <a:srgbClr val="000000"/>
                </a:solidFill>
                <a:latin typeface="Times New Roman"/>
                <a:ea typeface="Times New Roman"/>
                <a:cs typeface="Times New Roman"/>
              </a:rPr>
              <a:t>Market observations</a:t>
            </a:r>
          </a:p>
        </p:txBody>
      </p:sp>
      <p:sp>
        <p:nvSpPr>
          <p:cNvPr id="38" name="shape-92">
            <a:extLst xmlns:a="http://schemas.openxmlformats.org/drawingml/2006/main">
              <a:ext uri="{FF2B5EF4-FFF2-40B4-BE49-F238E27FC236}">
                <a16:creationId xmlns:a16="http://schemas.microsoft.com/office/drawing/2014/main" id="{8962D952-7D3F-460C-AC0F-C4F1FC0E4F8D}"/>
              </a:ext>
            </a:extLst>
          </p:cNvPr>
          <p:cNvSpPr>
            <a:spLocks xmlns:a="http://schemas.openxmlformats.org/drawingml/2006/main" noGrp="1"/>
          </p:cNvSpPr>
          <p:nvPr/>
        </p:nvSpPr>
        <p:spPr>
          <a:xfrm xmlns:a="http://schemas.openxmlformats.org/drawingml/2006/main">
            <a:off x="11760200" y="6883400"/>
            <a:ext cx="2794000" cy="1041400"/>
          </a:xfrm>
          <a:prstGeom xmlns:a="http://schemas.openxmlformats.org/drawingml/2006/main" prst="roundRect">
            <a:avLst>
              <a:gd name="adj" fmla="val 14634"/>
            </a:avLst>
          </a:prstGeom>
          <a:solidFill xmlns:a="http://schemas.openxmlformats.org/drawingml/2006/main">
            <a:srgbClr val="E0EDF6"/>
          </a:solidFill>
          <a:ln xmlns:a="http://schemas.openxmlformats.org/drawingml/2006/main" w="25400">
            <a:solidFill>
              <a:srgbClr val="214E83"/>
            </a:solidFill>
            <a:prstDash val="solid"/>
          </a:ln>
        </p:spPr>
        <p:txBody>
          <a:bodyPr xmlns:a="http://schemas.openxmlformats.org/drawingml/2006/main" wrap="square" lIns="88900" tIns="88900" rIns="88900" bIns="88900" anchor="ctr">
            <a:noAutofit/>
          </a:bodyPr>
          <a:lstStyle xmlns:a="http://schemas.openxmlformats.org/drawingml/2006/main">
            <a:defPPr algn="ctr">
              <a:defRPr sz="1900" b="1">
                <a:solidFill>
                  <a:srgbClr val="000000"/>
                </a:solidFill>
                <a:latin typeface="Times New Roman"/>
                <a:ea typeface="Times New Roman"/>
                <a:cs typeface="Times New Roman"/>
              </a:defRPr>
            </a:defPPr>
          </a:lstStyle>
          <a:p xmlns:a="http://schemas.openxmlformats.org/drawingml/2006/main">
            <a:pPr algn="ctr">
              <a:defRPr sz="1900" b="1">
                <a:solidFill>
                  <a:srgbClr val="000000"/>
                </a:solidFill>
                <a:latin typeface="Times New Roman"/>
                <a:ea typeface="Times New Roman"/>
                <a:cs typeface="Times New Roman"/>
              </a:defRPr>
            </a:pPr>
            <a:r>
              <a:rPr sz="1900" b="1">
                <a:solidFill>
                  <a:srgbClr val="000000"/>
                </a:solidFill>
                <a:latin typeface="Times New Roman"/>
                <a:ea typeface="Times New Roman"/>
                <a:cs typeface="Times New Roman"/>
              </a:rPr>
              <a:t>WORKFORCE</a:t>
            </a:r>
          </a:p>
          <a:p xmlns:a="http://schemas.openxmlformats.org/drawingml/2006/main">
            <a:pPr algn="ctr">
              <a:defRPr sz="1900" b="1">
                <a:solidFill>
                  <a:srgbClr val="000000"/>
                </a:solidFill>
                <a:latin typeface="Times New Roman"/>
                <a:ea typeface="Times New Roman"/>
                <a:cs typeface="Times New Roman"/>
              </a:defRPr>
            </a:pPr>
            <a:r>
              <a:rPr sz="1900" b="1">
                <a:solidFill>
                  <a:srgbClr val="000000"/>
                </a:solidFill>
                <a:latin typeface="Times New Roman"/>
                <a:ea typeface="Times New Roman"/>
                <a:cs typeface="Times New Roman"/>
              </a:rPr>
              <a:t>DECISION ENGINE</a:t>
            </a:r>
          </a:p>
        </p:txBody>
      </p:sp>
      <p:sp>
        <p:nvSpPr>
          <p:cNvPr id="39" name="shape-93">
            <a:extLst xmlns:a="http://schemas.openxmlformats.org/drawingml/2006/main">
              <a:ext uri="{FF2B5EF4-FFF2-40B4-BE49-F238E27FC236}">
                <a16:creationId xmlns:a16="http://schemas.microsoft.com/office/drawing/2014/main" id="{AFC49111-67FC-4F75-8EDE-B0868AD07028}"/>
              </a:ext>
            </a:extLst>
          </p:cNvPr>
          <p:cNvSpPr>
            <a:spLocks xmlns:a="http://schemas.openxmlformats.org/drawingml/2006/main" noGrp="1"/>
          </p:cNvSpPr>
          <p:nvPr/>
        </p:nvSpPr>
        <p:spPr>
          <a:xfrm xmlns:a="http://schemas.openxmlformats.org/drawingml/2006/main">
            <a:off x="15468600" y="5994400"/>
            <a:ext cx="2159000" cy="927100"/>
          </a:xfrm>
          <a:prstGeom xmlns:a="http://schemas.openxmlformats.org/drawingml/2006/main" prst="roundRect">
            <a:avLst>
              <a:gd name="adj" fmla="val 16438"/>
            </a:avLst>
          </a:prstGeom>
          <a:solidFill xmlns:a="http://schemas.openxmlformats.org/drawingml/2006/main">
            <a:srgbClr val="FFF8E0"/>
          </a:solidFill>
          <a:ln xmlns:a="http://schemas.openxmlformats.org/drawingml/2006/main" w="25400">
            <a:solidFill>
              <a:srgbClr val="214E83"/>
            </a:solidFill>
            <a:prstDash val="solid"/>
          </a:ln>
        </p:spPr>
        <p:txBody>
          <a:bodyPr xmlns:a="http://schemas.openxmlformats.org/drawingml/2006/main" wrap="square" lIns="88900" tIns="88900" rIns="88900" bIns="88900" anchor="ctr">
            <a:noAutofit/>
          </a:bodyPr>
          <a:lstStyle xmlns:a="http://schemas.openxmlformats.org/drawingml/2006/main">
            <a:defPPr algn="ctr">
              <a:defRPr sz="2200" b="1">
                <a:solidFill>
                  <a:srgbClr val="000000"/>
                </a:solidFill>
                <a:latin typeface="Times New Roman"/>
                <a:ea typeface="Times New Roman"/>
                <a:cs typeface="Times New Roman"/>
              </a:defRPr>
            </a:defPPr>
          </a:lstStyle>
          <a:p xmlns:a="http://schemas.openxmlformats.org/drawingml/2006/main">
            <a:pPr algn="ctr">
              <a:defRPr sz="2200" b="1">
                <a:solidFill>
                  <a:srgbClr val="000000"/>
                </a:solidFill>
                <a:latin typeface="Times New Roman"/>
                <a:ea typeface="Times New Roman"/>
                <a:cs typeface="Times New Roman"/>
              </a:defRPr>
            </a:pPr>
            <a:r>
              <a:rPr sz="2200" b="1">
                <a:solidFill>
                  <a:srgbClr val="000000"/>
                </a:solidFill>
                <a:latin typeface="Times New Roman"/>
                <a:ea typeface="Times New Roman"/>
                <a:cs typeface="Times New Roman"/>
              </a:rPr>
              <a:t>HUMAN</a:t>
            </a:r>
          </a:p>
          <a:p xmlns:a="http://schemas.openxmlformats.org/drawingml/2006/main">
            <a:pPr algn="ctr">
              <a:defRPr sz="2200" b="1">
                <a:solidFill>
                  <a:srgbClr val="000000"/>
                </a:solidFill>
                <a:latin typeface="Times New Roman"/>
                <a:ea typeface="Times New Roman"/>
                <a:cs typeface="Times New Roman"/>
              </a:defRPr>
            </a:pPr>
            <a:r>
              <a:rPr sz="2200" b="1">
                <a:solidFill>
                  <a:srgbClr val="000000"/>
                </a:solidFill>
                <a:latin typeface="Times New Roman"/>
                <a:ea typeface="Times New Roman"/>
                <a:cs typeface="Times New Roman"/>
              </a:rPr>
              <a:t>APPROVAL</a:t>
            </a:r>
          </a:p>
        </p:txBody>
      </p:sp>
      <p:sp>
        <p:nvSpPr>
          <p:cNvPr id="40" name="shape-94">
            <a:extLst xmlns:a="http://schemas.openxmlformats.org/drawingml/2006/main">
              <a:ext uri="{FF2B5EF4-FFF2-40B4-BE49-F238E27FC236}">
                <a16:creationId xmlns:a16="http://schemas.microsoft.com/office/drawing/2014/main" id="{05B73F71-5C46-430E-BA78-C7E43C503548}"/>
              </a:ext>
            </a:extLst>
          </p:cNvPr>
          <p:cNvSpPr>
            <a:spLocks xmlns:a="http://schemas.openxmlformats.org/drawingml/2006/main" noGrp="1"/>
          </p:cNvSpPr>
          <p:nvPr/>
        </p:nvSpPr>
        <p:spPr>
          <a:xfrm xmlns:a="http://schemas.openxmlformats.org/drawingml/2006/main">
            <a:off x="15240000" y="8128000"/>
            <a:ext cx="2578100" cy="927100"/>
          </a:xfrm>
          <a:prstGeom xmlns:a="http://schemas.openxmlformats.org/drawingml/2006/main" prst="roundRect">
            <a:avLst>
              <a:gd name="adj" fmla="val 16438"/>
            </a:avLst>
          </a:prstGeom>
          <a:solidFill xmlns:a="http://schemas.openxmlformats.org/drawingml/2006/main">
            <a:srgbClr val="FFFFFF"/>
          </a:solidFill>
          <a:ln xmlns:a="http://schemas.openxmlformats.org/drawingml/2006/main" w="25400">
            <a:solidFill>
              <a:srgbClr val="214E83"/>
            </a:solidFill>
            <a:prstDash val="solid"/>
          </a:ln>
        </p:spPr>
        <p:txBody>
          <a:bodyPr xmlns:a="http://schemas.openxmlformats.org/drawingml/2006/main" wrap="square" lIns="88900" tIns="88900" rIns="88900" bIns="88900" anchor="ctr">
            <a:noAutofit/>
          </a:bodyPr>
          <a:lstStyle xmlns:a="http://schemas.openxmlformats.org/drawingml/2006/main">
            <a:defPPr algn="ctr">
              <a:defRPr sz="1700" b="1">
                <a:solidFill>
                  <a:srgbClr val="000000"/>
                </a:solidFill>
                <a:latin typeface="Times New Roman"/>
                <a:ea typeface="Times New Roman"/>
                <a:cs typeface="Times New Roman"/>
              </a:defRPr>
            </a:defPPr>
          </a:lstStyle>
          <a:p xmlns:a="http://schemas.openxmlformats.org/drawingml/2006/main">
            <a:pPr algn="ctr">
              <a:defRPr sz="1700" b="1">
                <a:solidFill>
                  <a:srgbClr val="000000"/>
                </a:solidFill>
                <a:latin typeface="Times New Roman"/>
                <a:ea typeface="Times New Roman"/>
                <a:cs typeface="Times New Roman"/>
              </a:defRPr>
            </a:pPr>
            <a:r>
              <a:rPr sz="1700" b="1">
                <a:solidFill>
                  <a:srgbClr val="000000"/>
                </a:solidFill>
                <a:latin typeface="Times New Roman"/>
                <a:ea typeface="Times New Roman"/>
                <a:cs typeface="Times New Roman"/>
              </a:rPr>
              <a:t>RECRUITMENT</a:t>
            </a:r>
          </a:p>
          <a:p xmlns:a="http://schemas.openxmlformats.org/drawingml/2006/main">
            <a:pPr algn="ctr">
              <a:defRPr sz="1700" b="1">
                <a:solidFill>
                  <a:srgbClr val="000000"/>
                </a:solidFill>
                <a:latin typeface="Times New Roman"/>
                <a:ea typeface="Times New Roman"/>
                <a:cs typeface="Times New Roman"/>
              </a:defRPr>
            </a:pPr>
            <a:r>
              <a:rPr sz="1700" b="1">
                <a:solidFill>
                  <a:srgbClr val="000000"/>
                </a:solidFill>
                <a:latin typeface="Times New Roman"/>
                <a:ea typeface="Times New Roman"/>
                <a:cs typeface="Times New Roman"/>
              </a:rPr>
              <a:t>DEVELOPMENT</a:t>
            </a:r>
          </a:p>
        </p:txBody>
      </p:sp>
      <p:cxnSp>
        <p:nvCxnSpPr>
          <p:cNvPr id="41" name="">
            <a:extLst xmlns:a="http://schemas.openxmlformats.org/drawingml/2006/main">
              <a:ext uri="{FF2B5EF4-FFF2-40B4-BE49-F238E27FC236}">
                <a16:creationId xmlns:a16="http://schemas.microsoft.com/office/drawing/2014/main" id="{80A4B416-C90B-4CBF-BC6F-0C0FF0731C2C}"/>
              </a:ext>
            </a:extLst>
          </p:cNvPr>
          <p:cNvCxnSpPr/>
          <p:nvPr/>
        </p:nvCxnSpPr>
        <p:spPr>
          <a:xfrm xmlns:a="http://schemas.openxmlformats.org/drawingml/2006/main" flipH="0" flipV="0">
            <a:off x="11214100" y="6464300"/>
            <a:ext cx="546100" cy="939800"/>
          </a:xfrm>
          <a:prstGeom xmlns:a="http://schemas.openxmlformats.org/drawingml/2006/main" prst="straightConnector1">
            <a:avLst/>
          </a:prstGeom>
          <a:ln xmlns:a="http://schemas.openxmlformats.org/drawingml/2006/main" w="29210">
            <a:solidFill>
              <a:srgbClr val="0071BC"/>
            </a:solidFill>
            <a:prstDash val="dash"/>
            <a:tailEnd type="triangle" w="med" len="med"/>
          </a:ln>
        </p:spPr>
      </p:cxnSp>
      <p:cxnSp>
        <p:nvCxnSpPr>
          <p:cNvPr id="42" name="">
            <a:extLst xmlns:a="http://schemas.openxmlformats.org/drawingml/2006/main">
              <a:ext uri="{FF2B5EF4-FFF2-40B4-BE49-F238E27FC236}">
                <a16:creationId xmlns:a16="http://schemas.microsoft.com/office/drawing/2014/main" id="{167BBC3A-7803-4D87-A1E5-C06A519F3DAA}"/>
              </a:ext>
            </a:extLst>
          </p:cNvPr>
          <p:cNvCxnSpPr/>
          <p:nvPr/>
        </p:nvCxnSpPr>
        <p:spPr>
          <a:xfrm xmlns:a="http://schemas.openxmlformats.org/drawingml/2006/main" flipH="0" flipV="1">
            <a:off x="11214100" y="7404100"/>
            <a:ext cx="546100" cy="952500"/>
          </a:xfrm>
          <a:prstGeom xmlns:a="http://schemas.openxmlformats.org/drawingml/2006/main" prst="straightConnector1">
            <a:avLst/>
          </a:prstGeom>
          <a:ln xmlns:a="http://schemas.openxmlformats.org/drawingml/2006/main" w="29210">
            <a:solidFill>
              <a:srgbClr val="0071BC"/>
            </a:solidFill>
            <a:prstDash val="dash"/>
            <a:tailEnd type="triangle" w="med" len="med"/>
          </a:ln>
        </p:spPr>
      </p:cxnSp>
      <p:cxnSp>
        <p:nvCxnSpPr>
          <p:cNvPr id="43" name="">
            <a:extLst xmlns:a="http://schemas.openxmlformats.org/drawingml/2006/main">
              <a:ext uri="{FF2B5EF4-FFF2-40B4-BE49-F238E27FC236}">
                <a16:creationId xmlns:a16="http://schemas.microsoft.com/office/drawing/2014/main" id="{929EFB5A-A715-45FB-83AE-5614A611B00C}"/>
              </a:ext>
            </a:extLst>
          </p:cNvPr>
          <p:cNvCxnSpPr/>
          <p:nvPr/>
        </p:nvCxnSpPr>
        <p:spPr>
          <a:xfrm xmlns:a="http://schemas.openxmlformats.org/drawingml/2006/main" flipH="0" flipV="1">
            <a:off x="14554200" y="6457950"/>
            <a:ext cx="914400" cy="946150"/>
          </a:xfrm>
          <a:prstGeom xmlns:a="http://schemas.openxmlformats.org/drawingml/2006/main" prst="straightConnector1">
            <a:avLst/>
          </a:prstGeom>
          <a:ln xmlns:a="http://schemas.openxmlformats.org/drawingml/2006/main" w="29210">
            <a:solidFill>
              <a:srgbClr val="0071BC"/>
            </a:solidFill>
            <a:prstDash val="dash"/>
            <a:tailEnd type="triangle" w="med" len="med"/>
          </a:ln>
        </p:spPr>
      </p:cxnSp>
      <p:cxnSp>
        <p:nvCxnSpPr>
          <p:cNvPr id="44" name="">
            <a:extLst xmlns:a="http://schemas.openxmlformats.org/drawingml/2006/main">
              <a:ext uri="{FF2B5EF4-FFF2-40B4-BE49-F238E27FC236}">
                <a16:creationId xmlns:a16="http://schemas.microsoft.com/office/drawing/2014/main" id="{56723C28-3D61-4D47-B9DA-371064046870}"/>
              </a:ext>
            </a:extLst>
          </p:cNvPr>
          <p:cNvCxnSpPr/>
          <p:nvPr/>
        </p:nvCxnSpPr>
        <p:spPr>
          <a:xfrm xmlns:a="http://schemas.openxmlformats.org/drawingml/2006/main" flipH="1" flipV="0">
            <a:off x="16529050" y="6921500"/>
            <a:ext cx="19050" cy="1206500"/>
          </a:xfrm>
          <a:prstGeom xmlns:a="http://schemas.openxmlformats.org/drawingml/2006/main" prst="straightConnector1">
            <a:avLst/>
          </a:prstGeom>
          <a:ln xmlns:a="http://schemas.openxmlformats.org/drawingml/2006/main" w="29210">
            <a:solidFill>
              <a:srgbClr val="0071BC"/>
            </a:solidFill>
            <a:prstDash val="dash"/>
            <a:tailEnd type="triangle" w="med" len="med"/>
          </a:ln>
        </p:spPr>
      </p:cxnSp>
      <p:sp>
        <p:nvSpPr>
          <p:cNvPr id="45" name="text-96">
            <a:extLst xmlns:a="http://schemas.openxmlformats.org/drawingml/2006/main">
              <a:ext uri="{FF2B5EF4-FFF2-40B4-BE49-F238E27FC236}">
                <a16:creationId xmlns:a16="http://schemas.microsoft.com/office/drawing/2014/main" id="{9E7D3609-0135-4EE0-AB5E-66C8503773D0}"/>
              </a:ext>
            </a:extLst>
          </p:cNvPr>
          <p:cNvSpPr>
            <a:spLocks xmlns:a="http://schemas.openxmlformats.org/drawingml/2006/main" noGrp="1"/>
          </p:cNvSpPr>
          <p:nvPr/>
        </p:nvSpPr>
        <p:spPr>
          <a:xfrm xmlns:a="http://schemas.openxmlformats.org/drawingml/2006/main">
            <a:off x="11290300" y="9207500"/>
            <a:ext cx="6210300" cy="279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00" b="0" i="1">
                <a:solidFill>
                  <a:srgbClr val="000000"/>
                </a:solidFill>
                <a:latin typeface="Times New Roman"/>
                <a:ea typeface="Times New Roman"/>
                <a:cs typeface="Times New Roman"/>
              </a:defRPr>
            </a:defPPr>
          </a:lstStyle>
          <a:p xmlns:a="http://schemas.openxmlformats.org/drawingml/2006/main">
            <a:pPr algn="ctr">
              <a:defRPr sz="1600" b="0" i="1">
                <a:solidFill>
                  <a:srgbClr val="000000"/>
                </a:solidFill>
                <a:latin typeface="Times New Roman"/>
                <a:ea typeface="Times New Roman"/>
                <a:cs typeface="Times New Roman"/>
              </a:defRPr>
            </a:pPr>
            <a:r>
              <a:rPr sz="1600" b="0" i="1">
                <a:solidFill>
                  <a:srgbClr val="000000"/>
                </a:solidFill>
                <a:latin typeface="Times New Roman"/>
                <a:ea typeface="Times New Roman"/>
                <a:cs typeface="Times New Roman"/>
              </a:rPr>
              <a:t>Sources support the decision. People retain authority.</a:t>
            </a:r>
          </a:p>
        </p:txBody>
      </p:sp>
    </p:spTree>
    <p:extLst>
      <p:ext uri="{BB962C8B-B14F-4D97-AF65-F5344CB8AC3E}">
        <p14:creationId xmlns:p14="http://schemas.microsoft.com/office/powerpoint/2010/main" val="87800880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5" name="shape-97">
            <a:extLst xmlns:a="http://schemas.openxmlformats.org/drawingml/2006/main">
              <a:ext uri="{FF2B5EF4-FFF2-40B4-BE49-F238E27FC236}">
                <a16:creationId xmlns:a16="http://schemas.microsoft.com/office/drawing/2014/main" id="{8BFA6BDB-3FFD-44F6-B198-E80A42AD8201}"/>
              </a:ext>
            </a:extLst>
          </p:cNvPr>
          <p:cNvSpPr>
            <a:spLocks xmlns:a="http://schemas.openxmlformats.org/drawingml/2006/main" noGrp="1"/>
          </p:cNvSpPr>
          <p:nvPr/>
        </p:nvSpPr>
        <p:spPr>
          <a:xfrm xmlns:a="http://schemas.openxmlformats.org/drawingml/2006/main">
            <a:off x="127000" y="114300"/>
            <a:ext cx="1524000" cy="990600"/>
          </a:xfrm>
          <a:prstGeom xmlns:a="http://schemas.openxmlformats.org/drawingml/2006/main" prst="ellipse">
            <a:avLst/>
          </a:prstGeom>
          <a:noFill xmlns:a="http://schemas.openxmlformats.org/drawingml/2006/main"/>
          <a:ln xmlns:a="http://schemas.openxmlformats.org/drawingml/2006/main" w="30480">
            <a:solidFill>
              <a:srgbClr val="8064A2"/>
            </a:solidFill>
            <a:prstDash val="solid"/>
          </a:ln>
        </p:spPr>
      </p:sp>
      <p:sp>
        <p:nvSpPr>
          <p:cNvPr id="2" name="text-99">
            <a:extLst xmlns:a="http://schemas.openxmlformats.org/drawingml/2006/main">
              <a:ext uri="{FF2B5EF4-FFF2-40B4-BE49-F238E27FC236}">
                <a16:creationId xmlns:a16="http://schemas.microsoft.com/office/drawing/2014/main" id="{AA4EFB92-7FA2-4B0F-AA31-F1C5B2029ADA}"/>
              </a:ext>
            </a:extLst>
          </p:cNvPr>
          <p:cNvSpPr>
            <a:spLocks xmlns:a="http://schemas.openxmlformats.org/drawingml/2006/main" noGrp="1"/>
          </p:cNvSpPr>
          <p:nvPr/>
        </p:nvSpPr>
        <p:spPr>
          <a:xfrm xmlns:a="http://schemas.openxmlformats.org/drawingml/2006/main">
            <a:off x="190500" y="381000"/>
            <a:ext cx="1397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300" b="1" i="0">
                <a:solidFill>
                  <a:srgbClr val="000000"/>
                </a:solidFill>
                <a:latin typeface="Times New Roman"/>
                <a:ea typeface="Times New Roman"/>
                <a:cs typeface="Times New Roman"/>
              </a:defRPr>
            </a:defPPr>
          </a:lstStyle>
          <a:p xmlns:a="http://schemas.openxmlformats.org/drawingml/2006/main">
            <a:pPr algn="ctr">
              <a:defRPr sz="1300" b="1" i="0">
                <a:solidFill>
                  <a:srgbClr val="000000"/>
                </a:solidFill>
                <a:latin typeface="Times New Roman"/>
                <a:ea typeface="Times New Roman"/>
                <a:cs typeface="Times New Roman"/>
              </a:defRPr>
            </a:pPr>
            <a:r>
              <a:rPr sz="1300" b="1" i="0">
                <a:solidFill>
                  <a:srgbClr val="000000"/>
                </a:solidFill>
                <a:latin typeface="Times New Roman"/>
                <a:ea typeface="Times New Roman"/>
                <a:cs typeface="Times New Roman"/>
              </a:rPr>
              <a:t>WORKFORCE</a:t>
            </a:r>
          </a:p>
          <a:p xmlns:a="http://schemas.openxmlformats.org/drawingml/2006/main">
            <a:pPr algn="ctr">
              <a:defRPr sz="1300" b="1" i="0">
                <a:solidFill>
                  <a:srgbClr val="000000"/>
                </a:solidFill>
                <a:latin typeface="Times New Roman"/>
                <a:ea typeface="Times New Roman"/>
                <a:cs typeface="Times New Roman"/>
              </a:defRPr>
            </a:pPr>
            <a:r>
              <a:rPr sz="1300" b="1" i="0">
                <a:solidFill>
                  <a:srgbClr val="000000"/>
                </a:solidFill>
                <a:latin typeface="Times New Roman"/>
                <a:ea typeface="Times New Roman"/>
                <a:cs typeface="Times New Roman"/>
              </a:rPr>
              <a:t>ADVISORY</a:t>
            </a:r>
          </a:p>
        </p:txBody>
      </p:sp>
      <p:sp>
        <p:nvSpPr>
          <p:cNvPr id="3" name="slide-title">
            <a:extLst xmlns:a="http://schemas.openxmlformats.org/drawingml/2006/main">
              <a:ext uri="{FF2B5EF4-FFF2-40B4-BE49-F238E27FC236}">
                <a16:creationId xmlns:a16="http://schemas.microsoft.com/office/drawing/2014/main" id="{52EDA1FC-5D8C-4DBD-B292-9083EDF58274}"/>
              </a:ext>
            </a:extLst>
          </p:cNvPr>
          <p:cNvSpPr>
            <a:spLocks xmlns:a="http://schemas.openxmlformats.org/drawingml/2006/main" noGrp="1"/>
          </p:cNvSpPr>
          <p:nvPr/>
        </p:nvSpPr>
        <p:spPr>
          <a:xfrm xmlns:a="http://schemas.openxmlformats.org/drawingml/2006/main">
            <a:off x="1905000" y="152400"/>
            <a:ext cx="13335000" cy="850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4300" b="1" i="0">
                <a:solidFill>
                  <a:srgbClr val="000000"/>
                </a:solidFill>
                <a:latin typeface="Times New Roman"/>
                <a:ea typeface="Times New Roman"/>
                <a:cs typeface="Times New Roman"/>
              </a:defRPr>
            </a:defPPr>
          </a:lstStyle>
          <a:p xmlns:a="http://schemas.openxmlformats.org/drawingml/2006/main">
            <a:pPr algn="ctr">
              <a:defRPr sz="4300" b="1" i="0">
                <a:solidFill>
                  <a:srgbClr val="000000"/>
                </a:solidFill>
                <a:latin typeface="Times New Roman"/>
                <a:ea typeface="Times New Roman"/>
                <a:cs typeface="Times New Roman"/>
              </a:defRPr>
            </a:pPr>
            <a:r>
              <a:rPr sz="4300" b="1" i="0">
                <a:solidFill>
                  <a:srgbClr val="000000"/>
                </a:solidFill>
                <a:latin typeface="Times New Roman"/>
                <a:ea typeface="Times New Roman"/>
                <a:cs typeface="Times New Roman"/>
              </a:rPr>
              <a:t>TECHNICAL APPROACH</a:t>
            </a:r>
          </a:p>
        </p:txBody>
      </p:sp>
      <p:sp>
        <p:nvSpPr>
          <p:cNvPr id="4" name="text-102">
            <a:extLst xmlns:a="http://schemas.openxmlformats.org/drawingml/2006/main">
              <a:ext uri="{FF2B5EF4-FFF2-40B4-BE49-F238E27FC236}">
                <a16:creationId xmlns:a16="http://schemas.microsoft.com/office/drawing/2014/main" id="{BEDF8956-32B6-4646-A671-479E5E1F317C}"/>
              </a:ext>
            </a:extLst>
          </p:cNvPr>
          <p:cNvSpPr>
            <a:spLocks xmlns:a="http://schemas.openxmlformats.org/drawingml/2006/main" noGrp="1"/>
          </p:cNvSpPr>
          <p:nvPr/>
        </p:nvSpPr>
        <p:spPr>
          <a:xfrm xmlns:a="http://schemas.openxmlformats.org/drawingml/2006/main">
            <a:off x="15557500" y="215900"/>
            <a:ext cx="2476500" cy="850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700" b="1" i="0">
                <a:solidFill>
                  <a:srgbClr val="214E83"/>
                </a:solidFill>
                <a:latin typeface="Garamond"/>
                <a:ea typeface="Garamond"/>
                <a:cs typeface="Garamond"/>
              </a:defRPr>
            </a:defPPr>
          </a:lstStyle>
          <a:p xmlns:a="http://schemas.openxmlformats.org/drawingml/2006/main">
            <a:pPr algn="ctr">
              <a:defRPr sz="2700" b="1" i="0">
                <a:solidFill>
                  <a:srgbClr val="214E83"/>
                </a:solidFill>
                <a:latin typeface="Garamond"/>
                <a:ea typeface="Garamond"/>
                <a:cs typeface="Garamond"/>
              </a:defRPr>
            </a:pPr>
            <a:r>
              <a:rPr sz="2700" b="1" i="0">
                <a:solidFill>
                  <a:srgbClr val="214E83"/>
                </a:solidFill>
                <a:latin typeface="Garamond"/>
                <a:ea typeface="Garamond"/>
                <a:cs typeface="Garamond"/>
              </a:rPr>
              <a:t>KERNEL</a:t>
            </a:r>
          </a:p>
          <a:p xmlns:a="http://schemas.openxmlformats.org/drawingml/2006/main">
            <a:pPr algn="ctr">
              <a:defRPr sz="2700" b="1" i="0">
                <a:solidFill>
                  <a:srgbClr val="214E83"/>
                </a:solidFill>
                <a:latin typeface="Garamond"/>
                <a:ea typeface="Garamond"/>
                <a:cs typeface="Garamond"/>
              </a:defRPr>
            </a:pPr>
            <a:r>
              <a:rPr sz="2700" b="1" i="0">
                <a:solidFill>
                  <a:srgbClr val="214E83"/>
                </a:solidFill>
                <a:latin typeface="Garamond"/>
                <a:ea typeface="Garamond"/>
                <a:cs typeface="Garamond"/>
              </a:rPr>
              <a:t>PRIME’26</a:t>
            </a:r>
          </a:p>
        </p:txBody>
      </p:sp>
      <p:sp>
        <p:nvSpPr>
          <p:cNvPr id="5" name="shape-103">
            <a:extLst xmlns:a="http://schemas.openxmlformats.org/drawingml/2006/main">
              <a:ext uri="{FF2B5EF4-FFF2-40B4-BE49-F238E27FC236}">
                <a16:creationId xmlns:a16="http://schemas.microsoft.com/office/drawing/2014/main" id="{DE829E04-E01E-43C5-AA25-ABD29D039F00}"/>
              </a:ext>
            </a:extLst>
          </p:cNvPr>
          <p:cNvSpPr>
            <a:spLocks xmlns:a="http://schemas.openxmlformats.org/drawingml/2006/main" noGrp="1"/>
          </p:cNvSpPr>
          <p:nvPr/>
        </p:nvSpPr>
        <p:spPr>
          <a:xfrm xmlns:a="http://schemas.openxmlformats.org/drawingml/2006/main">
            <a:off x="0" y="9690100"/>
            <a:ext cx="18288000" cy="596900"/>
          </a:xfrm>
          <a:prstGeom xmlns:a="http://schemas.openxmlformats.org/drawingml/2006/main" prst="rect">
            <a:avLst/>
          </a:prstGeom>
          <a:solidFill xmlns:a="http://schemas.openxmlformats.org/drawingml/2006/main">
            <a:srgbClr val="0071BC"/>
          </a:solidFill>
          <a:ln xmlns:a="http://schemas.openxmlformats.org/drawingml/2006/main" w="0">
            <a:noFill/>
            <a:prstDash val="solid"/>
          </a:ln>
        </p:spPr>
      </p:sp>
      <p:sp>
        <p:nvSpPr>
          <p:cNvPr id="6" name="text-105">
            <a:extLst xmlns:a="http://schemas.openxmlformats.org/drawingml/2006/main">
              <a:ext uri="{FF2B5EF4-FFF2-40B4-BE49-F238E27FC236}">
                <a16:creationId xmlns:a16="http://schemas.microsoft.com/office/drawing/2014/main" id="{A4223477-8F5D-4A4B-8C3B-A584078BB946}"/>
              </a:ext>
            </a:extLst>
          </p:cNvPr>
          <p:cNvSpPr>
            <a:spLocks xmlns:a="http://schemas.openxmlformats.org/drawingml/2006/main" noGrp="1"/>
          </p:cNvSpPr>
          <p:nvPr/>
        </p:nvSpPr>
        <p:spPr>
          <a:xfrm xmlns:a="http://schemas.openxmlformats.org/drawingml/2006/main">
            <a:off x="17081500" y="9893300"/>
            <a:ext cx="571500" cy="25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00" b="1" i="0">
                <a:solidFill>
                  <a:srgbClr val="FFFFFF"/>
                </a:solidFill>
                <a:latin typeface="Times New Roman"/>
                <a:ea typeface="Times New Roman"/>
                <a:cs typeface="Times New Roman"/>
              </a:defRPr>
            </a:defPPr>
          </a:lstStyle>
          <a:p xmlns:a="http://schemas.openxmlformats.org/drawingml/2006/main">
            <a:pPr algn="ctr">
              <a:defRPr sz="1600" b="1" i="0">
                <a:solidFill>
                  <a:srgbClr val="FFFFFF"/>
                </a:solidFill>
                <a:latin typeface="Times New Roman"/>
                <a:ea typeface="Times New Roman"/>
                <a:cs typeface="Times New Roman"/>
              </a:defRPr>
            </a:pPr>
            <a:r>
              <a:rPr sz="1600" b="1" i="0">
                <a:solidFill>
                  <a:srgbClr val="FFFFFF"/>
                </a:solidFill>
                <a:latin typeface="Times New Roman"/>
                <a:ea typeface="Times New Roman"/>
                <a:cs typeface="Times New Roman"/>
              </a:rPr>
              <a:t>3</a:t>
            </a:r>
          </a:p>
        </p:txBody>
      </p:sp>
      <p:sp>
        <p:nvSpPr>
          <p:cNvPr id="7" name="shape-106">
            <a:extLst xmlns:a="http://schemas.openxmlformats.org/drawingml/2006/main">
              <a:ext uri="{FF2B5EF4-FFF2-40B4-BE49-F238E27FC236}">
                <a16:creationId xmlns:a16="http://schemas.microsoft.com/office/drawing/2014/main" id="{BB095B23-329E-43B3-BF5E-D2267B41A46F}"/>
              </a:ext>
            </a:extLst>
          </p:cNvPr>
          <p:cNvSpPr>
            <a:spLocks xmlns:a="http://schemas.openxmlformats.org/drawingml/2006/main" noGrp="1"/>
          </p:cNvSpPr>
          <p:nvPr/>
        </p:nvSpPr>
        <p:spPr>
          <a:xfrm xmlns:a="http://schemas.openxmlformats.org/drawingml/2006/main">
            <a:off x="127000" y="1308100"/>
            <a:ext cx="2794000" cy="6464300"/>
          </a:xfrm>
          <a:prstGeom xmlns:a="http://schemas.openxmlformats.org/drawingml/2006/main" prst="roundRect">
            <a:avLst>
              <a:gd name="adj" fmla="val 7727"/>
            </a:avLst>
          </a:prstGeom>
          <a:solidFill xmlns:a="http://schemas.openxmlformats.org/drawingml/2006/main">
            <a:srgbClr val="FFF8E0"/>
          </a:solidFill>
          <a:ln xmlns:a="http://schemas.openxmlformats.org/drawingml/2006/main" w="31750">
            <a:solidFill>
              <a:srgbClr val="000000"/>
            </a:solidFill>
            <a:prstDash val="solid"/>
          </a:ln>
        </p:spPr>
      </p:sp>
      <p:sp>
        <p:nvSpPr>
          <p:cNvPr id="8" name="shape-107">
            <a:extLst xmlns:a="http://schemas.openxmlformats.org/drawingml/2006/main">
              <a:ext uri="{FF2B5EF4-FFF2-40B4-BE49-F238E27FC236}">
                <a16:creationId xmlns:a16="http://schemas.microsoft.com/office/drawing/2014/main" id="{EFF43B80-A545-480F-84D1-EF05FF9C8B8E}"/>
              </a:ext>
            </a:extLst>
          </p:cNvPr>
          <p:cNvSpPr>
            <a:spLocks xmlns:a="http://schemas.openxmlformats.org/drawingml/2006/main" noGrp="1"/>
          </p:cNvSpPr>
          <p:nvPr/>
        </p:nvSpPr>
        <p:spPr>
          <a:xfrm xmlns:a="http://schemas.openxmlformats.org/drawingml/2006/main">
            <a:off x="279400" y="1435100"/>
            <a:ext cx="508000" cy="508000"/>
          </a:xfrm>
          <a:prstGeom xmlns:a="http://schemas.openxmlformats.org/drawingml/2006/main" prst="ellipse">
            <a:avLst/>
          </a:prstGeom>
          <a:solidFill xmlns:a="http://schemas.openxmlformats.org/drawingml/2006/main">
            <a:srgbClr val="FFE1B2"/>
          </a:solidFill>
          <a:ln xmlns:a="http://schemas.openxmlformats.org/drawingml/2006/main" w="0">
            <a:noFill/>
            <a:prstDash val="solid"/>
          </a:ln>
        </p:spPr>
      </p:sp>
      <p:sp>
        <p:nvSpPr>
          <p:cNvPr id="9" name="text-109">
            <a:extLst xmlns:a="http://schemas.openxmlformats.org/drawingml/2006/main">
              <a:ext uri="{FF2B5EF4-FFF2-40B4-BE49-F238E27FC236}">
                <a16:creationId xmlns:a16="http://schemas.microsoft.com/office/drawing/2014/main" id="{016D7DDD-958C-4BC9-8D12-EB5F88A41D7C}"/>
              </a:ext>
            </a:extLst>
          </p:cNvPr>
          <p:cNvSpPr>
            <a:spLocks xmlns:a="http://schemas.openxmlformats.org/drawingml/2006/main" noGrp="1"/>
          </p:cNvSpPr>
          <p:nvPr/>
        </p:nvSpPr>
        <p:spPr>
          <a:xfrm xmlns:a="http://schemas.openxmlformats.org/drawingml/2006/main">
            <a:off x="406400" y="1524000"/>
            <a:ext cx="25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000" b="1" i="0">
                <a:solidFill>
                  <a:srgbClr val="FFFFFF"/>
                </a:solidFill>
                <a:latin typeface="Times New Roman"/>
                <a:ea typeface="Times New Roman"/>
                <a:cs typeface="Times New Roman"/>
              </a:defRPr>
            </a:defPPr>
          </a:lstStyle>
          <a:p xmlns:a="http://schemas.openxmlformats.org/drawingml/2006/main">
            <a:pPr algn="ctr">
              <a:defRPr sz="2000" b="1" i="0">
                <a:solidFill>
                  <a:srgbClr val="FFFFFF"/>
                </a:solidFill>
                <a:latin typeface="Times New Roman"/>
                <a:ea typeface="Times New Roman"/>
                <a:cs typeface="Times New Roman"/>
              </a:defRPr>
            </a:pPr>
            <a:r>
              <a:rPr sz="2000" b="1" i="0">
                <a:solidFill>
                  <a:srgbClr val="FFFFFF"/>
                </a:solidFill>
                <a:latin typeface="Times New Roman"/>
                <a:ea typeface="Times New Roman"/>
                <a:cs typeface="Times New Roman"/>
              </a:rPr>
              <a:t>1</a:t>
            </a:r>
          </a:p>
        </p:txBody>
      </p:sp>
      <p:sp>
        <p:nvSpPr>
          <p:cNvPr id="10" name="shape-110">
            <a:extLst xmlns:a="http://schemas.openxmlformats.org/drawingml/2006/main">
              <a:ext uri="{FF2B5EF4-FFF2-40B4-BE49-F238E27FC236}">
                <a16:creationId xmlns:a16="http://schemas.microsoft.com/office/drawing/2014/main" id="{0FE3CE1F-092F-41B8-8BA9-D2B81AFB4309}"/>
              </a:ext>
            </a:extLst>
          </p:cNvPr>
          <p:cNvSpPr>
            <a:spLocks xmlns:a="http://schemas.openxmlformats.org/drawingml/2006/main" noGrp="1"/>
          </p:cNvSpPr>
          <p:nvPr/>
        </p:nvSpPr>
        <p:spPr>
          <a:xfrm xmlns:a="http://schemas.openxmlformats.org/drawingml/2006/main">
            <a:off x="3213100" y="1308100"/>
            <a:ext cx="6438900" cy="6464300"/>
          </a:xfrm>
          <a:prstGeom xmlns:a="http://schemas.openxmlformats.org/drawingml/2006/main" prst="roundRect">
            <a:avLst>
              <a:gd name="adj" fmla="val 3353"/>
            </a:avLst>
          </a:prstGeom>
          <a:solidFill xmlns:a="http://schemas.openxmlformats.org/drawingml/2006/main">
            <a:srgbClr val="E0EDF6"/>
          </a:solidFill>
          <a:ln xmlns:a="http://schemas.openxmlformats.org/drawingml/2006/main" w="31750">
            <a:solidFill>
              <a:srgbClr val="000000"/>
            </a:solidFill>
            <a:prstDash val="solid"/>
          </a:ln>
        </p:spPr>
      </p:sp>
      <p:sp>
        <p:nvSpPr>
          <p:cNvPr id="11" name="shape-111">
            <a:extLst xmlns:a="http://schemas.openxmlformats.org/drawingml/2006/main">
              <a:ext uri="{FF2B5EF4-FFF2-40B4-BE49-F238E27FC236}">
                <a16:creationId xmlns:a16="http://schemas.microsoft.com/office/drawing/2014/main" id="{5C527D5D-E9A4-4BBD-A731-B89F70D8AF75}"/>
              </a:ext>
            </a:extLst>
          </p:cNvPr>
          <p:cNvSpPr>
            <a:spLocks xmlns:a="http://schemas.openxmlformats.org/drawingml/2006/main" noGrp="1"/>
          </p:cNvSpPr>
          <p:nvPr/>
        </p:nvSpPr>
        <p:spPr>
          <a:xfrm xmlns:a="http://schemas.openxmlformats.org/drawingml/2006/main">
            <a:off x="3365500" y="1435100"/>
            <a:ext cx="508000" cy="508000"/>
          </a:xfrm>
          <a:prstGeom xmlns:a="http://schemas.openxmlformats.org/drawingml/2006/main" prst="ellipse">
            <a:avLst/>
          </a:prstGeom>
          <a:solidFill xmlns:a="http://schemas.openxmlformats.org/drawingml/2006/main">
            <a:srgbClr val="65B5E5"/>
          </a:solidFill>
          <a:ln xmlns:a="http://schemas.openxmlformats.org/drawingml/2006/main" w="0">
            <a:noFill/>
            <a:prstDash val="solid"/>
          </a:ln>
        </p:spPr>
      </p:sp>
      <p:sp>
        <p:nvSpPr>
          <p:cNvPr id="12" name="text-113">
            <a:extLst xmlns:a="http://schemas.openxmlformats.org/drawingml/2006/main">
              <a:ext uri="{FF2B5EF4-FFF2-40B4-BE49-F238E27FC236}">
                <a16:creationId xmlns:a16="http://schemas.microsoft.com/office/drawing/2014/main" id="{AAF5DEC2-E089-46A8-9369-BB16F78AC60C}"/>
              </a:ext>
            </a:extLst>
          </p:cNvPr>
          <p:cNvSpPr>
            <a:spLocks xmlns:a="http://schemas.openxmlformats.org/drawingml/2006/main" noGrp="1"/>
          </p:cNvSpPr>
          <p:nvPr/>
        </p:nvSpPr>
        <p:spPr>
          <a:xfrm xmlns:a="http://schemas.openxmlformats.org/drawingml/2006/main">
            <a:off x="3492500" y="1524000"/>
            <a:ext cx="25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000" b="1" i="0">
                <a:solidFill>
                  <a:srgbClr val="FFFFFF"/>
                </a:solidFill>
                <a:latin typeface="Times New Roman"/>
                <a:ea typeface="Times New Roman"/>
                <a:cs typeface="Times New Roman"/>
              </a:defRPr>
            </a:defPPr>
          </a:lstStyle>
          <a:p xmlns:a="http://schemas.openxmlformats.org/drawingml/2006/main">
            <a:pPr algn="ctr">
              <a:defRPr sz="2000" b="1" i="0">
                <a:solidFill>
                  <a:srgbClr val="FFFFFF"/>
                </a:solidFill>
                <a:latin typeface="Times New Roman"/>
                <a:ea typeface="Times New Roman"/>
                <a:cs typeface="Times New Roman"/>
              </a:defRPr>
            </a:pPr>
            <a:r>
              <a:rPr sz="2000" b="1" i="0">
                <a:solidFill>
                  <a:srgbClr val="FFFFFF"/>
                </a:solidFill>
                <a:latin typeface="Times New Roman"/>
                <a:ea typeface="Times New Roman"/>
                <a:cs typeface="Times New Roman"/>
              </a:rPr>
              <a:t>2</a:t>
            </a:r>
          </a:p>
        </p:txBody>
      </p:sp>
      <p:sp>
        <p:nvSpPr>
          <p:cNvPr id="13" name="shape-114">
            <a:extLst xmlns:a="http://schemas.openxmlformats.org/drawingml/2006/main">
              <a:ext uri="{FF2B5EF4-FFF2-40B4-BE49-F238E27FC236}">
                <a16:creationId xmlns:a16="http://schemas.microsoft.com/office/drawing/2014/main" id="{6C328E21-489B-439F-BF75-AE2F62F5F563}"/>
              </a:ext>
            </a:extLst>
          </p:cNvPr>
          <p:cNvSpPr>
            <a:spLocks xmlns:a="http://schemas.openxmlformats.org/drawingml/2006/main" noGrp="1"/>
          </p:cNvSpPr>
          <p:nvPr/>
        </p:nvSpPr>
        <p:spPr>
          <a:xfrm xmlns:a="http://schemas.openxmlformats.org/drawingml/2006/main">
            <a:off x="9944100" y="1308100"/>
            <a:ext cx="3416300" cy="6464300"/>
          </a:xfrm>
          <a:prstGeom xmlns:a="http://schemas.openxmlformats.org/drawingml/2006/main" prst="roundRect">
            <a:avLst>
              <a:gd name="adj" fmla="val 6320"/>
            </a:avLst>
          </a:prstGeom>
          <a:solidFill xmlns:a="http://schemas.openxmlformats.org/drawingml/2006/main">
            <a:srgbClr val="E6F3E3"/>
          </a:solidFill>
          <a:ln xmlns:a="http://schemas.openxmlformats.org/drawingml/2006/main" w="31750">
            <a:solidFill>
              <a:srgbClr val="000000"/>
            </a:solidFill>
            <a:prstDash val="solid"/>
          </a:ln>
        </p:spPr>
      </p:sp>
      <p:sp>
        <p:nvSpPr>
          <p:cNvPr id="14" name="shape-115">
            <a:extLst xmlns:a="http://schemas.openxmlformats.org/drawingml/2006/main">
              <a:ext uri="{FF2B5EF4-FFF2-40B4-BE49-F238E27FC236}">
                <a16:creationId xmlns:a16="http://schemas.microsoft.com/office/drawing/2014/main" id="{344D79D0-11C5-4564-B586-F67A4207BE77}"/>
              </a:ext>
            </a:extLst>
          </p:cNvPr>
          <p:cNvSpPr>
            <a:spLocks xmlns:a="http://schemas.openxmlformats.org/drawingml/2006/main" noGrp="1"/>
          </p:cNvSpPr>
          <p:nvPr/>
        </p:nvSpPr>
        <p:spPr>
          <a:xfrm xmlns:a="http://schemas.openxmlformats.org/drawingml/2006/main">
            <a:off x="10096500" y="1435100"/>
            <a:ext cx="508000" cy="508000"/>
          </a:xfrm>
          <a:prstGeom xmlns:a="http://schemas.openxmlformats.org/drawingml/2006/main" prst="ellipse">
            <a:avLst/>
          </a:prstGeom>
          <a:solidFill xmlns:a="http://schemas.openxmlformats.org/drawingml/2006/main">
            <a:srgbClr val="579243"/>
          </a:solidFill>
          <a:ln xmlns:a="http://schemas.openxmlformats.org/drawingml/2006/main" w="0">
            <a:noFill/>
            <a:prstDash val="solid"/>
          </a:ln>
        </p:spPr>
      </p:sp>
      <p:sp>
        <p:nvSpPr>
          <p:cNvPr id="15" name="text-117">
            <a:extLst xmlns:a="http://schemas.openxmlformats.org/drawingml/2006/main">
              <a:ext uri="{FF2B5EF4-FFF2-40B4-BE49-F238E27FC236}">
                <a16:creationId xmlns:a16="http://schemas.microsoft.com/office/drawing/2014/main" id="{2519CF87-FD7D-40BE-AABA-0B7377F7B2E4}"/>
              </a:ext>
            </a:extLst>
          </p:cNvPr>
          <p:cNvSpPr>
            <a:spLocks xmlns:a="http://schemas.openxmlformats.org/drawingml/2006/main" noGrp="1"/>
          </p:cNvSpPr>
          <p:nvPr/>
        </p:nvSpPr>
        <p:spPr>
          <a:xfrm xmlns:a="http://schemas.openxmlformats.org/drawingml/2006/main">
            <a:off x="10223500" y="1524000"/>
            <a:ext cx="25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000" b="1" i="0">
                <a:solidFill>
                  <a:srgbClr val="FFFFFF"/>
                </a:solidFill>
                <a:latin typeface="Times New Roman"/>
                <a:ea typeface="Times New Roman"/>
                <a:cs typeface="Times New Roman"/>
              </a:defRPr>
            </a:defPPr>
          </a:lstStyle>
          <a:p xmlns:a="http://schemas.openxmlformats.org/drawingml/2006/main">
            <a:pPr algn="ctr">
              <a:defRPr sz="2000" b="1" i="0">
                <a:solidFill>
                  <a:srgbClr val="FFFFFF"/>
                </a:solidFill>
                <a:latin typeface="Times New Roman"/>
                <a:ea typeface="Times New Roman"/>
                <a:cs typeface="Times New Roman"/>
              </a:defRPr>
            </a:pPr>
            <a:r>
              <a:rPr sz="2000" b="1" i="0">
                <a:solidFill>
                  <a:srgbClr val="FFFFFF"/>
                </a:solidFill>
                <a:latin typeface="Times New Roman"/>
                <a:ea typeface="Times New Roman"/>
                <a:cs typeface="Times New Roman"/>
              </a:rPr>
              <a:t>3</a:t>
            </a:r>
          </a:p>
        </p:txBody>
      </p:sp>
      <p:sp>
        <p:nvSpPr>
          <p:cNvPr id="16" name="shape-118">
            <a:extLst xmlns:a="http://schemas.openxmlformats.org/drawingml/2006/main">
              <a:ext uri="{FF2B5EF4-FFF2-40B4-BE49-F238E27FC236}">
                <a16:creationId xmlns:a16="http://schemas.microsoft.com/office/drawing/2014/main" id="{B6F2D364-F13E-462A-B8D5-D6EE2506664C}"/>
              </a:ext>
            </a:extLst>
          </p:cNvPr>
          <p:cNvSpPr>
            <a:spLocks xmlns:a="http://schemas.openxmlformats.org/drawingml/2006/main" noGrp="1"/>
          </p:cNvSpPr>
          <p:nvPr/>
        </p:nvSpPr>
        <p:spPr>
          <a:xfrm xmlns:a="http://schemas.openxmlformats.org/drawingml/2006/main">
            <a:off x="13652500" y="1308100"/>
            <a:ext cx="4572000" cy="6464300"/>
          </a:xfrm>
          <a:prstGeom xmlns:a="http://schemas.openxmlformats.org/drawingml/2006/main" prst="roundRect">
            <a:avLst>
              <a:gd name="adj" fmla="val 4722"/>
            </a:avLst>
          </a:prstGeom>
          <a:solidFill xmlns:a="http://schemas.openxmlformats.org/drawingml/2006/main">
            <a:srgbClr val="F8E7E7"/>
          </a:solidFill>
          <a:ln xmlns:a="http://schemas.openxmlformats.org/drawingml/2006/main" w="31750">
            <a:solidFill>
              <a:srgbClr val="000000"/>
            </a:solidFill>
            <a:prstDash val="solid"/>
          </a:ln>
        </p:spPr>
      </p:sp>
      <p:sp>
        <p:nvSpPr>
          <p:cNvPr id="17" name="shape-119">
            <a:extLst xmlns:a="http://schemas.openxmlformats.org/drawingml/2006/main">
              <a:ext uri="{FF2B5EF4-FFF2-40B4-BE49-F238E27FC236}">
                <a16:creationId xmlns:a16="http://schemas.microsoft.com/office/drawing/2014/main" id="{FE40A4E0-4DEB-43CF-AF33-1C1CDC0E2A60}"/>
              </a:ext>
            </a:extLst>
          </p:cNvPr>
          <p:cNvSpPr>
            <a:spLocks xmlns:a="http://schemas.openxmlformats.org/drawingml/2006/main" noGrp="1"/>
          </p:cNvSpPr>
          <p:nvPr/>
        </p:nvSpPr>
        <p:spPr>
          <a:xfrm xmlns:a="http://schemas.openxmlformats.org/drawingml/2006/main">
            <a:off x="13804900" y="1435100"/>
            <a:ext cx="508000" cy="508000"/>
          </a:xfrm>
          <a:prstGeom xmlns:a="http://schemas.openxmlformats.org/drawingml/2006/main" prst="ellipse">
            <a:avLst/>
          </a:prstGeom>
          <a:solidFill xmlns:a="http://schemas.openxmlformats.org/drawingml/2006/main">
            <a:srgbClr val="DE5656"/>
          </a:solidFill>
          <a:ln xmlns:a="http://schemas.openxmlformats.org/drawingml/2006/main" w="0">
            <a:noFill/>
            <a:prstDash val="solid"/>
          </a:ln>
        </p:spPr>
      </p:sp>
      <p:sp>
        <p:nvSpPr>
          <p:cNvPr id="18" name="text-121">
            <a:extLst xmlns:a="http://schemas.openxmlformats.org/drawingml/2006/main">
              <a:ext uri="{FF2B5EF4-FFF2-40B4-BE49-F238E27FC236}">
                <a16:creationId xmlns:a16="http://schemas.microsoft.com/office/drawing/2014/main" id="{8625390B-0881-4AE4-9795-3DA7A690DD68}"/>
              </a:ext>
            </a:extLst>
          </p:cNvPr>
          <p:cNvSpPr>
            <a:spLocks xmlns:a="http://schemas.openxmlformats.org/drawingml/2006/main" noGrp="1"/>
          </p:cNvSpPr>
          <p:nvPr/>
        </p:nvSpPr>
        <p:spPr>
          <a:xfrm xmlns:a="http://schemas.openxmlformats.org/drawingml/2006/main">
            <a:off x="13931900" y="1524000"/>
            <a:ext cx="25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000" b="1" i="0">
                <a:solidFill>
                  <a:srgbClr val="FFFFFF"/>
                </a:solidFill>
                <a:latin typeface="Times New Roman"/>
                <a:ea typeface="Times New Roman"/>
                <a:cs typeface="Times New Roman"/>
              </a:defRPr>
            </a:defPPr>
          </a:lstStyle>
          <a:p xmlns:a="http://schemas.openxmlformats.org/drawingml/2006/main">
            <a:pPr algn="ctr">
              <a:defRPr sz="2000" b="1" i="0">
                <a:solidFill>
                  <a:srgbClr val="FFFFFF"/>
                </a:solidFill>
                <a:latin typeface="Times New Roman"/>
                <a:ea typeface="Times New Roman"/>
                <a:cs typeface="Times New Roman"/>
              </a:defRPr>
            </a:pPr>
            <a:r>
              <a:rPr sz="2000" b="1" i="0">
                <a:solidFill>
                  <a:srgbClr val="FFFFFF"/>
                </a:solidFill>
                <a:latin typeface="Times New Roman"/>
                <a:ea typeface="Times New Roman"/>
                <a:cs typeface="Times New Roman"/>
              </a:rPr>
              <a:t>4</a:t>
            </a:r>
          </a:p>
        </p:txBody>
      </p:sp>
      <p:sp>
        <p:nvSpPr>
          <p:cNvPr id="19" name="text-123">
            <a:extLst xmlns:a="http://schemas.openxmlformats.org/drawingml/2006/main">
              <a:ext uri="{FF2B5EF4-FFF2-40B4-BE49-F238E27FC236}">
                <a16:creationId xmlns:a16="http://schemas.microsoft.com/office/drawing/2014/main" id="{58E9593E-5EE5-4112-B86B-8BBCF688F7B1}"/>
              </a:ext>
            </a:extLst>
          </p:cNvPr>
          <p:cNvSpPr>
            <a:spLocks xmlns:a="http://schemas.openxmlformats.org/drawingml/2006/main" noGrp="1"/>
          </p:cNvSpPr>
          <p:nvPr/>
        </p:nvSpPr>
        <p:spPr>
          <a:xfrm xmlns:a="http://schemas.openxmlformats.org/drawingml/2006/main">
            <a:off x="876300" y="1473200"/>
            <a:ext cx="1866900" cy="660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300" b="1" i="0">
                <a:solidFill>
                  <a:srgbClr val="000000"/>
                </a:solidFill>
                <a:latin typeface="Times New Roman"/>
                <a:ea typeface="Times New Roman"/>
                <a:cs typeface="Times New Roman"/>
              </a:defRPr>
            </a:defPPr>
          </a:lstStyle>
          <a:p xmlns:a="http://schemas.openxmlformats.org/drawingml/2006/main">
            <a:pPr algn="ctr">
              <a:defRPr sz="2300" b="1" i="0">
                <a:solidFill>
                  <a:srgbClr val="000000"/>
                </a:solidFill>
                <a:latin typeface="Times New Roman"/>
                <a:ea typeface="Times New Roman"/>
                <a:cs typeface="Times New Roman"/>
              </a:defRPr>
            </a:pPr>
            <a:r>
              <a:rPr sz="2300" b="1" i="0">
                <a:solidFill>
                  <a:srgbClr val="000000"/>
                </a:solidFill>
                <a:latin typeface="Times New Roman"/>
                <a:ea typeface="Times New Roman"/>
                <a:cs typeface="Times New Roman"/>
              </a:rPr>
              <a:t>Workforce</a:t>
            </a:r>
          </a:p>
          <a:p xmlns:a="http://schemas.openxmlformats.org/drawingml/2006/main">
            <a:pPr algn="ctr">
              <a:defRPr sz="2300" b="1" i="0">
                <a:solidFill>
                  <a:srgbClr val="000000"/>
                </a:solidFill>
                <a:latin typeface="Times New Roman"/>
                <a:ea typeface="Times New Roman"/>
                <a:cs typeface="Times New Roman"/>
              </a:defRPr>
            </a:pPr>
            <a:r>
              <a:rPr sz="2300" b="1" i="0">
                <a:solidFill>
                  <a:srgbClr val="000000"/>
                </a:solidFill>
                <a:latin typeface="Times New Roman"/>
                <a:ea typeface="Times New Roman"/>
                <a:cs typeface="Times New Roman"/>
              </a:rPr>
              <a:t>Need</a:t>
            </a:r>
          </a:p>
        </p:txBody>
      </p:sp>
      <p:sp>
        <p:nvSpPr>
          <p:cNvPr id="20" name="text-125">
            <a:extLst xmlns:a="http://schemas.openxmlformats.org/drawingml/2006/main">
              <a:ext uri="{FF2B5EF4-FFF2-40B4-BE49-F238E27FC236}">
                <a16:creationId xmlns:a16="http://schemas.microsoft.com/office/drawing/2014/main" id="{041ADE84-4ABD-49E6-82E5-978ADBADDDFE}"/>
              </a:ext>
            </a:extLst>
          </p:cNvPr>
          <p:cNvSpPr>
            <a:spLocks xmlns:a="http://schemas.openxmlformats.org/drawingml/2006/main" noGrp="1"/>
          </p:cNvSpPr>
          <p:nvPr/>
        </p:nvSpPr>
        <p:spPr>
          <a:xfrm xmlns:a="http://schemas.openxmlformats.org/drawingml/2006/main">
            <a:off x="304800" y="2336800"/>
            <a:ext cx="24511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00" b="0" i="0">
                <a:solidFill>
                  <a:srgbClr val="000000"/>
                </a:solidFill>
                <a:latin typeface="Times New Roman"/>
                <a:ea typeface="Times New Roman"/>
                <a:cs typeface="Times New Roman"/>
              </a:defRPr>
            </a:defPPr>
          </a:lstStyle>
          <a:p xmlns:a="http://schemas.openxmlformats.org/drawingml/2006/main">
            <a:pPr algn="l">
              <a:defRPr sz="1900" b="0" i="0">
                <a:solidFill>
                  <a:srgbClr val="000000"/>
                </a:solidFill>
                <a:latin typeface="Times New Roman"/>
                <a:ea typeface="Times New Roman"/>
                <a:cs typeface="Times New Roman"/>
              </a:defRPr>
            </a:pPr>
            <a:r>
              <a:rPr sz="1900" b="0" i="0">
                <a:solidFill>
                  <a:srgbClr val="000000"/>
                </a:solidFill>
                <a:latin typeface="Times New Roman"/>
                <a:ea typeface="Times New Roman"/>
                <a:cs typeface="Times New Roman"/>
              </a:rPr>
              <a:t>Confirm the work and constraints before searching for people.</a:t>
            </a:r>
          </a:p>
        </p:txBody>
      </p:sp>
      <p:sp>
        <p:nvSpPr>
          <p:cNvPr id="21" name="text-127">
            <a:extLst xmlns:a="http://schemas.openxmlformats.org/drawingml/2006/main">
              <a:ext uri="{FF2B5EF4-FFF2-40B4-BE49-F238E27FC236}">
                <a16:creationId xmlns:a16="http://schemas.microsoft.com/office/drawing/2014/main" id="{D08E0CC0-68FD-4DBD-8DE2-90BE277650F0}"/>
              </a:ext>
            </a:extLst>
          </p:cNvPr>
          <p:cNvSpPr>
            <a:spLocks xmlns:a="http://schemas.openxmlformats.org/drawingml/2006/main" noGrp="1"/>
          </p:cNvSpPr>
          <p:nvPr/>
        </p:nvSpPr>
        <p:spPr>
          <a:xfrm xmlns:a="http://schemas.openxmlformats.org/drawingml/2006/main">
            <a:off x="279400" y="3606800"/>
            <a:ext cx="2489200" cy="33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i="0">
                <a:solidFill>
                  <a:srgbClr val="000000"/>
                </a:solidFill>
                <a:latin typeface="Times New Roman"/>
                <a:ea typeface="Times New Roman"/>
                <a:cs typeface="Times New Roman"/>
              </a:defRPr>
            </a:defPPr>
          </a:lstStyle>
          <a:p xmlns:a="http://schemas.openxmlformats.org/drawingml/2006/main">
            <a:pPr algn="ctr">
              <a:defRPr sz="2100" b="1" i="0">
                <a:solidFill>
                  <a:srgbClr val="000000"/>
                </a:solidFill>
                <a:latin typeface="Times New Roman"/>
                <a:ea typeface="Times New Roman"/>
                <a:cs typeface="Times New Roman"/>
              </a:defRPr>
            </a:pPr>
            <a:r>
              <a:rPr sz="2100" b="1" i="0">
                <a:solidFill>
                  <a:srgbClr val="000000"/>
                </a:solidFill>
                <a:latin typeface="Times New Roman"/>
                <a:ea typeface="Times New Roman"/>
                <a:cs typeface="Times New Roman"/>
              </a:rPr>
              <a:t>Role and skills</a:t>
            </a:r>
          </a:p>
        </p:txBody>
      </p:sp>
      <p:sp>
        <p:nvSpPr>
          <p:cNvPr id="22" name="text-129">
            <a:extLst xmlns:a="http://schemas.openxmlformats.org/drawingml/2006/main">
              <a:ext uri="{FF2B5EF4-FFF2-40B4-BE49-F238E27FC236}">
                <a16:creationId xmlns:a16="http://schemas.microsoft.com/office/drawing/2014/main" id="{F3F1E4D1-B7BD-4689-83B7-53CAF5E4DCA9}"/>
              </a:ext>
            </a:extLst>
          </p:cNvPr>
          <p:cNvSpPr>
            <a:spLocks xmlns:a="http://schemas.openxmlformats.org/drawingml/2006/main" noGrp="1"/>
          </p:cNvSpPr>
          <p:nvPr/>
        </p:nvSpPr>
        <p:spPr>
          <a:xfrm xmlns:a="http://schemas.openxmlformats.org/drawingml/2006/main">
            <a:off x="254000" y="3937000"/>
            <a:ext cx="2540000" cy="33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00" b="0" i="0">
                <a:solidFill>
                  <a:srgbClr val="000000"/>
                </a:solidFill>
                <a:latin typeface="Times New Roman"/>
                <a:ea typeface="Times New Roman"/>
                <a:cs typeface="Times New Roman"/>
              </a:defRPr>
            </a:defPPr>
          </a:lstStyle>
          <a:p xmlns:a="http://schemas.openxmlformats.org/drawingml/2006/main">
            <a:pPr algn="ctr">
              <a:defRPr sz="1700" b="0" i="0">
                <a:solidFill>
                  <a:srgbClr val="000000"/>
                </a:solidFill>
                <a:latin typeface="Times New Roman"/>
                <a:ea typeface="Times New Roman"/>
                <a:cs typeface="Times New Roman"/>
              </a:defRPr>
            </a:pPr>
            <a:r>
              <a:rPr sz="1700" b="0" i="0">
                <a:solidFill>
                  <a:srgbClr val="000000"/>
                </a:solidFill>
                <a:latin typeface="Times New Roman"/>
                <a:ea typeface="Times New Roman"/>
                <a:cs typeface="Times New Roman"/>
              </a:rPr>
              <a:t>Mandatory skill weights</a:t>
            </a:r>
          </a:p>
        </p:txBody>
      </p:sp>
      <p:sp>
        <p:nvSpPr>
          <p:cNvPr id="23" name="text-131">
            <a:extLst xmlns:a="http://schemas.openxmlformats.org/drawingml/2006/main">
              <a:ext uri="{FF2B5EF4-FFF2-40B4-BE49-F238E27FC236}">
                <a16:creationId xmlns:a16="http://schemas.microsoft.com/office/drawing/2014/main" id="{6C98264F-BED1-4E5C-B25C-67249FD5C76D}"/>
              </a:ext>
            </a:extLst>
          </p:cNvPr>
          <p:cNvSpPr>
            <a:spLocks xmlns:a="http://schemas.openxmlformats.org/drawingml/2006/main" noGrp="1"/>
          </p:cNvSpPr>
          <p:nvPr/>
        </p:nvSpPr>
        <p:spPr>
          <a:xfrm xmlns:a="http://schemas.openxmlformats.org/drawingml/2006/main">
            <a:off x="279400" y="4381500"/>
            <a:ext cx="2489200" cy="33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i="0">
                <a:solidFill>
                  <a:srgbClr val="000000"/>
                </a:solidFill>
                <a:latin typeface="Times New Roman"/>
                <a:ea typeface="Times New Roman"/>
                <a:cs typeface="Times New Roman"/>
              </a:defRPr>
            </a:defPPr>
          </a:lstStyle>
          <a:p xmlns:a="http://schemas.openxmlformats.org/drawingml/2006/main">
            <a:pPr algn="ctr">
              <a:defRPr sz="2100" b="1" i="0">
                <a:solidFill>
                  <a:srgbClr val="000000"/>
                </a:solidFill>
                <a:latin typeface="Times New Roman"/>
                <a:ea typeface="Times New Roman"/>
                <a:cs typeface="Times New Roman"/>
              </a:defRPr>
            </a:pPr>
            <a:r>
              <a:rPr sz="2100" b="1" i="0">
                <a:solidFill>
                  <a:srgbClr val="000000"/>
                </a:solidFill>
                <a:latin typeface="Times New Roman"/>
                <a:ea typeface="Times New Roman"/>
                <a:cs typeface="Times New Roman"/>
              </a:rPr>
              <a:t>Capacity</a:t>
            </a:r>
          </a:p>
        </p:txBody>
      </p:sp>
      <p:sp>
        <p:nvSpPr>
          <p:cNvPr id="24" name="text-133">
            <a:extLst xmlns:a="http://schemas.openxmlformats.org/drawingml/2006/main">
              <a:ext uri="{FF2B5EF4-FFF2-40B4-BE49-F238E27FC236}">
                <a16:creationId xmlns:a16="http://schemas.microsoft.com/office/drawing/2014/main" id="{57BA58CA-4070-422C-9733-2F3993F250E7}"/>
              </a:ext>
            </a:extLst>
          </p:cNvPr>
          <p:cNvSpPr>
            <a:spLocks xmlns:a="http://schemas.openxmlformats.org/drawingml/2006/main" noGrp="1"/>
          </p:cNvSpPr>
          <p:nvPr/>
        </p:nvSpPr>
        <p:spPr>
          <a:xfrm xmlns:a="http://schemas.openxmlformats.org/drawingml/2006/main">
            <a:off x="254000" y="4711700"/>
            <a:ext cx="2540000" cy="33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00" b="0" i="0">
                <a:solidFill>
                  <a:srgbClr val="000000"/>
                </a:solidFill>
                <a:latin typeface="Times New Roman"/>
                <a:ea typeface="Times New Roman"/>
                <a:cs typeface="Times New Roman"/>
              </a:defRPr>
            </a:defPPr>
          </a:lstStyle>
          <a:p xmlns:a="http://schemas.openxmlformats.org/drawingml/2006/main">
            <a:pPr algn="ctr">
              <a:defRPr sz="1700" b="0" i="0">
                <a:solidFill>
                  <a:srgbClr val="000000"/>
                </a:solidFill>
                <a:latin typeface="Times New Roman"/>
                <a:ea typeface="Times New Roman"/>
                <a:cs typeface="Times New Roman"/>
              </a:defRPr>
            </a:pPr>
            <a:r>
              <a:rPr sz="1700" b="0" i="0">
                <a:solidFill>
                  <a:srgbClr val="000000"/>
                </a:solidFill>
                <a:latin typeface="Times New Roman"/>
                <a:ea typeface="Times New Roman"/>
                <a:cs typeface="Times New Roman"/>
              </a:rPr>
              <a:t>Headcount and start date</a:t>
            </a:r>
          </a:p>
        </p:txBody>
      </p:sp>
      <p:sp>
        <p:nvSpPr>
          <p:cNvPr id="25" name="text-135">
            <a:extLst xmlns:a="http://schemas.openxmlformats.org/drawingml/2006/main">
              <a:ext uri="{FF2B5EF4-FFF2-40B4-BE49-F238E27FC236}">
                <a16:creationId xmlns:a16="http://schemas.microsoft.com/office/drawing/2014/main" id="{24F0007D-3725-4A7E-90D7-02002233FD0D}"/>
              </a:ext>
            </a:extLst>
          </p:cNvPr>
          <p:cNvSpPr>
            <a:spLocks xmlns:a="http://schemas.openxmlformats.org/drawingml/2006/main" noGrp="1"/>
          </p:cNvSpPr>
          <p:nvPr/>
        </p:nvSpPr>
        <p:spPr>
          <a:xfrm xmlns:a="http://schemas.openxmlformats.org/drawingml/2006/main">
            <a:off x="279400" y="5156200"/>
            <a:ext cx="2489200" cy="33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i="0">
                <a:solidFill>
                  <a:srgbClr val="000000"/>
                </a:solidFill>
                <a:latin typeface="Times New Roman"/>
                <a:ea typeface="Times New Roman"/>
                <a:cs typeface="Times New Roman"/>
              </a:defRPr>
            </a:defPPr>
          </a:lstStyle>
          <a:p xmlns:a="http://schemas.openxmlformats.org/drawingml/2006/main">
            <a:pPr algn="ctr">
              <a:defRPr sz="2100" b="1" i="0">
                <a:solidFill>
                  <a:srgbClr val="000000"/>
                </a:solidFill>
                <a:latin typeface="Times New Roman"/>
                <a:ea typeface="Times New Roman"/>
                <a:cs typeface="Times New Roman"/>
              </a:defRPr>
            </a:pPr>
            <a:r>
              <a:rPr sz="2100" b="1" i="0">
                <a:solidFill>
                  <a:srgbClr val="000000"/>
                </a:solidFill>
                <a:latin typeface="Times New Roman"/>
                <a:ea typeface="Times New Roman"/>
                <a:cs typeface="Times New Roman"/>
              </a:rPr>
              <a:t>Economics</a:t>
            </a:r>
          </a:p>
        </p:txBody>
      </p:sp>
      <p:sp>
        <p:nvSpPr>
          <p:cNvPr id="26" name="text-137">
            <a:extLst xmlns:a="http://schemas.openxmlformats.org/drawingml/2006/main">
              <a:ext uri="{FF2B5EF4-FFF2-40B4-BE49-F238E27FC236}">
                <a16:creationId xmlns:a16="http://schemas.microsoft.com/office/drawing/2014/main" id="{A7A24E45-9E09-4907-A43A-5627CB92FCE4}"/>
              </a:ext>
            </a:extLst>
          </p:cNvPr>
          <p:cNvSpPr>
            <a:spLocks xmlns:a="http://schemas.openxmlformats.org/drawingml/2006/main" noGrp="1"/>
          </p:cNvSpPr>
          <p:nvPr/>
        </p:nvSpPr>
        <p:spPr>
          <a:xfrm xmlns:a="http://schemas.openxmlformats.org/drawingml/2006/main">
            <a:off x="254000" y="5486400"/>
            <a:ext cx="2540000" cy="33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00" b="0" i="0">
                <a:solidFill>
                  <a:srgbClr val="000000"/>
                </a:solidFill>
                <a:latin typeface="Times New Roman"/>
                <a:ea typeface="Times New Roman"/>
                <a:cs typeface="Times New Roman"/>
              </a:defRPr>
            </a:defPPr>
          </a:lstStyle>
          <a:p xmlns:a="http://schemas.openxmlformats.org/drawingml/2006/main">
            <a:pPr algn="ctr">
              <a:defRPr sz="1700" b="0" i="0">
                <a:solidFill>
                  <a:srgbClr val="000000"/>
                </a:solidFill>
                <a:latin typeface="Times New Roman"/>
                <a:ea typeface="Times New Roman"/>
                <a:cs typeface="Times New Roman"/>
              </a:defRPr>
            </a:pPr>
            <a:r>
              <a:rPr sz="1700" b="0" i="0">
                <a:solidFill>
                  <a:srgbClr val="000000"/>
                </a:solidFill>
                <a:latin typeface="Times New Roman"/>
                <a:ea typeface="Times New Roman"/>
                <a:cs typeface="Times New Roman"/>
              </a:rPr>
              <a:t>INR budget and horizon</a:t>
            </a:r>
          </a:p>
        </p:txBody>
      </p:sp>
      <p:sp>
        <p:nvSpPr>
          <p:cNvPr id="27" name="text-139">
            <a:extLst xmlns:a="http://schemas.openxmlformats.org/drawingml/2006/main">
              <a:ext uri="{FF2B5EF4-FFF2-40B4-BE49-F238E27FC236}">
                <a16:creationId xmlns:a16="http://schemas.microsoft.com/office/drawing/2014/main" id="{49FA15EF-0F96-4EAE-B36D-CA34C17B8C0A}"/>
              </a:ext>
            </a:extLst>
          </p:cNvPr>
          <p:cNvSpPr>
            <a:spLocks xmlns:a="http://schemas.openxmlformats.org/drawingml/2006/main" noGrp="1"/>
          </p:cNvSpPr>
          <p:nvPr/>
        </p:nvSpPr>
        <p:spPr>
          <a:xfrm xmlns:a="http://schemas.openxmlformats.org/drawingml/2006/main">
            <a:off x="279400" y="5930900"/>
            <a:ext cx="2489200" cy="33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i="0">
                <a:solidFill>
                  <a:srgbClr val="000000"/>
                </a:solidFill>
                <a:latin typeface="Times New Roman"/>
                <a:ea typeface="Times New Roman"/>
                <a:cs typeface="Times New Roman"/>
              </a:defRPr>
            </a:defPPr>
          </a:lstStyle>
          <a:p xmlns:a="http://schemas.openxmlformats.org/drawingml/2006/main">
            <a:pPr algn="ctr">
              <a:defRPr sz="2100" b="1" i="0">
                <a:solidFill>
                  <a:srgbClr val="000000"/>
                </a:solidFill>
                <a:latin typeface="Times New Roman"/>
                <a:ea typeface="Times New Roman"/>
                <a:cs typeface="Times New Roman"/>
              </a:defRPr>
            </a:pPr>
            <a:r>
              <a:rPr sz="2100" b="1" i="0">
                <a:solidFill>
                  <a:srgbClr val="000000"/>
                </a:solidFill>
                <a:latin typeface="Times New Roman"/>
                <a:ea typeface="Times New Roman"/>
                <a:cs typeface="Times New Roman"/>
              </a:rPr>
              <a:t>Work location</a:t>
            </a:r>
          </a:p>
        </p:txBody>
      </p:sp>
      <p:sp>
        <p:nvSpPr>
          <p:cNvPr id="28" name="text-141">
            <a:extLst xmlns:a="http://schemas.openxmlformats.org/drawingml/2006/main">
              <a:ext uri="{FF2B5EF4-FFF2-40B4-BE49-F238E27FC236}">
                <a16:creationId xmlns:a16="http://schemas.microsoft.com/office/drawing/2014/main" id="{9399D498-8881-444D-94E0-86B337487026}"/>
              </a:ext>
            </a:extLst>
          </p:cNvPr>
          <p:cNvSpPr>
            <a:spLocks xmlns:a="http://schemas.openxmlformats.org/drawingml/2006/main" noGrp="1"/>
          </p:cNvSpPr>
          <p:nvPr/>
        </p:nvSpPr>
        <p:spPr>
          <a:xfrm xmlns:a="http://schemas.openxmlformats.org/drawingml/2006/main">
            <a:off x="254000" y="6261100"/>
            <a:ext cx="2540000" cy="33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00" b="0" i="0">
                <a:solidFill>
                  <a:srgbClr val="000000"/>
                </a:solidFill>
                <a:latin typeface="Times New Roman"/>
                <a:ea typeface="Times New Roman"/>
                <a:cs typeface="Times New Roman"/>
              </a:defRPr>
            </a:defPPr>
          </a:lstStyle>
          <a:p xmlns:a="http://schemas.openxmlformats.org/drawingml/2006/main">
            <a:pPr algn="ctr">
              <a:defRPr sz="1700" b="0" i="0">
                <a:solidFill>
                  <a:srgbClr val="000000"/>
                </a:solidFill>
                <a:latin typeface="Times New Roman"/>
                <a:ea typeface="Times New Roman"/>
                <a:cs typeface="Times New Roman"/>
              </a:defRPr>
            </a:pPr>
            <a:r>
              <a:rPr sz="1700" b="0" i="0">
                <a:solidFill>
                  <a:srgbClr val="000000"/>
                </a:solidFill>
                <a:latin typeface="Times New Roman"/>
                <a:ea typeface="Times New Roman"/>
                <a:cs typeface="Times New Roman"/>
              </a:rPr>
              <a:t>City and remote policy</a:t>
            </a:r>
          </a:p>
        </p:txBody>
      </p:sp>
      <p:sp>
        <p:nvSpPr>
          <p:cNvPr id="29" name="text-143">
            <a:extLst xmlns:a="http://schemas.openxmlformats.org/drawingml/2006/main">
              <a:ext uri="{FF2B5EF4-FFF2-40B4-BE49-F238E27FC236}">
                <a16:creationId xmlns:a16="http://schemas.microsoft.com/office/drawing/2014/main" id="{21108AF2-AA73-4365-934F-D5443CC4A01F}"/>
              </a:ext>
            </a:extLst>
          </p:cNvPr>
          <p:cNvSpPr>
            <a:spLocks xmlns:a="http://schemas.openxmlformats.org/drawingml/2006/main" noGrp="1"/>
          </p:cNvSpPr>
          <p:nvPr/>
        </p:nvSpPr>
        <p:spPr>
          <a:xfrm xmlns:a="http://schemas.openxmlformats.org/drawingml/2006/main">
            <a:off x="279400" y="6705600"/>
            <a:ext cx="2489200" cy="33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i="0">
                <a:solidFill>
                  <a:srgbClr val="000000"/>
                </a:solidFill>
                <a:latin typeface="Times New Roman"/>
                <a:ea typeface="Times New Roman"/>
                <a:cs typeface="Times New Roman"/>
              </a:defRPr>
            </a:defPPr>
          </a:lstStyle>
          <a:p xmlns:a="http://schemas.openxmlformats.org/drawingml/2006/main">
            <a:pPr algn="ctr">
              <a:defRPr sz="2100" b="1" i="0">
                <a:solidFill>
                  <a:srgbClr val="000000"/>
                </a:solidFill>
                <a:latin typeface="Times New Roman"/>
                <a:ea typeface="Times New Roman"/>
                <a:cs typeface="Times New Roman"/>
              </a:defRPr>
            </a:pPr>
            <a:r>
              <a:rPr sz="2100" b="1" i="0">
                <a:solidFill>
                  <a:srgbClr val="000000"/>
                </a:solidFill>
                <a:latin typeface="Times New Roman"/>
                <a:ea typeface="Times New Roman"/>
                <a:cs typeface="Times New Roman"/>
              </a:rPr>
              <a:t>Process context</a:t>
            </a:r>
          </a:p>
        </p:txBody>
      </p:sp>
      <p:sp>
        <p:nvSpPr>
          <p:cNvPr id="30" name="text-145">
            <a:extLst xmlns:a="http://schemas.openxmlformats.org/drawingml/2006/main">
              <a:ext uri="{FF2B5EF4-FFF2-40B4-BE49-F238E27FC236}">
                <a16:creationId xmlns:a16="http://schemas.microsoft.com/office/drawing/2014/main" id="{54331B7E-1C84-4519-BF89-C014764F0CC3}"/>
              </a:ext>
            </a:extLst>
          </p:cNvPr>
          <p:cNvSpPr>
            <a:spLocks xmlns:a="http://schemas.openxmlformats.org/drawingml/2006/main" noGrp="1"/>
          </p:cNvSpPr>
          <p:nvPr/>
        </p:nvSpPr>
        <p:spPr>
          <a:xfrm xmlns:a="http://schemas.openxmlformats.org/drawingml/2006/main">
            <a:off x="254000" y="7035800"/>
            <a:ext cx="2540000" cy="33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00" b="0" i="0">
                <a:solidFill>
                  <a:srgbClr val="000000"/>
                </a:solidFill>
                <a:latin typeface="Times New Roman"/>
                <a:ea typeface="Times New Roman"/>
                <a:cs typeface="Times New Roman"/>
              </a:defRPr>
            </a:defPPr>
          </a:lstStyle>
          <a:p xmlns:a="http://schemas.openxmlformats.org/drawingml/2006/main">
            <a:pPr algn="ctr">
              <a:defRPr sz="1700" b="0" i="0">
                <a:solidFill>
                  <a:srgbClr val="000000"/>
                </a:solidFill>
                <a:latin typeface="Times New Roman"/>
                <a:ea typeface="Times New Roman"/>
                <a:cs typeface="Times New Roman"/>
              </a:defRPr>
            </a:pPr>
            <a:r>
              <a:rPr sz="1700" b="0" i="0">
                <a:solidFill>
                  <a:srgbClr val="000000"/>
                </a:solidFill>
                <a:latin typeface="Times New Roman"/>
                <a:ea typeface="Times New Roman"/>
                <a:cs typeface="Times New Roman"/>
              </a:rPr>
              <a:t>Repetitive task estimate</a:t>
            </a:r>
          </a:p>
        </p:txBody>
      </p:sp>
      <p:sp>
        <p:nvSpPr>
          <p:cNvPr id="31" name="text-147">
            <a:extLst xmlns:a="http://schemas.openxmlformats.org/drawingml/2006/main">
              <a:ext uri="{FF2B5EF4-FFF2-40B4-BE49-F238E27FC236}">
                <a16:creationId xmlns:a16="http://schemas.microsoft.com/office/drawing/2014/main" id="{D4BCC008-FF16-4683-9C40-959F6C608958}"/>
              </a:ext>
            </a:extLst>
          </p:cNvPr>
          <p:cNvSpPr>
            <a:spLocks xmlns:a="http://schemas.openxmlformats.org/drawingml/2006/main" noGrp="1"/>
          </p:cNvSpPr>
          <p:nvPr/>
        </p:nvSpPr>
        <p:spPr>
          <a:xfrm xmlns:a="http://schemas.openxmlformats.org/drawingml/2006/main">
            <a:off x="3949700" y="1511300"/>
            <a:ext cx="5511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500" b="1" i="0">
                <a:solidFill>
                  <a:srgbClr val="000000"/>
                </a:solidFill>
                <a:latin typeface="Times New Roman"/>
                <a:ea typeface="Times New Roman"/>
                <a:cs typeface="Times New Roman"/>
              </a:defRPr>
            </a:defPPr>
          </a:lstStyle>
          <a:p xmlns:a="http://schemas.openxmlformats.org/drawingml/2006/main">
            <a:pPr algn="ctr">
              <a:defRPr sz="2500" b="1" i="0">
                <a:solidFill>
                  <a:srgbClr val="000000"/>
                </a:solidFill>
                <a:latin typeface="Times New Roman"/>
                <a:ea typeface="Times New Roman"/>
                <a:cs typeface="Times New Roman"/>
              </a:defRPr>
            </a:pPr>
            <a:r>
              <a:rPr sz="2500" b="1" i="0">
                <a:solidFill>
                  <a:srgbClr val="000000"/>
                </a:solidFill>
                <a:latin typeface="Times New Roman"/>
                <a:ea typeface="Times New Roman"/>
                <a:cs typeface="Times New Roman"/>
              </a:rPr>
              <a:t>Evidence and Integration</a:t>
            </a:r>
          </a:p>
        </p:txBody>
      </p:sp>
      <p:sp>
        <p:nvSpPr>
          <p:cNvPr id="32" name="text-149">
            <a:extLst xmlns:a="http://schemas.openxmlformats.org/drawingml/2006/main">
              <a:ext uri="{FF2B5EF4-FFF2-40B4-BE49-F238E27FC236}">
                <a16:creationId xmlns:a16="http://schemas.microsoft.com/office/drawing/2014/main" id="{103776EF-47FB-42A2-9DFC-9C84D0D591C0}"/>
              </a:ext>
            </a:extLst>
          </p:cNvPr>
          <p:cNvSpPr>
            <a:spLocks xmlns:a="http://schemas.openxmlformats.org/drawingml/2006/main" noGrp="1"/>
          </p:cNvSpPr>
          <p:nvPr/>
        </p:nvSpPr>
        <p:spPr>
          <a:xfrm xmlns:a="http://schemas.openxmlformats.org/drawingml/2006/main">
            <a:off x="3390900" y="2044700"/>
            <a:ext cx="6096000" cy="33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900" b="0" i="0">
                <a:solidFill>
                  <a:srgbClr val="000000"/>
                </a:solidFill>
                <a:latin typeface="Times New Roman"/>
                <a:ea typeface="Times New Roman"/>
                <a:cs typeface="Times New Roman"/>
              </a:defRPr>
            </a:defPPr>
          </a:lstStyle>
          <a:p xmlns:a="http://schemas.openxmlformats.org/drawingml/2006/main">
            <a:pPr algn="ctr">
              <a:defRPr sz="1900" b="0" i="0">
                <a:solidFill>
                  <a:srgbClr val="000000"/>
                </a:solidFill>
                <a:latin typeface="Times New Roman"/>
                <a:ea typeface="Times New Roman"/>
                <a:cs typeface="Times New Roman"/>
              </a:defRPr>
            </a:pPr>
            <a:r>
              <a:rPr sz="1900" b="0" i="0">
                <a:solidFill>
                  <a:srgbClr val="000000"/>
                </a:solidFill>
                <a:latin typeface="Times New Roman"/>
                <a:ea typeface="Times New Roman"/>
                <a:cs typeface="Times New Roman"/>
              </a:rPr>
              <a:t>Source-backed records, with unknown values kept explicit</a:t>
            </a:r>
          </a:p>
        </p:txBody>
      </p:sp>
      <p:sp>
        <p:nvSpPr>
          <p:cNvPr id="33" name="shape-150">
            <a:extLst xmlns:a="http://schemas.openxmlformats.org/drawingml/2006/main">
              <a:ext uri="{FF2B5EF4-FFF2-40B4-BE49-F238E27FC236}">
                <a16:creationId xmlns:a16="http://schemas.microsoft.com/office/drawing/2014/main" id="{ABCF1DFF-D89A-427F-B7CC-62DB940150B5}"/>
              </a:ext>
            </a:extLst>
          </p:cNvPr>
          <p:cNvSpPr>
            <a:spLocks xmlns:a="http://schemas.openxmlformats.org/drawingml/2006/main" noGrp="1"/>
          </p:cNvSpPr>
          <p:nvPr/>
        </p:nvSpPr>
        <p:spPr>
          <a:xfrm xmlns:a="http://schemas.openxmlformats.org/drawingml/2006/main">
            <a:off x="3340100" y="2413000"/>
            <a:ext cx="6197600" cy="685800"/>
          </a:xfrm>
          <a:prstGeom xmlns:a="http://schemas.openxmlformats.org/drawingml/2006/main" prst="roundRect">
            <a:avLst>
              <a:gd name="adj" fmla="val 22222"/>
            </a:avLst>
          </a:prstGeom>
          <a:solidFill xmlns:a="http://schemas.openxmlformats.org/drawingml/2006/main">
            <a:srgbClr val="E0EDF6"/>
          </a:solidFill>
          <a:ln xmlns:a="http://schemas.openxmlformats.org/drawingml/2006/main" w="25400">
            <a:solidFill>
              <a:srgbClr val="000000"/>
            </a:solidFill>
            <a:prstDash val="solid"/>
          </a:ln>
        </p:spPr>
        <p:txBody>
          <a:bodyPr xmlns:a="http://schemas.openxmlformats.org/drawingml/2006/main" wrap="square" lIns="88900" tIns="88900" rIns="88900" bIns="88900" anchor="ctr">
            <a:noAutofit/>
          </a:bodyPr>
          <a:lstStyle xmlns:a="http://schemas.openxmlformats.org/drawingml/2006/main">
            <a:defPPr algn="ctr">
              <a:defRPr sz="2000" b="0">
                <a:solidFill>
                  <a:srgbClr val="000000"/>
                </a:solidFill>
                <a:latin typeface="Times New Roman"/>
                <a:ea typeface="Times New Roman"/>
                <a:cs typeface="Times New Roman"/>
              </a:defRPr>
            </a:defPPr>
          </a:lstStyle>
          <a:p xmlns:a="http://schemas.openxmlformats.org/drawingml/2006/main">
            <a:pPr algn="ctr">
              <a:defRPr sz="2000" b="0">
                <a:solidFill>
                  <a:srgbClr val="000000"/>
                </a:solidFill>
                <a:latin typeface="Times New Roman"/>
                <a:ea typeface="Times New Roman"/>
                <a:cs typeface="Times New Roman"/>
              </a:defRPr>
            </a:pPr>
            <a:r>
              <a:rPr sz="2000" b="0">
                <a:solidFill>
                  <a:srgbClr val="000000"/>
                </a:solidFill>
                <a:latin typeface="Times New Roman"/>
                <a:ea typeface="Times New Roman"/>
                <a:cs typeface="Times New Roman"/>
              </a:rPr>
              <a:t>Core: Next.js APIs, Zod validation and Neon PostgreSQL</a:t>
            </a:r>
          </a:p>
        </p:txBody>
      </p:sp>
      <p:sp>
        <p:nvSpPr>
          <p:cNvPr id="34" name="shape-151">
            <a:extLst xmlns:a="http://schemas.openxmlformats.org/drawingml/2006/main">
              <a:ext uri="{FF2B5EF4-FFF2-40B4-BE49-F238E27FC236}">
                <a16:creationId xmlns:a16="http://schemas.microsoft.com/office/drawing/2014/main" id="{1D39523D-F32F-4E6A-BBC5-FCBB074377BB}"/>
              </a:ext>
            </a:extLst>
          </p:cNvPr>
          <p:cNvSpPr>
            <a:spLocks xmlns:a="http://schemas.openxmlformats.org/drawingml/2006/main" noGrp="1"/>
          </p:cNvSpPr>
          <p:nvPr/>
        </p:nvSpPr>
        <p:spPr>
          <a:xfrm xmlns:a="http://schemas.openxmlformats.org/drawingml/2006/main">
            <a:off x="3365500" y="3327400"/>
            <a:ext cx="4013200" cy="1549400"/>
          </a:xfrm>
          <a:prstGeom xmlns:a="http://schemas.openxmlformats.org/drawingml/2006/main" prst="roundRect">
            <a:avLst>
              <a:gd name="adj" fmla="val 9836"/>
            </a:avLst>
          </a:prstGeom>
          <a:solidFill xmlns:a="http://schemas.openxmlformats.org/drawingml/2006/main">
            <a:srgbClr val="E0EDF6"/>
          </a:solidFill>
          <a:ln xmlns:a="http://schemas.openxmlformats.org/drawingml/2006/main" w="25400">
            <a:solidFill>
              <a:srgbClr val="000000"/>
            </a:solidFill>
            <a:prstDash val="solid"/>
          </a:ln>
        </p:spPr>
        <p:txBody>
          <a:bodyPr xmlns:a="http://schemas.openxmlformats.org/drawingml/2006/main" wrap="square" lIns="88900" tIns="88900" rIns="88900" bIns="88900" anchor="ctr">
            <a:noAutofit/>
          </a:bodyPr>
          <a:lstStyle xmlns:a="http://schemas.openxmlformats.org/drawingml/2006/main">
            <a:defPPr algn="l">
              <a:defRPr sz="1900" b="0">
                <a:solidFill>
                  <a:srgbClr val="000000"/>
                </a:solidFill>
                <a:latin typeface="Times New Roman"/>
                <a:ea typeface="Times New Roman"/>
                <a:cs typeface="Times New Roman"/>
              </a:defRPr>
            </a:defPPr>
          </a:lstStyle>
          <a:p xmlns:a="http://schemas.openxmlformats.org/drawingml/2006/main">
            <a:pPr algn="l">
              <a:defRPr sz="1900" b="0">
                <a:solidFill>
                  <a:srgbClr val="000000"/>
                </a:solidFill>
                <a:latin typeface="Times New Roman"/>
                <a:ea typeface="Times New Roman"/>
                <a:cs typeface="Times New Roman"/>
              </a:defRPr>
            </a:pPr>
            <a:r>
              <a:rPr sz="1900" b="0">
                <a:solidFill>
                  <a:srgbClr val="000000"/>
                </a:solidFill>
                <a:latin typeface="Times New Roman"/>
                <a:ea typeface="Times New Roman"/>
                <a:cs typeface="Times New Roman"/>
              </a:rPr>
              <a:t>AUTHORIZED WORKFORCE DATA</a:t>
            </a:r>
          </a:p>
          <a:p xmlns:a="http://schemas.openxmlformats.org/drawingml/2006/main">
            <a:pPr algn="l">
              <a:defRPr sz="1900" b="0">
                <a:solidFill>
                  <a:srgbClr val="000000"/>
                </a:solidFill>
                <a:latin typeface="Times New Roman"/>
                <a:ea typeface="Times New Roman"/>
                <a:cs typeface="Times New Roman"/>
              </a:defRPr>
            </a:pPr>
            <a:r>
              <a:rPr sz="1900" b="0">
                <a:solidFill>
                  <a:srgbClr val="000000"/>
                </a:solidFill>
                <a:latin typeface="Times New Roman"/>
                <a:ea typeface="Times New Roman"/>
                <a:cs typeface="Times New Roman"/>
              </a:rPr>
              <a:t>HRIS employees and assessed skills</a:t>
            </a:r>
          </a:p>
          <a:p xmlns:a="http://schemas.openxmlformats.org/drawingml/2006/main">
            <a:pPr algn="l">
              <a:defRPr sz="1900" b="0">
                <a:solidFill>
                  <a:srgbClr val="000000"/>
                </a:solidFill>
                <a:latin typeface="Times New Roman"/>
                <a:ea typeface="Times New Roman"/>
                <a:cs typeface="Times New Roman"/>
              </a:defRPr>
            </a:pPr>
            <a:r>
              <a:rPr sz="1900" b="0">
                <a:solidFill>
                  <a:srgbClr val="000000"/>
                </a:solidFill>
                <a:latin typeface="Times New Roman"/>
                <a:ea typeface="Times New Roman"/>
                <a:cs typeface="Times New Roman"/>
              </a:rPr>
              <a:t>ATS candidates and expectations</a:t>
            </a:r>
          </a:p>
          <a:p xmlns:a="http://schemas.openxmlformats.org/drawingml/2006/main">
            <a:pPr algn="l">
              <a:defRPr sz="1900" b="0">
                <a:solidFill>
                  <a:srgbClr val="000000"/>
                </a:solidFill>
                <a:latin typeface="Times New Roman"/>
                <a:ea typeface="Times New Roman"/>
                <a:cs typeface="Times New Roman"/>
              </a:defRPr>
            </a:pPr>
            <a:r>
              <a:rPr sz="1900" b="0">
                <a:solidFill>
                  <a:srgbClr val="000000"/>
                </a:solidFill>
                <a:latin typeface="Times New Roman"/>
                <a:ea typeface="Times New Roman"/>
                <a:cs typeface="Times New Roman"/>
              </a:rPr>
              <a:t>VMS contractors and reported interest</a:t>
            </a:r>
          </a:p>
        </p:txBody>
      </p:sp>
      <p:sp>
        <p:nvSpPr>
          <p:cNvPr id="35" name="shape-152">
            <a:extLst xmlns:a="http://schemas.openxmlformats.org/drawingml/2006/main">
              <a:ext uri="{FF2B5EF4-FFF2-40B4-BE49-F238E27FC236}">
                <a16:creationId xmlns:a16="http://schemas.microsoft.com/office/drawing/2014/main" id="{BA5A92F9-96F4-4FA4-AD2A-69A2C06AEB77}"/>
              </a:ext>
            </a:extLst>
          </p:cNvPr>
          <p:cNvSpPr>
            <a:spLocks xmlns:a="http://schemas.openxmlformats.org/drawingml/2006/main" noGrp="1"/>
          </p:cNvSpPr>
          <p:nvPr/>
        </p:nvSpPr>
        <p:spPr>
          <a:xfrm xmlns:a="http://schemas.openxmlformats.org/drawingml/2006/main">
            <a:off x="7607300" y="3390900"/>
            <a:ext cx="1790700" cy="1816100"/>
          </a:xfrm>
          <a:prstGeom xmlns:a="http://schemas.openxmlformats.org/drawingml/2006/main" prst="roundRect">
            <a:avLst>
              <a:gd name="adj" fmla="val 8511"/>
            </a:avLst>
          </a:prstGeom>
          <a:solidFill xmlns:a="http://schemas.openxmlformats.org/drawingml/2006/main">
            <a:srgbClr val="FFFFFF"/>
          </a:solidFill>
          <a:ln xmlns:a="http://schemas.openxmlformats.org/drawingml/2006/main" w="25400">
            <a:solidFill>
              <a:srgbClr val="214E83"/>
            </a:solidFill>
            <a:prstDash val="solid"/>
          </a:ln>
        </p:spPr>
        <p:txBody>
          <a:bodyPr xmlns:a="http://schemas.openxmlformats.org/drawingml/2006/main" wrap="square" lIns="88900" tIns="88900" rIns="88900" bIns="88900" anchor="ctr">
            <a:noAutofit/>
          </a:bodyPr>
          <a:lstStyle xmlns:a="http://schemas.openxmlformats.org/drawingml/2006/main">
            <a:defPPr algn="ctr">
              <a:defRPr sz="2000" b="1">
                <a:solidFill>
                  <a:srgbClr val="000000"/>
                </a:solidFill>
                <a:latin typeface="Times New Roman"/>
                <a:ea typeface="Times New Roman"/>
                <a:cs typeface="Times New Roman"/>
              </a:defRPr>
            </a:defPPr>
          </a:lstStyle>
          <a:p xmlns:a="http://schemas.openxmlformats.org/drawingml/2006/main">
            <a:pPr algn="ctr">
              <a:defRPr sz="2000" b="1">
                <a:solidFill>
                  <a:srgbClr val="000000"/>
                </a:solidFill>
                <a:latin typeface="Times New Roman"/>
                <a:ea typeface="Times New Roman"/>
                <a:cs typeface="Times New Roman"/>
              </a:defRPr>
            </a:pPr>
            <a:r>
              <a:rPr sz="2000" b="1">
                <a:solidFill>
                  <a:srgbClr val="000000"/>
                </a:solidFill>
                <a:latin typeface="Times New Roman"/>
                <a:ea typeface="Times New Roman"/>
                <a:cs typeface="Times New Roman"/>
              </a:rPr>
              <a:t>NEON</a:t>
            </a:r>
          </a:p>
          <a:p xmlns:a="http://schemas.openxmlformats.org/drawingml/2006/main">
            <a:pPr algn="ctr">
              <a:defRPr sz="2000" b="1">
                <a:solidFill>
                  <a:srgbClr val="000000"/>
                </a:solidFill>
                <a:latin typeface="Times New Roman"/>
                <a:ea typeface="Times New Roman"/>
                <a:cs typeface="Times New Roman"/>
              </a:defRPr>
            </a:pPr>
            <a:r>
              <a:rPr sz="2000" b="1">
                <a:solidFill>
                  <a:srgbClr val="000000"/>
                </a:solidFill>
                <a:latin typeface="Times New Roman"/>
                <a:ea typeface="Times New Roman"/>
                <a:cs typeface="Times New Roman"/>
              </a:rPr>
              <a:t>PostgreSQL</a:t>
            </a:r>
          </a:p>
          <a:p xmlns:a="http://schemas.openxmlformats.org/drawingml/2006/main">
            <a:r>
              <a:t/>
            </a:r>
          </a:p>
          <a:p xmlns:a="http://schemas.openxmlformats.org/drawingml/2006/main">
            <a:pPr algn="ctr">
              <a:defRPr sz="2000" b="1">
                <a:solidFill>
                  <a:srgbClr val="000000"/>
                </a:solidFill>
                <a:latin typeface="Times New Roman"/>
                <a:ea typeface="Times New Roman"/>
                <a:cs typeface="Times New Roman"/>
              </a:defRPr>
            </a:pPr>
            <a:r>
              <a:rPr sz="2000" b="1">
                <a:solidFill>
                  <a:srgbClr val="000000"/>
                </a:solidFill>
                <a:latin typeface="Times New Roman"/>
                <a:ea typeface="Times New Roman"/>
                <a:cs typeface="Times New Roman"/>
              </a:rPr>
              <a:t>Records</a:t>
            </a:r>
          </a:p>
          <a:p xmlns:a="http://schemas.openxmlformats.org/drawingml/2006/main">
            <a:pPr algn="ctr">
              <a:defRPr sz="2000" b="1">
                <a:solidFill>
                  <a:srgbClr val="000000"/>
                </a:solidFill>
                <a:latin typeface="Times New Roman"/>
                <a:ea typeface="Times New Roman"/>
                <a:cs typeface="Times New Roman"/>
              </a:defRPr>
            </a:pPr>
            <a:r>
              <a:rPr sz="2000" b="1">
                <a:solidFill>
                  <a:srgbClr val="000000"/>
                </a:solidFill>
                <a:latin typeface="Times New Roman"/>
                <a:ea typeface="Times New Roman"/>
                <a:cs typeface="Times New Roman"/>
              </a:rPr>
              <a:t>Provenance</a:t>
            </a:r>
          </a:p>
          <a:p xmlns:a="http://schemas.openxmlformats.org/drawingml/2006/main">
            <a:pPr algn="ctr">
              <a:defRPr sz="2000" b="1">
                <a:solidFill>
                  <a:srgbClr val="000000"/>
                </a:solidFill>
                <a:latin typeface="Times New Roman"/>
                <a:ea typeface="Times New Roman"/>
                <a:cs typeface="Times New Roman"/>
              </a:defRPr>
            </a:pPr>
            <a:r>
              <a:rPr sz="2000" b="1">
                <a:solidFill>
                  <a:srgbClr val="000000"/>
                </a:solidFill>
                <a:latin typeface="Times New Roman"/>
                <a:ea typeface="Times New Roman"/>
                <a:cs typeface="Times New Roman"/>
              </a:rPr>
              <a:t>Decisions</a:t>
            </a:r>
          </a:p>
        </p:txBody>
      </p:sp>
      <p:sp>
        <p:nvSpPr>
          <p:cNvPr id="36" name="shape-153">
            <a:extLst xmlns:a="http://schemas.openxmlformats.org/drawingml/2006/main">
              <a:ext uri="{FF2B5EF4-FFF2-40B4-BE49-F238E27FC236}">
                <a16:creationId xmlns:a16="http://schemas.microsoft.com/office/drawing/2014/main" id="{778D8A7C-2A7F-43FD-9ABD-4FFC3358BEA3}"/>
              </a:ext>
            </a:extLst>
          </p:cNvPr>
          <p:cNvSpPr>
            <a:spLocks xmlns:a="http://schemas.openxmlformats.org/drawingml/2006/main" noGrp="1"/>
          </p:cNvSpPr>
          <p:nvPr/>
        </p:nvSpPr>
        <p:spPr>
          <a:xfrm xmlns:a="http://schemas.openxmlformats.org/drawingml/2006/main">
            <a:off x="3378200" y="5194300"/>
            <a:ext cx="2794000" cy="1231900"/>
          </a:xfrm>
          <a:prstGeom xmlns:a="http://schemas.openxmlformats.org/drawingml/2006/main" prst="roundRect">
            <a:avLst>
              <a:gd name="adj" fmla="val 12371"/>
            </a:avLst>
          </a:prstGeom>
          <a:solidFill xmlns:a="http://schemas.openxmlformats.org/drawingml/2006/main">
            <a:srgbClr val="E0EDF6"/>
          </a:solidFill>
          <a:ln xmlns:a="http://schemas.openxmlformats.org/drawingml/2006/main" w="25400">
            <a:solidFill>
              <a:srgbClr val="000000"/>
            </a:solidFill>
            <a:prstDash val="solid"/>
          </a:ln>
        </p:spPr>
        <p:txBody>
          <a:bodyPr xmlns:a="http://schemas.openxmlformats.org/drawingml/2006/main" wrap="square" lIns="88900" tIns="88900" rIns="88900" bIns="88900" anchor="ctr">
            <a:noAutofit/>
          </a:bodyPr>
          <a:lstStyle xmlns:a="http://schemas.openxmlformats.org/drawingml/2006/main">
            <a:defPPr algn="l">
              <a:defRPr sz="1900" b="0">
                <a:solidFill>
                  <a:srgbClr val="000000"/>
                </a:solidFill>
                <a:latin typeface="Times New Roman"/>
                <a:ea typeface="Times New Roman"/>
                <a:cs typeface="Times New Roman"/>
              </a:defRPr>
            </a:defPPr>
          </a:lstStyle>
          <a:p xmlns:a="http://schemas.openxmlformats.org/drawingml/2006/main">
            <a:pPr algn="l">
              <a:defRPr sz="1900" b="0">
                <a:solidFill>
                  <a:srgbClr val="000000"/>
                </a:solidFill>
                <a:latin typeface="Times New Roman"/>
                <a:ea typeface="Times New Roman"/>
                <a:cs typeface="Times New Roman"/>
              </a:defRPr>
            </a:pPr>
            <a:r>
              <a:rPr sz="1900" b="0">
                <a:solidFill>
                  <a:srgbClr val="000000"/>
                </a:solidFill>
                <a:latin typeface="Times New Roman"/>
                <a:ea typeface="Times New Roman"/>
                <a:cs typeface="Times New Roman"/>
              </a:rPr>
              <a:t>OFFICIAL REFERENCE</a:t>
            </a:r>
          </a:p>
          <a:p xmlns:a="http://schemas.openxmlformats.org/drawingml/2006/main">
            <a:pPr algn="l">
              <a:defRPr sz="1900" b="0">
                <a:solidFill>
                  <a:srgbClr val="000000"/>
                </a:solidFill>
                <a:latin typeface="Times New Roman"/>
                <a:ea typeface="Times New Roman"/>
                <a:cs typeface="Times New Roman"/>
              </a:defRPr>
            </a:pPr>
            <a:r>
              <a:rPr sz="1900" b="0">
                <a:solidFill>
                  <a:srgbClr val="000000"/>
                </a:solidFill>
                <a:latin typeface="Times New Roman"/>
                <a:ea typeface="Times New Roman"/>
                <a:cs typeface="Times New Roman"/>
              </a:rPr>
              <a:t>O*NET roles and titles</a:t>
            </a:r>
          </a:p>
          <a:p xmlns:a="http://schemas.openxmlformats.org/drawingml/2006/main">
            <a:pPr algn="l">
              <a:defRPr sz="1900" b="0">
                <a:solidFill>
                  <a:srgbClr val="000000"/>
                </a:solidFill>
                <a:latin typeface="Times New Roman"/>
                <a:ea typeface="Times New Roman"/>
                <a:cs typeface="Times New Roman"/>
              </a:defRPr>
            </a:pPr>
            <a:r>
              <a:rPr sz="1900" b="0">
                <a:solidFill>
                  <a:srgbClr val="000000"/>
                </a:solidFill>
                <a:latin typeface="Times New Roman"/>
                <a:ea typeface="Times New Roman"/>
                <a:cs typeface="Times New Roman"/>
              </a:rPr>
              <a:t>Microsoft Learn modules</a:t>
            </a:r>
          </a:p>
        </p:txBody>
      </p:sp>
      <p:sp>
        <p:nvSpPr>
          <p:cNvPr id="37" name="shape-154">
            <a:extLst xmlns:a="http://schemas.openxmlformats.org/drawingml/2006/main">
              <a:ext uri="{FF2B5EF4-FFF2-40B4-BE49-F238E27FC236}">
                <a16:creationId xmlns:a16="http://schemas.microsoft.com/office/drawing/2014/main" id="{F755E239-A0D5-462E-B293-2ACFDE6031C0}"/>
              </a:ext>
            </a:extLst>
          </p:cNvPr>
          <p:cNvSpPr>
            <a:spLocks xmlns:a="http://schemas.openxmlformats.org/drawingml/2006/main" noGrp="1"/>
          </p:cNvSpPr>
          <p:nvPr/>
        </p:nvSpPr>
        <p:spPr>
          <a:xfrm xmlns:a="http://schemas.openxmlformats.org/drawingml/2006/main">
            <a:off x="6350000" y="5397500"/>
            <a:ext cx="3136900" cy="1803400"/>
          </a:xfrm>
          <a:prstGeom xmlns:a="http://schemas.openxmlformats.org/drawingml/2006/main" prst="roundRect">
            <a:avLst>
              <a:gd name="adj" fmla="val 8451"/>
            </a:avLst>
          </a:prstGeom>
          <a:solidFill xmlns:a="http://schemas.openxmlformats.org/drawingml/2006/main">
            <a:srgbClr val="E0EDF6"/>
          </a:solidFill>
          <a:ln xmlns:a="http://schemas.openxmlformats.org/drawingml/2006/main" w="25400">
            <a:solidFill>
              <a:srgbClr val="000000"/>
            </a:solidFill>
            <a:prstDash val="solid"/>
          </a:ln>
        </p:spPr>
        <p:txBody>
          <a:bodyPr xmlns:a="http://schemas.openxmlformats.org/drawingml/2006/main" wrap="square" lIns="88900" tIns="88900" rIns="88900" bIns="88900" anchor="ctr">
            <a:noAutofit/>
          </a:bodyPr>
          <a:lstStyle xmlns:a="http://schemas.openxmlformats.org/drawingml/2006/main">
            <a:defPPr algn="l">
              <a:defRPr sz="1900" b="0">
                <a:solidFill>
                  <a:srgbClr val="000000"/>
                </a:solidFill>
                <a:latin typeface="Times New Roman"/>
                <a:ea typeface="Times New Roman"/>
                <a:cs typeface="Times New Roman"/>
              </a:defRPr>
            </a:defPPr>
          </a:lstStyle>
          <a:p xmlns:a="http://schemas.openxmlformats.org/drawingml/2006/main">
            <a:pPr algn="l">
              <a:defRPr sz="1900" b="0">
                <a:solidFill>
                  <a:srgbClr val="000000"/>
                </a:solidFill>
                <a:latin typeface="Times New Roman"/>
                <a:ea typeface="Times New Roman"/>
                <a:cs typeface="Times New Roman"/>
              </a:defRPr>
            </a:pPr>
            <a:r>
              <a:rPr sz="1900" b="0">
                <a:solidFill>
                  <a:srgbClr val="000000"/>
                </a:solidFill>
                <a:latin typeface="Times New Roman"/>
                <a:ea typeface="Times New Roman"/>
                <a:cs typeface="Times New Roman"/>
              </a:rPr>
              <a:t>MARKET OBSERVATIONS</a:t>
            </a:r>
          </a:p>
          <a:p xmlns:a="http://schemas.openxmlformats.org/drawingml/2006/main">
            <a:pPr algn="l">
              <a:defRPr sz="1900" b="0">
                <a:solidFill>
                  <a:srgbClr val="000000"/>
                </a:solidFill>
                <a:latin typeface="Times New Roman"/>
                <a:ea typeface="Times New Roman"/>
                <a:cs typeface="Times New Roman"/>
              </a:defRPr>
            </a:pPr>
            <a:r>
              <a:rPr sz="1900" b="0">
                <a:solidFill>
                  <a:srgbClr val="000000"/>
                </a:solidFill>
                <a:latin typeface="Times New Roman"/>
                <a:ea typeface="Times New Roman"/>
                <a:cs typeface="Times New Roman"/>
              </a:rPr>
              <a:t>Remotive public ads</a:t>
            </a:r>
          </a:p>
          <a:p xmlns:a="http://schemas.openxmlformats.org/drawingml/2006/main">
            <a:pPr algn="l">
              <a:defRPr sz="1900" b="0">
                <a:solidFill>
                  <a:srgbClr val="000000"/>
                </a:solidFill>
                <a:latin typeface="Times New Roman"/>
                <a:ea typeface="Times New Roman"/>
                <a:cs typeface="Times New Roman"/>
              </a:defRPr>
            </a:pPr>
            <a:r>
              <a:rPr sz="1900" b="0">
                <a:solidFill>
                  <a:srgbClr val="000000"/>
                </a:solidFill>
                <a:latin typeface="Times New Roman"/>
                <a:ea typeface="Times New Roman"/>
                <a:cs typeface="Times New Roman"/>
              </a:rPr>
              <a:t>Optional Adzuna / JSON</a:t>
            </a:r>
          </a:p>
          <a:p xmlns:a="http://schemas.openxmlformats.org/drawingml/2006/main">
            <a:pPr algn="l">
              <a:defRPr sz="1900" b="0">
                <a:solidFill>
                  <a:srgbClr val="000000"/>
                </a:solidFill>
                <a:latin typeface="Times New Roman"/>
                <a:ea typeface="Times New Roman"/>
                <a:cs typeface="Times New Roman"/>
              </a:defRPr>
            </a:pPr>
            <a:r>
              <a:rPr sz="1900" b="0">
                <a:solidFill>
                  <a:srgbClr val="000000"/>
                </a:solidFill>
                <a:latin typeface="Times New Roman"/>
                <a:ea typeface="Times New Roman"/>
                <a:cs typeface="Times New Roman"/>
              </a:rPr>
              <a:t>Source date and currency</a:t>
            </a:r>
          </a:p>
        </p:txBody>
      </p:sp>
      <p:sp>
        <p:nvSpPr>
          <p:cNvPr id="38" name="text-156">
            <a:extLst xmlns:a="http://schemas.openxmlformats.org/drawingml/2006/main">
              <a:ext uri="{FF2B5EF4-FFF2-40B4-BE49-F238E27FC236}">
                <a16:creationId xmlns:a16="http://schemas.microsoft.com/office/drawing/2014/main" id="{1CBE002A-FC2B-4CED-89A0-7A5A4993C78F}"/>
              </a:ext>
            </a:extLst>
          </p:cNvPr>
          <p:cNvSpPr>
            <a:spLocks xmlns:a="http://schemas.openxmlformats.org/drawingml/2006/main" noGrp="1"/>
          </p:cNvSpPr>
          <p:nvPr/>
        </p:nvSpPr>
        <p:spPr>
          <a:xfrm xmlns:a="http://schemas.openxmlformats.org/drawingml/2006/main">
            <a:off x="3416300" y="6629400"/>
            <a:ext cx="2717800" cy="97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i="0">
                <a:solidFill>
                  <a:srgbClr val="000000"/>
                </a:solidFill>
                <a:latin typeface="Times New Roman"/>
                <a:ea typeface="Times New Roman"/>
                <a:cs typeface="Times New Roman"/>
              </a:defRPr>
            </a:defPPr>
          </a:lstStyle>
          <a:p xmlns:a="http://schemas.openxmlformats.org/drawingml/2006/main">
            <a:pPr algn="l">
              <a:defRPr sz="1800" b="0" i="0">
                <a:solidFill>
                  <a:srgbClr val="000000"/>
                </a:solidFill>
                <a:latin typeface="Times New Roman"/>
                <a:ea typeface="Times New Roman"/>
                <a:cs typeface="Times New Roman"/>
              </a:defRPr>
            </a:pPr>
            <a:r>
              <a:rPr sz="1800" b="0" i="0">
                <a:solidFill>
                  <a:srgbClr val="000000"/>
                </a:solidFill>
                <a:latin typeface="Times New Roman"/>
                <a:ea typeface="Times New Roman"/>
                <a:cs typeface="Times New Roman"/>
              </a:rPr>
              <a:t>Normalize canonical skills and reviewed aliases. Keep registrations separate from measured assessments.</a:t>
            </a:r>
          </a:p>
        </p:txBody>
      </p:sp>
      <p:sp>
        <p:nvSpPr>
          <p:cNvPr id="39" name="text-158">
            <a:extLst xmlns:a="http://schemas.openxmlformats.org/drawingml/2006/main">
              <a:ext uri="{FF2B5EF4-FFF2-40B4-BE49-F238E27FC236}">
                <a16:creationId xmlns:a16="http://schemas.microsoft.com/office/drawing/2014/main" id="{E3829B63-A1A6-4F46-9B28-43918F3B1EBA}"/>
              </a:ext>
            </a:extLst>
          </p:cNvPr>
          <p:cNvSpPr>
            <a:spLocks xmlns:a="http://schemas.openxmlformats.org/drawingml/2006/main" noGrp="1"/>
          </p:cNvSpPr>
          <p:nvPr/>
        </p:nvSpPr>
        <p:spPr>
          <a:xfrm xmlns:a="http://schemas.openxmlformats.org/drawingml/2006/main">
            <a:off x="10642600" y="1473200"/>
            <a:ext cx="2552700" cy="711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400" b="1" i="0">
                <a:solidFill>
                  <a:srgbClr val="000000"/>
                </a:solidFill>
                <a:latin typeface="Times New Roman"/>
                <a:ea typeface="Times New Roman"/>
                <a:cs typeface="Times New Roman"/>
              </a:defRPr>
            </a:defPPr>
          </a:lstStyle>
          <a:p xmlns:a="http://schemas.openxmlformats.org/drawingml/2006/main">
            <a:pPr algn="ctr">
              <a:defRPr sz="2400" b="1" i="0">
                <a:solidFill>
                  <a:srgbClr val="000000"/>
                </a:solidFill>
                <a:latin typeface="Times New Roman"/>
                <a:ea typeface="Times New Roman"/>
                <a:cs typeface="Times New Roman"/>
              </a:defRPr>
            </a:pPr>
            <a:r>
              <a:rPr sz="2400" b="1" i="0">
                <a:solidFill>
                  <a:srgbClr val="000000"/>
                </a:solidFill>
                <a:latin typeface="Times New Roman"/>
                <a:ea typeface="Times New Roman"/>
                <a:cs typeface="Times New Roman"/>
              </a:rPr>
              <a:t>Decision</a:t>
            </a:r>
          </a:p>
          <a:p xmlns:a="http://schemas.openxmlformats.org/drawingml/2006/main">
            <a:pPr algn="ctr">
              <a:defRPr sz="2400" b="1" i="0">
                <a:solidFill>
                  <a:srgbClr val="000000"/>
                </a:solidFill>
                <a:latin typeface="Times New Roman"/>
                <a:ea typeface="Times New Roman"/>
                <a:cs typeface="Times New Roman"/>
              </a:defRPr>
            </a:pPr>
            <a:r>
              <a:rPr sz="2400" b="1" i="0">
                <a:solidFill>
                  <a:srgbClr val="000000"/>
                </a:solidFill>
                <a:latin typeface="Times New Roman"/>
                <a:ea typeface="Times New Roman"/>
                <a:cs typeface="Times New Roman"/>
              </a:rPr>
              <a:t>Engine</a:t>
            </a:r>
          </a:p>
        </p:txBody>
      </p:sp>
      <p:sp>
        <p:nvSpPr>
          <p:cNvPr id="40" name="text-160">
            <a:extLst xmlns:a="http://schemas.openxmlformats.org/drawingml/2006/main">
              <a:ext uri="{FF2B5EF4-FFF2-40B4-BE49-F238E27FC236}">
                <a16:creationId xmlns:a16="http://schemas.microsoft.com/office/drawing/2014/main" id="{4BC14F1F-0C9E-4D96-AB63-CC3D1BEB7D67}"/>
              </a:ext>
            </a:extLst>
          </p:cNvPr>
          <p:cNvSpPr>
            <a:spLocks xmlns:a="http://schemas.openxmlformats.org/drawingml/2006/main" noGrp="1"/>
          </p:cNvSpPr>
          <p:nvPr/>
        </p:nvSpPr>
        <p:spPr>
          <a:xfrm xmlns:a="http://schemas.openxmlformats.org/drawingml/2006/main">
            <a:off x="10109200" y="2298700"/>
            <a:ext cx="3111500" cy="584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900" b="0" i="0">
                <a:solidFill>
                  <a:srgbClr val="000000"/>
                </a:solidFill>
                <a:latin typeface="Times New Roman"/>
                <a:ea typeface="Times New Roman"/>
                <a:cs typeface="Times New Roman"/>
              </a:defRPr>
            </a:defPPr>
          </a:lstStyle>
          <a:p xmlns:a="http://schemas.openxmlformats.org/drawingml/2006/main">
            <a:pPr algn="ctr">
              <a:defRPr sz="1900" b="0" i="0">
                <a:solidFill>
                  <a:srgbClr val="000000"/>
                </a:solidFill>
                <a:latin typeface="Times New Roman"/>
                <a:ea typeface="Times New Roman"/>
                <a:cs typeface="Times New Roman"/>
              </a:defRPr>
            </a:pPr>
            <a:r>
              <a:rPr sz="1900" b="0" i="0">
                <a:solidFill>
                  <a:srgbClr val="000000"/>
                </a:solidFill>
                <a:latin typeface="Times New Roman"/>
                <a:ea typeface="Times New Roman"/>
                <a:cs typeface="Times New Roman"/>
              </a:rPr>
              <a:t>Deterministic scoring and explicit forecast assumptions</a:t>
            </a:r>
          </a:p>
        </p:txBody>
      </p:sp>
      <p:sp>
        <p:nvSpPr>
          <p:cNvPr id="41" name="shape-161">
            <a:extLst xmlns:a="http://schemas.openxmlformats.org/drawingml/2006/main">
              <a:ext uri="{FF2B5EF4-FFF2-40B4-BE49-F238E27FC236}">
                <a16:creationId xmlns:a16="http://schemas.microsoft.com/office/drawing/2014/main" id="{FE410D6D-27CA-4DC3-86B0-E02256AD9B3D}"/>
              </a:ext>
            </a:extLst>
          </p:cNvPr>
          <p:cNvSpPr>
            <a:spLocks xmlns:a="http://schemas.openxmlformats.org/drawingml/2006/main" noGrp="1"/>
          </p:cNvSpPr>
          <p:nvPr/>
        </p:nvSpPr>
        <p:spPr>
          <a:xfrm xmlns:a="http://schemas.openxmlformats.org/drawingml/2006/main">
            <a:off x="10312400" y="3022600"/>
            <a:ext cx="2755900" cy="673100"/>
          </a:xfrm>
          <a:prstGeom xmlns:a="http://schemas.openxmlformats.org/drawingml/2006/main" prst="roundRect">
            <a:avLst>
              <a:gd name="adj" fmla="val 22642"/>
            </a:avLst>
          </a:prstGeom>
          <a:solidFill xmlns:a="http://schemas.openxmlformats.org/drawingml/2006/main">
            <a:srgbClr val="E6F3E3"/>
          </a:solidFill>
          <a:ln xmlns:a="http://schemas.openxmlformats.org/drawingml/2006/main" w="25400">
            <a:solidFill>
              <a:srgbClr val="000000"/>
            </a:solidFill>
            <a:prstDash val="solid"/>
          </a:ln>
        </p:spPr>
        <p:txBody>
          <a:bodyPr xmlns:a="http://schemas.openxmlformats.org/drawingml/2006/main" wrap="square" lIns="88900" tIns="88900" rIns="88900" bIns="88900" anchor="ctr">
            <a:noAutofit/>
          </a:bodyPr>
          <a:lstStyle xmlns:a="http://schemas.openxmlformats.org/drawingml/2006/main">
            <a:defPPr algn="ctr">
              <a:defRPr sz="1900" b="0">
                <a:solidFill>
                  <a:srgbClr val="000000"/>
                </a:solidFill>
                <a:latin typeface="Times New Roman"/>
                <a:ea typeface="Times New Roman"/>
                <a:cs typeface="Times New Roman"/>
              </a:defRPr>
            </a:defPPr>
          </a:lstStyle>
          <a:p xmlns:a="http://schemas.openxmlformats.org/drawingml/2006/main">
            <a:pPr algn="ctr">
              <a:defRPr sz="1900" b="0">
                <a:solidFill>
                  <a:srgbClr val="000000"/>
                </a:solidFill>
                <a:latin typeface="Times New Roman"/>
                <a:ea typeface="Times New Roman"/>
                <a:cs typeface="Times New Roman"/>
              </a:defRPr>
            </a:pPr>
            <a:r>
              <a:rPr sz="1900" b="0">
                <a:solidFill>
                  <a:srgbClr val="000000"/>
                </a:solidFill>
                <a:latin typeface="Times New Roman"/>
                <a:ea typeface="Times New Roman"/>
                <a:cs typeface="Times New Roman"/>
              </a:rPr>
              <a:t>Role / skill normalization</a:t>
            </a:r>
          </a:p>
        </p:txBody>
      </p:sp>
      <p:sp>
        <p:nvSpPr>
          <p:cNvPr id="42" name="shape-162">
            <a:extLst xmlns:a="http://schemas.openxmlformats.org/drawingml/2006/main">
              <a:ext uri="{FF2B5EF4-FFF2-40B4-BE49-F238E27FC236}">
                <a16:creationId xmlns:a16="http://schemas.microsoft.com/office/drawing/2014/main" id="{7AC395D5-CB6B-4ABE-A504-A54BBD9B8401}"/>
              </a:ext>
            </a:extLst>
          </p:cNvPr>
          <p:cNvSpPr>
            <a:spLocks xmlns:a="http://schemas.openxmlformats.org/drawingml/2006/main" noGrp="1"/>
          </p:cNvSpPr>
          <p:nvPr/>
        </p:nvSpPr>
        <p:spPr>
          <a:xfrm xmlns:a="http://schemas.openxmlformats.org/drawingml/2006/main">
            <a:off x="10312400" y="4000500"/>
            <a:ext cx="2755900" cy="673100"/>
          </a:xfrm>
          <a:prstGeom xmlns:a="http://schemas.openxmlformats.org/drawingml/2006/main" prst="roundRect">
            <a:avLst>
              <a:gd name="adj" fmla="val 22642"/>
            </a:avLst>
          </a:prstGeom>
          <a:solidFill xmlns:a="http://schemas.openxmlformats.org/drawingml/2006/main">
            <a:srgbClr val="E6F3E3"/>
          </a:solidFill>
          <a:ln xmlns:a="http://schemas.openxmlformats.org/drawingml/2006/main" w="25400">
            <a:solidFill>
              <a:srgbClr val="000000"/>
            </a:solidFill>
            <a:prstDash val="solid"/>
          </a:ln>
        </p:spPr>
        <p:txBody>
          <a:bodyPr xmlns:a="http://schemas.openxmlformats.org/drawingml/2006/main" wrap="square" lIns="88900" tIns="88900" rIns="88900" bIns="88900" anchor="ctr">
            <a:noAutofit/>
          </a:bodyPr>
          <a:lstStyle xmlns:a="http://schemas.openxmlformats.org/drawingml/2006/main">
            <a:defPPr algn="ctr">
              <a:defRPr sz="1900" b="0">
                <a:solidFill>
                  <a:srgbClr val="000000"/>
                </a:solidFill>
                <a:latin typeface="Times New Roman"/>
                <a:ea typeface="Times New Roman"/>
                <a:cs typeface="Times New Roman"/>
              </a:defRPr>
            </a:defPPr>
          </a:lstStyle>
          <a:p xmlns:a="http://schemas.openxmlformats.org/drawingml/2006/main">
            <a:pPr algn="ctr">
              <a:defRPr sz="1900" b="0">
                <a:solidFill>
                  <a:srgbClr val="000000"/>
                </a:solidFill>
                <a:latin typeface="Times New Roman"/>
                <a:ea typeface="Times New Roman"/>
                <a:cs typeface="Times New Roman"/>
              </a:defRPr>
            </a:pPr>
            <a:r>
              <a:rPr sz="1900" b="0">
                <a:solidFill>
                  <a:srgbClr val="000000"/>
                </a:solidFill>
                <a:latin typeface="Times New Roman"/>
                <a:ea typeface="Times New Roman"/>
                <a:cs typeface="Times New Roman"/>
              </a:rPr>
              <a:t>Internal and contractor match</a:t>
            </a:r>
          </a:p>
        </p:txBody>
      </p:sp>
      <p:cxnSp>
        <p:nvCxnSpPr>
          <p:cNvPr id="43" name="">
            <a:extLst xmlns:a="http://schemas.openxmlformats.org/drawingml/2006/main">
              <a:ext uri="{FF2B5EF4-FFF2-40B4-BE49-F238E27FC236}">
                <a16:creationId xmlns:a16="http://schemas.microsoft.com/office/drawing/2014/main" id="{70EE9D06-F272-4940-9D38-F8746CD9C69D}"/>
              </a:ext>
            </a:extLst>
          </p:cNvPr>
          <p:cNvCxnSpPr/>
          <p:nvPr/>
        </p:nvCxnSpPr>
        <p:spPr>
          <a:xfrm xmlns:a="http://schemas.openxmlformats.org/drawingml/2006/main" flipH="0" flipV="0">
            <a:off x="11690350" y="3695700"/>
            <a:ext cx="0" cy="304800"/>
          </a:xfrm>
          <a:prstGeom xmlns:a="http://schemas.openxmlformats.org/drawingml/2006/main" prst="straightConnector1">
            <a:avLst/>
          </a:prstGeom>
          <a:ln xmlns:a="http://schemas.openxmlformats.org/drawingml/2006/main" w="29210">
            <a:solidFill>
              <a:srgbClr val="000000"/>
            </a:solidFill>
            <a:prstDash val="solid"/>
            <a:tailEnd type="triangle" w="med" len="med"/>
          </a:ln>
        </p:spPr>
      </p:cxnSp>
      <p:sp>
        <p:nvSpPr>
          <p:cNvPr id="44" name="shape-163">
            <a:extLst xmlns:a="http://schemas.openxmlformats.org/drawingml/2006/main">
              <a:ext uri="{FF2B5EF4-FFF2-40B4-BE49-F238E27FC236}">
                <a16:creationId xmlns:a16="http://schemas.microsoft.com/office/drawing/2014/main" id="{71D5AD73-E9C2-4524-ADBE-9D5A7C8EA55C}"/>
              </a:ext>
            </a:extLst>
          </p:cNvPr>
          <p:cNvSpPr>
            <a:spLocks xmlns:a="http://schemas.openxmlformats.org/drawingml/2006/main" noGrp="1"/>
          </p:cNvSpPr>
          <p:nvPr/>
        </p:nvSpPr>
        <p:spPr>
          <a:xfrm xmlns:a="http://schemas.openxmlformats.org/drawingml/2006/main">
            <a:off x="10312400" y="4978400"/>
            <a:ext cx="2755900" cy="673100"/>
          </a:xfrm>
          <a:prstGeom xmlns:a="http://schemas.openxmlformats.org/drawingml/2006/main" prst="roundRect">
            <a:avLst>
              <a:gd name="adj" fmla="val 22642"/>
            </a:avLst>
          </a:prstGeom>
          <a:solidFill xmlns:a="http://schemas.openxmlformats.org/drawingml/2006/main">
            <a:srgbClr val="E6F3E3"/>
          </a:solidFill>
          <a:ln xmlns:a="http://schemas.openxmlformats.org/drawingml/2006/main" w="25400">
            <a:solidFill>
              <a:srgbClr val="000000"/>
            </a:solidFill>
            <a:prstDash val="solid"/>
          </a:ln>
        </p:spPr>
        <p:txBody>
          <a:bodyPr xmlns:a="http://schemas.openxmlformats.org/drawingml/2006/main" wrap="square" lIns="88900" tIns="88900" rIns="88900" bIns="88900" anchor="ctr">
            <a:noAutofit/>
          </a:bodyPr>
          <a:lstStyle xmlns:a="http://schemas.openxmlformats.org/drawingml/2006/main">
            <a:defPPr algn="ctr">
              <a:defRPr sz="1900" b="0">
                <a:solidFill>
                  <a:srgbClr val="000000"/>
                </a:solidFill>
                <a:latin typeface="Times New Roman"/>
                <a:ea typeface="Times New Roman"/>
                <a:cs typeface="Times New Roman"/>
              </a:defRPr>
            </a:defPPr>
          </a:lstStyle>
          <a:p xmlns:a="http://schemas.openxmlformats.org/drawingml/2006/main">
            <a:pPr algn="ctr">
              <a:defRPr sz="1900" b="0">
                <a:solidFill>
                  <a:srgbClr val="000000"/>
                </a:solidFill>
                <a:latin typeface="Times New Roman"/>
                <a:ea typeface="Times New Roman"/>
                <a:cs typeface="Times New Roman"/>
              </a:defRPr>
            </a:pPr>
            <a:r>
              <a:rPr sz="1900" b="0">
                <a:solidFill>
                  <a:srgbClr val="000000"/>
                </a:solidFill>
                <a:latin typeface="Times New Roman"/>
                <a:ea typeface="Times New Roman"/>
                <a:cs typeface="Times New Roman"/>
              </a:rPr>
              <a:t>Market / location comparison</a:t>
            </a:r>
          </a:p>
        </p:txBody>
      </p:sp>
      <p:cxnSp>
        <p:nvCxnSpPr>
          <p:cNvPr id="45" name="">
            <a:extLst xmlns:a="http://schemas.openxmlformats.org/drawingml/2006/main">
              <a:ext uri="{FF2B5EF4-FFF2-40B4-BE49-F238E27FC236}">
                <a16:creationId xmlns:a16="http://schemas.microsoft.com/office/drawing/2014/main" id="{ED5562AC-E3F4-41EA-9DDF-596474568406}"/>
              </a:ext>
            </a:extLst>
          </p:cNvPr>
          <p:cNvCxnSpPr/>
          <p:nvPr/>
        </p:nvCxnSpPr>
        <p:spPr>
          <a:xfrm xmlns:a="http://schemas.openxmlformats.org/drawingml/2006/main" flipH="0" flipV="0">
            <a:off x="11690350" y="4673600"/>
            <a:ext cx="0" cy="304800"/>
          </a:xfrm>
          <a:prstGeom xmlns:a="http://schemas.openxmlformats.org/drawingml/2006/main" prst="straightConnector1">
            <a:avLst/>
          </a:prstGeom>
          <a:ln xmlns:a="http://schemas.openxmlformats.org/drawingml/2006/main" w="29210">
            <a:solidFill>
              <a:srgbClr val="000000"/>
            </a:solidFill>
            <a:prstDash val="solid"/>
            <a:tailEnd type="triangle" w="med" len="med"/>
          </a:ln>
        </p:spPr>
      </p:cxnSp>
      <p:sp>
        <p:nvSpPr>
          <p:cNvPr id="46" name="shape-164">
            <a:extLst xmlns:a="http://schemas.openxmlformats.org/drawingml/2006/main">
              <a:ext uri="{FF2B5EF4-FFF2-40B4-BE49-F238E27FC236}">
                <a16:creationId xmlns:a16="http://schemas.microsoft.com/office/drawing/2014/main" id="{8E4DB667-F0A8-47B8-9E1E-5EFFAE77CE5A}"/>
              </a:ext>
            </a:extLst>
          </p:cNvPr>
          <p:cNvSpPr>
            <a:spLocks xmlns:a="http://schemas.openxmlformats.org/drawingml/2006/main" noGrp="1"/>
          </p:cNvSpPr>
          <p:nvPr/>
        </p:nvSpPr>
        <p:spPr>
          <a:xfrm xmlns:a="http://schemas.openxmlformats.org/drawingml/2006/main">
            <a:off x="10312400" y="5956300"/>
            <a:ext cx="2755900" cy="673100"/>
          </a:xfrm>
          <a:prstGeom xmlns:a="http://schemas.openxmlformats.org/drawingml/2006/main" prst="roundRect">
            <a:avLst>
              <a:gd name="adj" fmla="val 22642"/>
            </a:avLst>
          </a:prstGeom>
          <a:solidFill xmlns:a="http://schemas.openxmlformats.org/drawingml/2006/main">
            <a:srgbClr val="E6F3E3"/>
          </a:solidFill>
          <a:ln xmlns:a="http://schemas.openxmlformats.org/drawingml/2006/main" w="25400">
            <a:solidFill>
              <a:srgbClr val="000000"/>
            </a:solidFill>
            <a:prstDash val="solid"/>
          </a:ln>
        </p:spPr>
        <p:txBody>
          <a:bodyPr xmlns:a="http://schemas.openxmlformats.org/drawingml/2006/main" wrap="square" lIns="88900" tIns="88900" rIns="88900" bIns="88900" anchor="ctr">
            <a:noAutofit/>
          </a:bodyPr>
          <a:lstStyle xmlns:a="http://schemas.openxmlformats.org/drawingml/2006/main">
            <a:defPPr algn="ctr">
              <a:defRPr sz="1900" b="0">
                <a:solidFill>
                  <a:srgbClr val="000000"/>
                </a:solidFill>
                <a:latin typeface="Times New Roman"/>
                <a:ea typeface="Times New Roman"/>
                <a:cs typeface="Times New Roman"/>
              </a:defRPr>
            </a:defPPr>
          </a:lstStyle>
          <a:p xmlns:a="http://schemas.openxmlformats.org/drawingml/2006/main">
            <a:pPr algn="ctr">
              <a:defRPr sz="1900" b="0">
                <a:solidFill>
                  <a:srgbClr val="000000"/>
                </a:solidFill>
                <a:latin typeface="Times New Roman"/>
                <a:ea typeface="Times New Roman"/>
                <a:cs typeface="Times New Roman"/>
              </a:defRPr>
            </a:pPr>
            <a:r>
              <a:rPr sz="1900" b="0">
                <a:solidFill>
                  <a:srgbClr val="000000"/>
                </a:solidFill>
                <a:latin typeface="Times New Roman"/>
                <a:ea typeface="Times New Roman"/>
                <a:cs typeface="Times New Roman"/>
              </a:rPr>
              <a:t>Five-strategy scoring</a:t>
            </a:r>
          </a:p>
        </p:txBody>
      </p:sp>
      <p:cxnSp>
        <p:nvCxnSpPr>
          <p:cNvPr id="47" name="">
            <a:extLst xmlns:a="http://schemas.openxmlformats.org/drawingml/2006/main">
              <a:ext uri="{FF2B5EF4-FFF2-40B4-BE49-F238E27FC236}">
                <a16:creationId xmlns:a16="http://schemas.microsoft.com/office/drawing/2014/main" id="{2F33C923-2379-4878-95BF-130A5EC4BDEF}"/>
              </a:ext>
            </a:extLst>
          </p:cNvPr>
          <p:cNvCxnSpPr/>
          <p:nvPr/>
        </p:nvCxnSpPr>
        <p:spPr>
          <a:xfrm xmlns:a="http://schemas.openxmlformats.org/drawingml/2006/main" flipH="0" flipV="0">
            <a:off x="11690350" y="5651500"/>
            <a:ext cx="0" cy="304800"/>
          </a:xfrm>
          <a:prstGeom xmlns:a="http://schemas.openxmlformats.org/drawingml/2006/main" prst="straightConnector1">
            <a:avLst/>
          </a:prstGeom>
          <a:ln xmlns:a="http://schemas.openxmlformats.org/drawingml/2006/main" w="29210">
            <a:solidFill>
              <a:srgbClr val="000000"/>
            </a:solidFill>
            <a:prstDash val="solid"/>
            <a:tailEnd type="triangle" w="med" len="med"/>
          </a:ln>
        </p:spPr>
      </p:cxnSp>
      <p:sp>
        <p:nvSpPr>
          <p:cNvPr id="48" name="text-166">
            <a:extLst xmlns:a="http://schemas.openxmlformats.org/drawingml/2006/main">
              <a:ext uri="{FF2B5EF4-FFF2-40B4-BE49-F238E27FC236}">
                <a16:creationId xmlns:a16="http://schemas.microsoft.com/office/drawing/2014/main" id="{88A72920-A9FA-49F7-8CC3-2AB05F3D1DBA}"/>
              </a:ext>
            </a:extLst>
          </p:cNvPr>
          <p:cNvSpPr>
            <a:spLocks xmlns:a="http://schemas.openxmlformats.org/drawingml/2006/main" noGrp="1"/>
          </p:cNvSpPr>
          <p:nvPr/>
        </p:nvSpPr>
        <p:spPr>
          <a:xfrm xmlns:a="http://schemas.openxmlformats.org/drawingml/2006/main">
            <a:off x="10185400" y="6972300"/>
            <a:ext cx="2933700" cy="67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00" b="0" i="0">
                <a:solidFill>
                  <a:srgbClr val="000000"/>
                </a:solidFill>
                <a:latin typeface="Times New Roman"/>
                <a:ea typeface="Times New Roman"/>
                <a:cs typeface="Times New Roman"/>
              </a:defRPr>
            </a:defPPr>
          </a:lstStyle>
          <a:p xmlns:a="http://schemas.openxmlformats.org/drawingml/2006/main">
            <a:pPr algn="ctr">
              <a:defRPr sz="1800" b="0" i="0">
                <a:solidFill>
                  <a:srgbClr val="000000"/>
                </a:solidFill>
                <a:latin typeface="Times New Roman"/>
                <a:ea typeface="Times New Roman"/>
                <a:cs typeface="Times New Roman"/>
              </a:defRPr>
            </a:pPr>
            <a:r>
              <a:rPr sz="1800" b="0" i="0">
                <a:solidFill>
                  <a:srgbClr val="000000"/>
                </a:solidFill>
                <a:latin typeface="Times New Roman"/>
                <a:ea typeface="Times New Roman"/>
                <a:cs typeface="Times New Roman"/>
              </a:rPr>
              <a:t>Recheck capacity under locks before approval.</a:t>
            </a:r>
          </a:p>
        </p:txBody>
      </p:sp>
      <p:sp>
        <p:nvSpPr>
          <p:cNvPr id="49" name="text-168">
            <a:extLst xmlns:a="http://schemas.openxmlformats.org/drawingml/2006/main">
              <a:ext uri="{FF2B5EF4-FFF2-40B4-BE49-F238E27FC236}">
                <a16:creationId xmlns:a16="http://schemas.microsoft.com/office/drawing/2014/main" id="{61C4C94F-93A9-4A75-AE90-93087186C6F7}"/>
              </a:ext>
            </a:extLst>
          </p:cNvPr>
          <p:cNvSpPr>
            <a:spLocks xmlns:a="http://schemas.openxmlformats.org/drawingml/2006/main" noGrp="1"/>
          </p:cNvSpPr>
          <p:nvPr/>
        </p:nvSpPr>
        <p:spPr>
          <a:xfrm xmlns:a="http://schemas.openxmlformats.org/drawingml/2006/main">
            <a:off x="14389100" y="1473200"/>
            <a:ext cx="3632200" cy="711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500" b="1" i="0">
                <a:solidFill>
                  <a:srgbClr val="000000"/>
                </a:solidFill>
                <a:latin typeface="Times New Roman"/>
                <a:ea typeface="Times New Roman"/>
                <a:cs typeface="Times New Roman"/>
              </a:defRPr>
            </a:defPPr>
          </a:lstStyle>
          <a:p xmlns:a="http://schemas.openxmlformats.org/drawingml/2006/main">
            <a:pPr algn="ctr">
              <a:defRPr sz="2500" b="1" i="0">
                <a:solidFill>
                  <a:srgbClr val="000000"/>
                </a:solidFill>
                <a:latin typeface="Times New Roman"/>
                <a:ea typeface="Times New Roman"/>
                <a:cs typeface="Times New Roman"/>
              </a:defRPr>
            </a:pPr>
            <a:r>
              <a:rPr sz="2500" b="1" i="0">
                <a:solidFill>
                  <a:srgbClr val="000000"/>
                </a:solidFill>
                <a:latin typeface="Times New Roman"/>
                <a:ea typeface="Times New Roman"/>
                <a:cs typeface="Times New Roman"/>
              </a:rPr>
              <a:t>Human Decision</a:t>
            </a:r>
          </a:p>
          <a:p xmlns:a="http://schemas.openxmlformats.org/drawingml/2006/main">
            <a:pPr algn="ctr">
              <a:defRPr sz="2500" b="1" i="0">
                <a:solidFill>
                  <a:srgbClr val="000000"/>
                </a:solidFill>
                <a:latin typeface="Times New Roman"/>
                <a:ea typeface="Times New Roman"/>
                <a:cs typeface="Times New Roman"/>
              </a:defRPr>
            </a:pPr>
            <a:r>
              <a:rPr sz="2500" b="1" i="0">
                <a:solidFill>
                  <a:srgbClr val="000000"/>
                </a:solidFill>
                <a:latin typeface="Times New Roman"/>
                <a:ea typeface="Times New Roman"/>
                <a:cs typeface="Times New Roman"/>
              </a:rPr>
              <a:t>and Execution</a:t>
            </a:r>
          </a:p>
        </p:txBody>
      </p:sp>
      <p:sp>
        <p:nvSpPr>
          <p:cNvPr id="50" name="shape-169">
            <a:extLst xmlns:a="http://schemas.openxmlformats.org/drawingml/2006/main">
              <a:ext uri="{FF2B5EF4-FFF2-40B4-BE49-F238E27FC236}">
                <a16:creationId xmlns:a16="http://schemas.microsoft.com/office/drawing/2014/main" id="{98B13CFA-5ACE-48EC-98F2-8415FE1E8F4A}"/>
              </a:ext>
            </a:extLst>
          </p:cNvPr>
          <p:cNvSpPr>
            <a:spLocks xmlns:a="http://schemas.openxmlformats.org/drawingml/2006/main" noGrp="1"/>
          </p:cNvSpPr>
          <p:nvPr/>
        </p:nvSpPr>
        <p:spPr>
          <a:xfrm xmlns:a="http://schemas.openxmlformats.org/drawingml/2006/main">
            <a:off x="13855700" y="2413000"/>
            <a:ext cx="4152900" cy="88900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25400">
            <a:solidFill>
              <a:srgbClr val="000000"/>
            </a:solidFill>
            <a:prstDash val="solid"/>
          </a:ln>
        </p:spPr>
        <p:txBody>
          <a:bodyPr xmlns:a="http://schemas.openxmlformats.org/drawingml/2006/main" wrap="square" lIns="88900" tIns="88900" rIns="88900" bIns="88900" anchor="ctr">
            <a:noAutofit/>
          </a:bodyPr>
          <a:lstStyle xmlns:a="http://schemas.openxmlformats.org/drawingml/2006/main">
            <a:defPPr algn="ctr">
              <a:defRPr sz="2200" b="1">
                <a:solidFill>
                  <a:srgbClr val="000000"/>
                </a:solidFill>
                <a:latin typeface="Times New Roman"/>
                <a:ea typeface="Times New Roman"/>
                <a:cs typeface="Times New Roman"/>
              </a:defRPr>
            </a:defPPr>
          </a:lstStyle>
          <a:p xmlns:a="http://schemas.openxmlformats.org/drawingml/2006/main">
            <a:pPr algn="ctr">
              <a:defRPr sz="2200" b="1">
                <a:solidFill>
                  <a:srgbClr val="000000"/>
                </a:solidFill>
                <a:latin typeface="Times New Roman"/>
                <a:ea typeface="Times New Roman"/>
                <a:cs typeface="Times New Roman"/>
              </a:defRPr>
            </a:pPr>
            <a:r>
              <a:rPr sz="2200" b="1">
                <a:solidFill>
                  <a:srgbClr val="000000"/>
                </a:solidFill>
                <a:latin typeface="Times New Roman"/>
                <a:ea typeface="Times New Roman"/>
                <a:cs typeface="Times New Roman"/>
              </a:rPr>
              <a:t>BUILD     BUY     BORROW</a:t>
            </a:r>
          </a:p>
          <a:p xmlns:a="http://schemas.openxmlformats.org/drawingml/2006/main">
            <a:pPr algn="ctr">
              <a:defRPr sz="2200" b="1">
                <a:solidFill>
                  <a:srgbClr val="000000"/>
                </a:solidFill>
                <a:latin typeface="Times New Roman"/>
                <a:ea typeface="Times New Roman"/>
                <a:cs typeface="Times New Roman"/>
              </a:defRPr>
            </a:pPr>
            <a:r>
              <a:rPr sz="2200" b="1">
                <a:solidFill>
                  <a:srgbClr val="000000"/>
                </a:solidFill>
                <a:latin typeface="Times New Roman"/>
                <a:ea typeface="Times New Roman"/>
                <a:cs typeface="Times New Roman"/>
              </a:rPr>
              <a:t>AUTOMATE     RELOCATE</a:t>
            </a:r>
          </a:p>
        </p:txBody>
      </p:sp>
      <p:sp>
        <p:nvSpPr>
          <p:cNvPr id="51" name="shape-170">
            <a:extLst xmlns:a="http://schemas.openxmlformats.org/drawingml/2006/main">
              <a:ext uri="{FF2B5EF4-FFF2-40B4-BE49-F238E27FC236}">
                <a16:creationId xmlns:a16="http://schemas.microsoft.com/office/drawing/2014/main" id="{D2FC6AD6-27C4-4CFC-A564-CAFBFEA31AC1}"/>
              </a:ext>
            </a:extLst>
          </p:cNvPr>
          <p:cNvSpPr>
            <a:spLocks xmlns:a="http://schemas.openxmlformats.org/drawingml/2006/main" noGrp="1"/>
          </p:cNvSpPr>
          <p:nvPr/>
        </p:nvSpPr>
        <p:spPr>
          <a:xfrm xmlns:a="http://schemas.openxmlformats.org/drawingml/2006/main">
            <a:off x="14287500" y="3733800"/>
            <a:ext cx="3251200" cy="787400"/>
          </a:xfrm>
          <a:prstGeom xmlns:a="http://schemas.openxmlformats.org/drawingml/2006/main" prst="roundRect">
            <a:avLst>
              <a:gd name="adj" fmla="val 19355"/>
            </a:avLst>
          </a:prstGeom>
          <a:solidFill xmlns:a="http://schemas.openxmlformats.org/drawingml/2006/main">
            <a:srgbClr val="F8E7E7"/>
          </a:solidFill>
          <a:ln xmlns:a="http://schemas.openxmlformats.org/drawingml/2006/main" w="25400">
            <a:solidFill>
              <a:srgbClr val="000000"/>
            </a:solidFill>
            <a:prstDash val="solid"/>
          </a:ln>
        </p:spPr>
        <p:txBody>
          <a:bodyPr xmlns:a="http://schemas.openxmlformats.org/drawingml/2006/main" wrap="square" lIns="88900" tIns="88900" rIns="88900" bIns="88900" anchor="ctr">
            <a:noAutofit/>
          </a:bodyPr>
          <a:lstStyle xmlns:a="http://schemas.openxmlformats.org/drawingml/2006/main">
            <a:defPPr algn="ctr">
              <a:defRPr sz="2200" b="0">
                <a:solidFill>
                  <a:srgbClr val="000000"/>
                </a:solidFill>
                <a:latin typeface="Times New Roman"/>
                <a:ea typeface="Times New Roman"/>
                <a:cs typeface="Times New Roman"/>
              </a:defRPr>
            </a:defPPr>
          </a:lstStyle>
          <a:p xmlns:a="http://schemas.openxmlformats.org/drawingml/2006/main">
            <a:pPr algn="ctr">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Reviewer rationale</a:t>
            </a:r>
          </a:p>
          <a:p xmlns:a="http://schemas.openxmlformats.org/drawingml/2006/main">
            <a:pPr algn="ctr">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and saved decision brief</a:t>
            </a:r>
          </a:p>
        </p:txBody>
      </p:sp>
      <p:cxnSp>
        <p:nvCxnSpPr>
          <p:cNvPr id="52" name="">
            <a:extLst xmlns:a="http://schemas.openxmlformats.org/drawingml/2006/main">
              <a:ext uri="{FF2B5EF4-FFF2-40B4-BE49-F238E27FC236}">
                <a16:creationId xmlns:a16="http://schemas.microsoft.com/office/drawing/2014/main" id="{25FA5521-5B6C-4897-98AC-1B793AFC7D97}"/>
              </a:ext>
            </a:extLst>
          </p:cNvPr>
          <p:cNvCxnSpPr/>
          <p:nvPr/>
        </p:nvCxnSpPr>
        <p:spPr>
          <a:xfrm xmlns:a="http://schemas.openxmlformats.org/drawingml/2006/main" flipH="1" flipV="0">
            <a:off x="15913100" y="3302000"/>
            <a:ext cx="19050" cy="431800"/>
          </a:xfrm>
          <a:prstGeom xmlns:a="http://schemas.openxmlformats.org/drawingml/2006/main" prst="straightConnector1">
            <a:avLst/>
          </a:prstGeom>
          <a:ln xmlns:a="http://schemas.openxmlformats.org/drawingml/2006/main" w="29210">
            <a:solidFill>
              <a:srgbClr val="000000"/>
            </a:solidFill>
            <a:prstDash val="solid"/>
            <a:tailEnd type="triangle" w="med" len="med"/>
          </a:ln>
        </p:spPr>
      </p:cxnSp>
      <p:sp>
        <p:nvSpPr>
          <p:cNvPr id="53" name="shape-171">
            <a:extLst xmlns:a="http://schemas.openxmlformats.org/drawingml/2006/main">
              <a:ext uri="{FF2B5EF4-FFF2-40B4-BE49-F238E27FC236}">
                <a16:creationId xmlns:a16="http://schemas.microsoft.com/office/drawing/2014/main" id="{666655CB-5B40-45EB-AC17-CF53CB2052A9}"/>
              </a:ext>
            </a:extLst>
          </p:cNvPr>
          <p:cNvSpPr>
            <a:spLocks xmlns:a="http://schemas.openxmlformats.org/drawingml/2006/main" noGrp="1"/>
          </p:cNvSpPr>
          <p:nvPr/>
        </p:nvSpPr>
        <p:spPr>
          <a:xfrm xmlns:a="http://schemas.openxmlformats.org/drawingml/2006/main">
            <a:off x="14287500" y="4889500"/>
            <a:ext cx="3251200" cy="787400"/>
          </a:xfrm>
          <a:prstGeom xmlns:a="http://schemas.openxmlformats.org/drawingml/2006/main" prst="roundRect">
            <a:avLst>
              <a:gd name="adj" fmla="val 19355"/>
            </a:avLst>
          </a:prstGeom>
          <a:solidFill xmlns:a="http://schemas.openxmlformats.org/drawingml/2006/main">
            <a:srgbClr val="F8E7E7"/>
          </a:solidFill>
          <a:ln xmlns:a="http://schemas.openxmlformats.org/drawingml/2006/main" w="25400">
            <a:solidFill>
              <a:srgbClr val="000000"/>
            </a:solidFill>
            <a:prstDash val="solid"/>
          </a:ln>
        </p:spPr>
        <p:txBody>
          <a:bodyPr xmlns:a="http://schemas.openxmlformats.org/drawingml/2006/main" wrap="square" lIns="88900" tIns="88900" rIns="88900" bIns="88900" anchor="ctr">
            <a:noAutofit/>
          </a:bodyPr>
          <a:lstStyle xmlns:a="http://schemas.openxmlformats.org/drawingml/2006/main">
            <a:defPPr algn="ctr">
              <a:defRPr sz="2200" b="0">
                <a:solidFill>
                  <a:srgbClr val="000000"/>
                </a:solidFill>
                <a:latin typeface="Times New Roman"/>
                <a:ea typeface="Times New Roman"/>
                <a:cs typeface="Times New Roman"/>
              </a:defRPr>
            </a:defPPr>
          </a:lstStyle>
          <a:p xmlns:a="http://schemas.openxmlformats.org/drawingml/2006/main">
            <a:pPr algn="ctr">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Reserve capacity</a:t>
            </a:r>
          </a:p>
          <a:p xmlns:a="http://schemas.openxmlformats.org/drawingml/2006/main">
            <a:pPr algn="ctr">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Create accountable work</a:t>
            </a:r>
          </a:p>
        </p:txBody>
      </p:sp>
      <p:cxnSp>
        <p:nvCxnSpPr>
          <p:cNvPr id="54" name="">
            <a:extLst xmlns:a="http://schemas.openxmlformats.org/drawingml/2006/main">
              <a:ext uri="{FF2B5EF4-FFF2-40B4-BE49-F238E27FC236}">
                <a16:creationId xmlns:a16="http://schemas.microsoft.com/office/drawing/2014/main" id="{33234DD7-7DA6-41FE-A1A8-700A2D2D7A72}"/>
              </a:ext>
            </a:extLst>
          </p:cNvPr>
          <p:cNvCxnSpPr/>
          <p:nvPr/>
        </p:nvCxnSpPr>
        <p:spPr>
          <a:xfrm xmlns:a="http://schemas.openxmlformats.org/drawingml/2006/main" flipH="0" flipV="0">
            <a:off x="15913100" y="4521200"/>
            <a:ext cx="0" cy="368300"/>
          </a:xfrm>
          <a:prstGeom xmlns:a="http://schemas.openxmlformats.org/drawingml/2006/main" prst="straightConnector1">
            <a:avLst/>
          </a:prstGeom>
          <a:ln xmlns:a="http://schemas.openxmlformats.org/drawingml/2006/main" w="29210">
            <a:solidFill>
              <a:srgbClr val="000000"/>
            </a:solidFill>
            <a:prstDash val="solid"/>
            <a:tailEnd type="triangle" w="med" len="med"/>
          </a:ln>
        </p:spPr>
      </p:cxnSp>
      <p:sp>
        <p:nvSpPr>
          <p:cNvPr id="55" name="shape-172">
            <a:extLst xmlns:a="http://schemas.openxmlformats.org/drawingml/2006/main">
              <a:ext uri="{FF2B5EF4-FFF2-40B4-BE49-F238E27FC236}">
                <a16:creationId xmlns:a16="http://schemas.microsoft.com/office/drawing/2014/main" id="{66D90614-5B98-4490-942D-A0F76B32B5E1}"/>
              </a:ext>
            </a:extLst>
          </p:cNvPr>
          <p:cNvSpPr>
            <a:spLocks xmlns:a="http://schemas.openxmlformats.org/drawingml/2006/main" noGrp="1"/>
          </p:cNvSpPr>
          <p:nvPr/>
        </p:nvSpPr>
        <p:spPr>
          <a:xfrm xmlns:a="http://schemas.openxmlformats.org/drawingml/2006/main">
            <a:off x="14109700" y="6045200"/>
            <a:ext cx="3606800" cy="863600"/>
          </a:xfrm>
          <a:prstGeom xmlns:a="http://schemas.openxmlformats.org/drawingml/2006/main" prst="roundRect">
            <a:avLst>
              <a:gd name="adj" fmla="val 17647"/>
            </a:avLst>
          </a:prstGeom>
          <a:solidFill xmlns:a="http://schemas.openxmlformats.org/drawingml/2006/main">
            <a:srgbClr val="F8E7E7"/>
          </a:solidFill>
          <a:ln xmlns:a="http://schemas.openxmlformats.org/drawingml/2006/main" w="25400">
            <a:solidFill>
              <a:srgbClr val="000000"/>
            </a:solidFill>
            <a:prstDash val="solid"/>
          </a:ln>
        </p:spPr>
        <p:txBody>
          <a:bodyPr xmlns:a="http://schemas.openxmlformats.org/drawingml/2006/main" wrap="square" lIns="88900" tIns="88900" rIns="88900" bIns="88900" anchor="ctr">
            <a:noAutofit/>
          </a:bodyPr>
          <a:lstStyle xmlns:a="http://schemas.openxmlformats.org/drawingml/2006/main">
            <a:defPPr algn="ctr">
              <a:defRPr sz="1900" b="0">
                <a:solidFill>
                  <a:srgbClr val="000000"/>
                </a:solidFill>
                <a:latin typeface="Times New Roman"/>
                <a:ea typeface="Times New Roman"/>
                <a:cs typeface="Times New Roman"/>
              </a:defRPr>
            </a:defPPr>
          </a:lstStyle>
          <a:p xmlns:a="http://schemas.openxmlformats.org/drawingml/2006/main">
            <a:pPr algn="ctr">
              <a:defRPr sz="1900" b="0">
                <a:solidFill>
                  <a:srgbClr val="000000"/>
                </a:solidFill>
                <a:latin typeface="Times New Roman"/>
                <a:ea typeface="Times New Roman"/>
                <a:cs typeface="Times New Roman"/>
              </a:defRPr>
            </a:pPr>
            <a:r>
              <a:rPr sz="1900" b="0">
                <a:solidFill>
                  <a:srgbClr val="000000"/>
                </a:solidFill>
                <a:latin typeface="Times New Roman"/>
                <a:ea typeface="Times New Roman"/>
                <a:cs typeface="Times New Roman"/>
              </a:rPr>
              <a:t>Recruitment pipeline</a:t>
            </a:r>
          </a:p>
          <a:p xmlns:a="http://schemas.openxmlformats.org/drawingml/2006/main">
            <a:pPr algn="ctr">
              <a:defRPr sz="1900" b="0">
                <a:solidFill>
                  <a:srgbClr val="000000"/>
                </a:solidFill>
                <a:latin typeface="Times New Roman"/>
                <a:ea typeface="Times New Roman"/>
                <a:cs typeface="Times New Roman"/>
              </a:defRPr>
            </a:pPr>
            <a:r>
              <a:rPr sz="1900" b="0">
                <a:solidFill>
                  <a:srgbClr val="000000"/>
                </a:solidFill>
                <a:latin typeface="Times New Roman"/>
                <a:ea typeface="Times New Roman"/>
                <a:cs typeface="Times New Roman"/>
              </a:rPr>
              <a:t>Screen, interview, offer, hire</a:t>
            </a:r>
          </a:p>
        </p:txBody>
      </p:sp>
      <p:cxnSp>
        <p:nvCxnSpPr>
          <p:cNvPr id="56" name="">
            <a:extLst xmlns:a="http://schemas.openxmlformats.org/drawingml/2006/main">
              <a:ext uri="{FF2B5EF4-FFF2-40B4-BE49-F238E27FC236}">
                <a16:creationId xmlns:a16="http://schemas.microsoft.com/office/drawing/2014/main" id="{E01395AC-0B89-49AF-AEC7-ABC4B34FEF09}"/>
              </a:ext>
            </a:extLst>
          </p:cNvPr>
          <p:cNvCxnSpPr/>
          <p:nvPr/>
        </p:nvCxnSpPr>
        <p:spPr>
          <a:xfrm xmlns:a="http://schemas.openxmlformats.org/drawingml/2006/main" flipH="0" flipV="0">
            <a:off x="15913100" y="5676900"/>
            <a:ext cx="0" cy="368300"/>
          </a:xfrm>
          <a:prstGeom xmlns:a="http://schemas.openxmlformats.org/drawingml/2006/main" prst="straightConnector1">
            <a:avLst/>
          </a:prstGeom>
          <a:ln xmlns:a="http://schemas.openxmlformats.org/drawingml/2006/main" w="29210">
            <a:solidFill>
              <a:srgbClr val="000000"/>
            </a:solidFill>
            <a:prstDash val="solid"/>
            <a:tailEnd type="triangle" w="med" len="med"/>
          </a:ln>
        </p:spPr>
      </p:cxnSp>
      <p:sp>
        <p:nvSpPr>
          <p:cNvPr id="57" name="text-174">
            <a:extLst xmlns:a="http://schemas.openxmlformats.org/drawingml/2006/main">
              <a:ext uri="{FF2B5EF4-FFF2-40B4-BE49-F238E27FC236}">
                <a16:creationId xmlns:a16="http://schemas.microsoft.com/office/drawing/2014/main" id="{8B9C2637-A599-4EA3-84C2-F6845B7F5CE6}"/>
              </a:ext>
            </a:extLst>
          </p:cNvPr>
          <p:cNvSpPr>
            <a:spLocks xmlns:a="http://schemas.openxmlformats.org/drawingml/2006/main" noGrp="1"/>
          </p:cNvSpPr>
          <p:nvPr/>
        </p:nvSpPr>
        <p:spPr>
          <a:xfrm xmlns:a="http://schemas.openxmlformats.org/drawingml/2006/main">
            <a:off x="13906500" y="7188200"/>
            <a:ext cx="4127500" cy="31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000" b="0" i="1">
                <a:solidFill>
                  <a:srgbClr val="000000"/>
                </a:solidFill>
                <a:latin typeface="Times New Roman"/>
                <a:ea typeface="Times New Roman"/>
                <a:cs typeface="Times New Roman"/>
              </a:defRPr>
            </a:defPPr>
          </a:lstStyle>
          <a:p xmlns:a="http://schemas.openxmlformats.org/drawingml/2006/main">
            <a:pPr algn="ctr">
              <a:defRPr sz="2000" b="0" i="1">
                <a:solidFill>
                  <a:srgbClr val="000000"/>
                </a:solidFill>
                <a:latin typeface="Times New Roman"/>
                <a:ea typeface="Times New Roman"/>
                <a:cs typeface="Times New Roman"/>
              </a:defRPr>
            </a:pPr>
            <a:r>
              <a:rPr sz="2000" b="0" i="1">
                <a:solidFill>
                  <a:srgbClr val="000000"/>
                </a:solidFill>
                <a:latin typeface="Times New Roman"/>
                <a:ea typeface="Times New Roman"/>
                <a:cs typeface="Times New Roman"/>
              </a:rPr>
              <a:t>Owners record evidence and outcomes</a:t>
            </a:r>
          </a:p>
        </p:txBody>
      </p:sp>
      <p:sp>
        <p:nvSpPr>
          <p:cNvPr id="58" name="shape-175">
            <a:extLst xmlns:a="http://schemas.openxmlformats.org/drawingml/2006/main">
              <a:ext uri="{FF2B5EF4-FFF2-40B4-BE49-F238E27FC236}">
                <a16:creationId xmlns:a16="http://schemas.microsoft.com/office/drawing/2014/main" id="{23F344CD-6496-4556-95BC-53049CA4F23F}"/>
              </a:ext>
            </a:extLst>
          </p:cNvPr>
          <p:cNvSpPr>
            <a:spLocks xmlns:a="http://schemas.openxmlformats.org/drawingml/2006/main" noGrp="1"/>
          </p:cNvSpPr>
          <p:nvPr/>
        </p:nvSpPr>
        <p:spPr>
          <a:xfrm xmlns:a="http://schemas.openxmlformats.org/drawingml/2006/main">
            <a:off x="2933700" y="4470400"/>
            <a:ext cx="279400" cy="215900"/>
          </a:xfrm>
          <a:prstGeom xmlns:a="http://schemas.openxmlformats.org/drawingml/2006/main" prst="rightArrow">
            <a:avLst/>
          </a:prstGeom>
          <a:solidFill xmlns:a="http://schemas.openxmlformats.org/drawingml/2006/main">
            <a:srgbClr val="000000"/>
          </a:solidFill>
          <a:ln xmlns:a="http://schemas.openxmlformats.org/drawingml/2006/main" w="0">
            <a:noFill/>
            <a:prstDash val="solid"/>
          </a:ln>
        </p:spPr>
      </p:sp>
      <p:sp>
        <p:nvSpPr>
          <p:cNvPr id="59" name="shape-176">
            <a:extLst xmlns:a="http://schemas.openxmlformats.org/drawingml/2006/main">
              <a:ext uri="{FF2B5EF4-FFF2-40B4-BE49-F238E27FC236}">
                <a16:creationId xmlns:a16="http://schemas.microsoft.com/office/drawing/2014/main" id="{FD6980CE-1F55-4B12-B719-F785E8E71DB8}"/>
              </a:ext>
            </a:extLst>
          </p:cNvPr>
          <p:cNvSpPr>
            <a:spLocks xmlns:a="http://schemas.openxmlformats.org/drawingml/2006/main" noGrp="1"/>
          </p:cNvSpPr>
          <p:nvPr/>
        </p:nvSpPr>
        <p:spPr>
          <a:xfrm xmlns:a="http://schemas.openxmlformats.org/drawingml/2006/main">
            <a:off x="9664700" y="4470400"/>
            <a:ext cx="279400" cy="215900"/>
          </a:xfrm>
          <a:prstGeom xmlns:a="http://schemas.openxmlformats.org/drawingml/2006/main" prst="rightArrow">
            <a:avLst/>
          </a:prstGeom>
          <a:solidFill xmlns:a="http://schemas.openxmlformats.org/drawingml/2006/main">
            <a:srgbClr val="000000"/>
          </a:solidFill>
          <a:ln xmlns:a="http://schemas.openxmlformats.org/drawingml/2006/main" w="0">
            <a:noFill/>
            <a:prstDash val="solid"/>
          </a:ln>
        </p:spPr>
      </p:sp>
      <p:sp>
        <p:nvSpPr>
          <p:cNvPr id="60" name="shape-177">
            <a:extLst xmlns:a="http://schemas.openxmlformats.org/drawingml/2006/main">
              <a:ext uri="{FF2B5EF4-FFF2-40B4-BE49-F238E27FC236}">
                <a16:creationId xmlns:a16="http://schemas.microsoft.com/office/drawing/2014/main" id="{A04B4C98-F063-4C99-9F87-53DA258F4F0C}"/>
              </a:ext>
            </a:extLst>
          </p:cNvPr>
          <p:cNvSpPr>
            <a:spLocks xmlns:a="http://schemas.openxmlformats.org/drawingml/2006/main" noGrp="1"/>
          </p:cNvSpPr>
          <p:nvPr/>
        </p:nvSpPr>
        <p:spPr>
          <a:xfrm xmlns:a="http://schemas.openxmlformats.org/drawingml/2006/main">
            <a:off x="13373100" y="4470400"/>
            <a:ext cx="279400" cy="215900"/>
          </a:xfrm>
          <a:prstGeom xmlns:a="http://schemas.openxmlformats.org/drawingml/2006/main" prst="rightArrow">
            <a:avLst/>
          </a:prstGeom>
          <a:solidFill xmlns:a="http://schemas.openxmlformats.org/drawingml/2006/main">
            <a:srgbClr val="000000"/>
          </a:solidFill>
          <a:ln xmlns:a="http://schemas.openxmlformats.org/drawingml/2006/main" w="0">
            <a:noFill/>
            <a:prstDash val="solid"/>
          </a:ln>
        </p:spPr>
      </p:sp>
      <p:sp>
        <p:nvSpPr>
          <p:cNvPr id="61" name="shape-178">
            <a:extLst xmlns:a="http://schemas.openxmlformats.org/drawingml/2006/main">
              <a:ext uri="{FF2B5EF4-FFF2-40B4-BE49-F238E27FC236}">
                <a16:creationId xmlns:a16="http://schemas.microsoft.com/office/drawing/2014/main" id="{D7251BDA-5A76-4437-8065-15C1D61B7880}"/>
              </a:ext>
            </a:extLst>
          </p:cNvPr>
          <p:cNvSpPr>
            <a:spLocks xmlns:a="http://schemas.openxmlformats.org/drawingml/2006/main" noGrp="1"/>
          </p:cNvSpPr>
          <p:nvPr/>
        </p:nvSpPr>
        <p:spPr>
          <a:xfrm xmlns:a="http://schemas.openxmlformats.org/drawingml/2006/main">
            <a:off x="6819900" y="8026400"/>
            <a:ext cx="6057900" cy="698500"/>
          </a:xfrm>
          <a:prstGeom xmlns:a="http://schemas.openxmlformats.org/drawingml/2006/main" prst="roundRect">
            <a:avLst>
              <a:gd name="adj" fmla="val 50000"/>
            </a:avLst>
          </a:prstGeom>
          <a:solidFill xmlns:a="http://schemas.openxmlformats.org/drawingml/2006/main">
            <a:srgbClr val="E0EDF6"/>
          </a:solidFill>
          <a:ln xmlns:a="http://schemas.openxmlformats.org/drawingml/2006/main" w="0">
            <a:noFill/>
            <a:prstDash val="solid"/>
          </a:ln>
        </p:spPr>
        <p:txBody>
          <a:bodyPr xmlns:a="http://schemas.openxmlformats.org/drawingml/2006/main" wrap="square" lIns="88900" tIns="88900" rIns="88900" bIns="88900" anchor="ctr">
            <a:noAutofit/>
          </a:bodyPr>
          <a:lstStyle xmlns:a="http://schemas.openxmlformats.org/drawingml/2006/main">
            <a:defPPr algn="ctr">
              <a:defRPr sz="1900" b="0">
                <a:solidFill>
                  <a:srgbClr val="000000"/>
                </a:solidFill>
                <a:latin typeface="Times New Roman"/>
                <a:ea typeface="Times New Roman"/>
                <a:cs typeface="Times New Roman"/>
              </a:defRPr>
            </a:defPPr>
          </a:lstStyle>
          <a:p xmlns:a="http://schemas.openxmlformats.org/drawingml/2006/main">
            <a:pPr algn="ctr">
              <a:defRPr sz="1900" b="0">
                <a:solidFill>
                  <a:srgbClr val="000000"/>
                </a:solidFill>
                <a:latin typeface="Times New Roman"/>
                <a:ea typeface="Times New Roman"/>
                <a:cs typeface="Times New Roman"/>
              </a:defRPr>
            </a:pPr>
            <a:r>
              <a:rPr sz="1900" b="0">
                <a:solidFill>
                  <a:srgbClr val="000000"/>
                </a:solidFill>
                <a:latin typeface="Times New Roman"/>
                <a:ea typeface="Times New Roman"/>
                <a:cs typeface="Times New Roman"/>
              </a:rPr>
              <a:t>Feedback: updated assessments, learning evidence and hiring outcomes</a:t>
            </a:r>
          </a:p>
        </p:txBody>
      </p:sp>
      <p:sp>
        <p:nvSpPr>
          <p:cNvPr id="62" name="text-180">
            <a:extLst xmlns:a="http://schemas.openxmlformats.org/drawingml/2006/main">
              <a:ext uri="{FF2B5EF4-FFF2-40B4-BE49-F238E27FC236}">
                <a16:creationId xmlns:a16="http://schemas.microsoft.com/office/drawing/2014/main" id="{E0F36942-4D83-4883-896A-BB1C9A034856}"/>
              </a:ext>
            </a:extLst>
          </p:cNvPr>
          <p:cNvSpPr>
            <a:spLocks xmlns:a="http://schemas.openxmlformats.org/drawingml/2006/main" noGrp="1"/>
          </p:cNvSpPr>
          <p:nvPr/>
        </p:nvSpPr>
        <p:spPr>
          <a:xfrm xmlns:a="http://schemas.openxmlformats.org/drawingml/2006/main">
            <a:off x="152400" y="8458200"/>
            <a:ext cx="3048000" cy="31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1" i="0" u="sng">
                <a:solidFill>
                  <a:srgbClr val="000000"/>
                </a:solidFill>
                <a:latin typeface="Times New Roman"/>
                <a:ea typeface="Times New Roman"/>
                <a:cs typeface="Times New Roman"/>
              </a:defRPr>
            </a:defPPr>
          </a:lstStyle>
          <a:p xmlns:a="http://schemas.openxmlformats.org/drawingml/2006/main">
            <a:pPr algn="l">
              <a:defRPr sz="2000" b="1" i="0" u="sng">
                <a:solidFill>
                  <a:srgbClr val="000000"/>
                </a:solidFill>
                <a:latin typeface="Times New Roman"/>
                <a:ea typeface="Times New Roman"/>
                <a:cs typeface="Times New Roman"/>
              </a:defRPr>
            </a:pPr>
            <a:r>
              <a:rPr sz="2000" b="1" i="0" u="sng">
                <a:solidFill>
                  <a:srgbClr val="000000"/>
                </a:solidFill>
                <a:latin typeface="Times New Roman"/>
                <a:ea typeface="Times New Roman"/>
                <a:cs typeface="Times New Roman"/>
              </a:rPr>
              <a:t>Software Stack:</a:t>
            </a:r>
          </a:p>
        </p:txBody>
      </p:sp>
      <p:sp>
        <p:nvSpPr>
          <p:cNvPr id="63" name="text-182">
            <a:extLst xmlns:a="http://schemas.openxmlformats.org/drawingml/2006/main">
              <a:ext uri="{FF2B5EF4-FFF2-40B4-BE49-F238E27FC236}">
                <a16:creationId xmlns:a16="http://schemas.microsoft.com/office/drawing/2014/main" id="{1F925897-120E-47E2-96F7-20E810F7494E}"/>
              </a:ext>
            </a:extLst>
          </p:cNvPr>
          <p:cNvSpPr>
            <a:spLocks xmlns:a="http://schemas.openxmlformats.org/drawingml/2006/main" noGrp="1"/>
          </p:cNvSpPr>
          <p:nvPr/>
        </p:nvSpPr>
        <p:spPr>
          <a:xfrm xmlns:a="http://schemas.openxmlformats.org/drawingml/2006/main">
            <a:off x="330200" y="8801100"/>
            <a:ext cx="11087100" cy="787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i="0">
                <a:solidFill>
                  <a:srgbClr val="000000"/>
                </a:solidFill>
                <a:latin typeface="Times New Roman"/>
                <a:ea typeface="Times New Roman"/>
                <a:cs typeface="Times New Roman"/>
              </a:defRPr>
            </a:defPPr>
          </a:lstStyle>
          <a:p xmlns:a="http://schemas.openxmlformats.org/drawingml/2006/main">
            <a:pPr algn="l">
              <a:defRPr sz="1800" b="0" i="0">
                <a:solidFill>
                  <a:srgbClr val="000000"/>
                </a:solidFill>
                <a:latin typeface="Times New Roman"/>
                <a:ea typeface="Times New Roman"/>
                <a:cs typeface="Times New Roman"/>
              </a:defRPr>
            </a:pPr>
            <a:r>
              <a:rPr sz="1800" b="0" i="0">
                <a:solidFill>
                  <a:srgbClr val="000000"/>
                </a:solidFill>
                <a:latin typeface="Times New Roman"/>
                <a:ea typeface="Times New Roman"/>
                <a:cs typeface="Times New Roman"/>
              </a:rPr>
              <a:t>Next.js / React interface     TypeScript / Zod validation</a:t>
            </a:r>
          </a:p>
          <a:p xmlns:a="http://schemas.openxmlformats.org/drawingml/2006/main">
            <a:pPr algn="l">
              <a:defRPr sz="1800" b="0" i="0">
                <a:solidFill>
                  <a:srgbClr val="000000"/>
                </a:solidFill>
                <a:latin typeface="Times New Roman"/>
                <a:ea typeface="Times New Roman"/>
                <a:cs typeface="Times New Roman"/>
              </a:defRPr>
            </a:pPr>
            <a:r>
              <a:rPr sz="1800" b="0" i="0">
                <a:solidFill>
                  <a:srgbClr val="000000"/>
                </a:solidFill>
                <a:latin typeface="Times New Roman"/>
                <a:ea typeface="Times New Roman"/>
                <a:cs typeface="Times New Roman"/>
              </a:rPr>
              <a:t>PostgreSQL / Neon storage     Better Auth sessions</a:t>
            </a:r>
          </a:p>
          <a:p xmlns:a="http://schemas.openxmlformats.org/drawingml/2006/main">
            <a:pPr algn="l">
              <a:defRPr sz="1800" b="0" i="0">
                <a:solidFill>
                  <a:srgbClr val="000000"/>
                </a:solidFill>
                <a:latin typeface="Times New Roman"/>
                <a:ea typeface="Times New Roman"/>
                <a:cs typeface="Times New Roman"/>
              </a:defRPr>
            </a:pPr>
            <a:r>
              <a:rPr sz="1800" b="0" i="0">
                <a:solidFill>
                  <a:srgbClr val="000000"/>
                </a:solidFill>
                <a:latin typeface="Times New Roman"/>
                <a:ea typeface="Times New Roman"/>
                <a:cs typeface="Times New Roman"/>
              </a:rPr>
              <a:t>Optional Gemini: non-confidential requirement parsing</a:t>
            </a:r>
          </a:p>
        </p:txBody>
      </p:sp>
      <p:sp>
        <p:nvSpPr>
          <p:cNvPr id="64" name="text-184">
            <a:extLst xmlns:a="http://schemas.openxmlformats.org/drawingml/2006/main">
              <a:ext uri="{FF2B5EF4-FFF2-40B4-BE49-F238E27FC236}">
                <a16:creationId xmlns:a16="http://schemas.microsoft.com/office/drawing/2014/main" id="{9E854A59-FD87-41A8-8C38-40CE3D03246C}"/>
              </a:ext>
            </a:extLst>
          </p:cNvPr>
          <p:cNvSpPr>
            <a:spLocks xmlns:a="http://schemas.openxmlformats.org/drawingml/2006/main" noGrp="1"/>
          </p:cNvSpPr>
          <p:nvPr/>
        </p:nvSpPr>
        <p:spPr>
          <a:xfrm xmlns:a="http://schemas.openxmlformats.org/drawingml/2006/main">
            <a:off x="12014200" y="8851900"/>
            <a:ext cx="5778500" cy="67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i="0">
                <a:solidFill>
                  <a:srgbClr val="214E83"/>
                </a:solidFill>
                <a:latin typeface="Times New Roman"/>
                <a:ea typeface="Times New Roman"/>
                <a:cs typeface="Times New Roman"/>
              </a:defRPr>
            </a:defPPr>
          </a:lstStyle>
          <a:p xmlns:a="http://schemas.openxmlformats.org/drawingml/2006/main">
            <a:pPr algn="l">
              <a:defRPr sz="2100" b="0" i="0">
                <a:solidFill>
                  <a:srgbClr val="214E83"/>
                </a:solidFill>
                <a:latin typeface="Times New Roman"/>
                <a:ea typeface="Times New Roman"/>
                <a:cs typeface="Times New Roman"/>
              </a:defRPr>
            </a:pPr>
            <a:r>
              <a:rPr sz="2100" b="0" i="0">
                <a:solidFill>
                  <a:srgbClr val="214E83"/>
                </a:solidFill>
                <a:latin typeface="Times New Roman"/>
                <a:ea typeface="Times New Roman"/>
                <a:cs typeface="Times New Roman"/>
              </a:rPr>
              <a:t>Prototype workflow: /presentation</a:t>
            </a:r>
          </a:p>
          <a:p xmlns:a="http://schemas.openxmlformats.org/drawingml/2006/main">
            <a:pPr algn="l">
              <a:defRPr sz="2100" b="0" i="0">
                <a:solidFill>
                  <a:srgbClr val="214E83"/>
                </a:solidFill>
                <a:latin typeface="Times New Roman"/>
                <a:ea typeface="Times New Roman"/>
                <a:cs typeface="Times New Roman"/>
              </a:defRPr>
            </a:pPr>
            <a:r>
              <a:rPr sz="2100" b="0" i="0">
                <a:solidFill>
                  <a:srgbClr val="214E83"/>
                </a:solidFill>
                <a:latin typeface="Times New Roman"/>
                <a:ea typeface="Times New Roman"/>
                <a:cs typeface="Times New Roman"/>
              </a:rPr>
              <a:t>Private data stays in the workspace</a:t>
            </a:r>
          </a:p>
        </p:txBody>
      </p:sp>
    </p:spTree>
    <p:extLst>
      <p:ext uri="{BB962C8B-B14F-4D97-AF65-F5344CB8AC3E}">
        <p14:creationId xmlns:p14="http://schemas.microsoft.com/office/powerpoint/2010/main" val="6277486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 name="shape-185">
            <a:extLst xmlns:a="http://schemas.openxmlformats.org/drawingml/2006/main">
              <a:ext uri="{FF2B5EF4-FFF2-40B4-BE49-F238E27FC236}">
                <a16:creationId xmlns:a16="http://schemas.microsoft.com/office/drawing/2014/main" id="{9847FC16-2AE6-4B94-8249-F69C662EA3E0}"/>
              </a:ext>
            </a:extLst>
          </p:cNvPr>
          <p:cNvSpPr>
            <a:spLocks xmlns:a="http://schemas.openxmlformats.org/drawingml/2006/main" noGrp="1"/>
          </p:cNvSpPr>
          <p:nvPr/>
        </p:nvSpPr>
        <p:spPr>
          <a:xfrm xmlns:a="http://schemas.openxmlformats.org/drawingml/2006/main">
            <a:off x="127000" y="114300"/>
            <a:ext cx="1524000" cy="990600"/>
          </a:xfrm>
          <a:prstGeom xmlns:a="http://schemas.openxmlformats.org/drawingml/2006/main" prst="ellipse">
            <a:avLst/>
          </a:prstGeom>
          <a:noFill xmlns:a="http://schemas.openxmlformats.org/drawingml/2006/main"/>
          <a:ln xmlns:a="http://schemas.openxmlformats.org/drawingml/2006/main" w="30480">
            <a:solidFill>
              <a:srgbClr val="8064A2"/>
            </a:solidFill>
            <a:prstDash val="solid"/>
          </a:ln>
        </p:spPr>
      </p:sp>
      <p:sp>
        <p:nvSpPr>
          <p:cNvPr id="2" name="text-187">
            <a:extLst xmlns:a="http://schemas.openxmlformats.org/drawingml/2006/main">
              <a:ext uri="{FF2B5EF4-FFF2-40B4-BE49-F238E27FC236}">
                <a16:creationId xmlns:a16="http://schemas.microsoft.com/office/drawing/2014/main" id="{86FDC7EC-4B5E-4758-A848-C712F5E6F2C3}"/>
              </a:ext>
            </a:extLst>
          </p:cNvPr>
          <p:cNvSpPr>
            <a:spLocks xmlns:a="http://schemas.openxmlformats.org/drawingml/2006/main" noGrp="1"/>
          </p:cNvSpPr>
          <p:nvPr/>
        </p:nvSpPr>
        <p:spPr>
          <a:xfrm xmlns:a="http://schemas.openxmlformats.org/drawingml/2006/main">
            <a:off x="190500" y="381000"/>
            <a:ext cx="1397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300" b="1" i="0">
                <a:solidFill>
                  <a:srgbClr val="000000"/>
                </a:solidFill>
                <a:latin typeface="Times New Roman"/>
                <a:ea typeface="Times New Roman"/>
                <a:cs typeface="Times New Roman"/>
              </a:defRPr>
            </a:defPPr>
          </a:lstStyle>
          <a:p xmlns:a="http://schemas.openxmlformats.org/drawingml/2006/main">
            <a:pPr algn="ctr">
              <a:defRPr sz="1300" b="1" i="0">
                <a:solidFill>
                  <a:srgbClr val="000000"/>
                </a:solidFill>
                <a:latin typeface="Times New Roman"/>
                <a:ea typeface="Times New Roman"/>
                <a:cs typeface="Times New Roman"/>
              </a:defRPr>
            </a:pPr>
            <a:r>
              <a:rPr sz="1300" b="1" i="0">
                <a:solidFill>
                  <a:srgbClr val="000000"/>
                </a:solidFill>
                <a:latin typeface="Times New Roman"/>
                <a:ea typeface="Times New Roman"/>
                <a:cs typeface="Times New Roman"/>
              </a:rPr>
              <a:t>WORKFORCE</a:t>
            </a:r>
          </a:p>
          <a:p xmlns:a="http://schemas.openxmlformats.org/drawingml/2006/main">
            <a:pPr algn="ctr">
              <a:defRPr sz="1300" b="1" i="0">
                <a:solidFill>
                  <a:srgbClr val="000000"/>
                </a:solidFill>
                <a:latin typeface="Times New Roman"/>
                <a:ea typeface="Times New Roman"/>
                <a:cs typeface="Times New Roman"/>
              </a:defRPr>
            </a:pPr>
            <a:r>
              <a:rPr sz="1300" b="1" i="0">
                <a:solidFill>
                  <a:srgbClr val="000000"/>
                </a:solidFill>
                <a:latin typeface="Times New Roman"/>
                <a:ea typeface="Times New Roman"/>
                <a:cs typeface="Times New Roman"/>
              </a:rPr>
              <a:t>ADVISORY</a:t>
            </a:r>
          </a:p>
        </p:txBody>
      </p:sp>
      <p:sp>
        <p:nvSpPr>
          <p:cNvPr id="3" name="slide-title">
            <a:extLst xmlns:a="http://schemas.openxmlformats.org/drawingml/2006/main">
              <a:ext uri="{FF2B5EF4-FFF2-40B4-BE49-F238E27FC236}">
                <a16:creationId xmlns:a16="http://schemas.microsoft.com/office/drawing/2014/main" id="{D9D90063-7BA3-43AB-B239-A35583978921}"/>
              </a:ext>
            </a:extLst>
          </p:cNvPr>
          <p:cNvSpPr>
            <a:spLocks xmlns:a="http://schemas.openxmlformats.org/drawingml/2006/main" noGrp="1"/>
          </p:cNvSpPr>
          <p:nvPr/>
        </p:nvSpPr>
        <p:spPr>
          <a:xfrm xmlns:a="http://schemas.openxmlformats.org/drawingml/2006/main">
            <a:off x="1905000" y="152400"/>
            <a:ext cx="13335000" cy="850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4300" b="1" i="0">
                <a:solidFill>
                  <a:srgbClr val="000000"/>
                </a:solidFill>
                <a:latin typeface="Times New Roman"/>
                <a:ea typeface="Times New Roman"/>
                <a:cs typeface="Times New Roman"/>
              </a:defRPr>
            </a:defPPr>
          </a:lstStyle>
          <a:p xmlns:a="http://schemas.openxmlformats.org/drawingml/2006/main">
            <a:pPr algn="ctr">
              <a:defRPr sz="4300" b="1" i="0">
                <a:solidFill>
                  <a:srgbClr val="000000"/>
                </a:solidFill>
                <a:latin typeface="Times New Roman"/>
                <a:ea typeface="Times New Roman"/>
                <a:cs typeface="Times New Roman"/>
              </a:defRPr>
            </a:pPr>
            <a:r>
              <a:rPr sz="4300" b="1" i="0">
                <a:solidFill>
                  <a:srgbClr val="000000"/>
                </a:solidFill>
                <a:latin typeface="Times New Roman"/>
                <a:ea typeface="Times New Roman"/>
                <a:cs typeface="Times New Roman"/>
              </a:rPr>
              <a:t>BUSINESS SCALABILITY</a:t>
            </a:r>
          </a:p>
        </p:txBody>
      </p:sp>
      <p:sp>
        <p:nvSpPr>
          <p:cNvPr id="4" name="text-190">
            <a:extLst xmlns:a="http://schemas.openxmlformats.org/drawingml/2006/main">
              <a:ext uri="{FF2B5EF4-FFF2-40B4-BE49-F238E27FC236}">
                <a16:creationId xmlns:a16="http://schemas.microsoft.com/office/drawing/2014/main" id="{49CD0FA9-8EA3-4D9E-B2A2-07D6C6AE21EA}"/>
              </a:ext>
            </a:extLst>
          </p:cNvPr>
          <p:cNvSpPr>
            <a:spLocks xmlns:a="http://schemas.openxmlformats.org/drawingml/2006/main" noGrp="1"/>
          </p:cNvSpPr>
          <p:nvPr/>
        </p:nvSpPr>
        <p:spPr>
          <a:xfrm xmlns:a="http://schemas.openxmlformats.org/drawingml/2006/main">
            <a:off x="15557500" y="215900"/>
            <a:ext cx="2476500" cy="850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700" b="1" i="0">
                <a:solidFill>
                  <a:srgbClr val="214E83"/>
                </a:solidFill>
                <a:latin typeface="Garamond"/>
                <a:ea typeface="Garamond"/>
                <a:cs typeface="Garamond"/>
              </a:defRPr>
            </a:defPPr>
          </a:lstStyle>
          <a:p xmlns:a="http://schemas.openxmlformats.org/drawingml/2006/main">
            <a:pPr algn="ctr">
              <a:defRPr sz="2700" b="1" i="0">
                <a:solidFill>
                  <a:srgbClr val="214E83"/>
                </a:solidFill>
                <a:latin typeface="Garamond"/>
                <a:ea typeface="Garamond"/>
                <a:cs typeface="Garamond"/>
              </a:defRPr>
            </a:pPr>
            <a:r>
              <a:rPr sz="2700" b="1" i="0">
                <a:solidFill>
                  <a:srgbClr val="214E83"/>
                </a:solidFill>
                <a:latin typeface="Garamond"/>
                <a:ea typeface="Garamond"/>
                <a:cs typeface="Garamond"/>
              </a:rPr>
              <a:t>KERNEL</a:t>
            </a:r>
          </a:p>
          <a:p xmlns:a="http://schemas.openxmlformats.org/drawingml/2006/main">
            <a:pPr algn="ctr">
              <a:defRPr sz="2700" b="1" i="0">
                <a:solidFill>
                  <a:srgbClr val="214E83"/>
                </a:solidFill>
                <a:latin typeface="Garamond"/>
                <a:ea typeface="Garamond"/>
                <a:cs typeface="Garamond"/>
              </a:defRPr>
            </a:pPr>
            <a:r>
              <a:rPr sz="2700" b="1" i="0">
                <a:solidFill>
                  <a:srgbClr val="214E83"/>
                </a:solidFill>
                <a:latin typeface="Garamond"/>
                <a:ea typeface="Garamond"/>
                <a:cs typeface="Garamond"/>
              </a:rPr>
              <a:t>PRIME’26</a:t>
            </a:r>
          </a:p>
        </p:txBody>
      </p:sp>
      <p:sp>
        <p:nvSpPr>
          <p:cNvPr id="5" name="shape-191">
            <a:extLst xmlns:a="http://schemas.openxmlformats.org/drawingml/2006/main">
              <a:ext uri="{FF2B5EF4-FFF2-40B4-BE49-F238E27FC236}">
                <a16:creationId xmlns:a16="http://schemas.microsoft.com/office/drawing/2014/main" id="{D487890A-FD8E-4A83-84B5-FC2FF2725379}"/>
              </a:ext>
            </a:extLst>
          </p:cNvPr>
          <p:cNvSpPr>
            <a:spLocks xmlns:a="http://schemas.openxmlformats.org/drawingml/2006/main" noGrp="1"/>
          </p:cNvSpPr>
          <p:nvPr/>
        </p:nvSpPr>
        <p:spPr>
          <a:xfrm xmlns:a="http://schemas.openxmlformats.org/drawingml/2006/main">
            <a:off x="0" y="9690100"/>
            <a:ext cx="18288000" cy="596900"/>
          </a:xfrm>
          <a:prstGeom xmlns:a="http://schemas.openxmlformats.org/drawingml/2006/main" prst="rect">
            <a:avLst/>
          </a:prstGeom>
          <a:solidFill xmlns:a="http://schemas.openxmlformats.org/drawingml/2006/main">
            <a:srgbClr val="0071BC"/>
          </a:solidFill>
          <a:ln xmlns:a="http://schemas.openxmlformats.org/drawingml/2006/main" w="0">
            <a:noFill/>
            <a:prstDash val="solid"/>
          </a:ln>
        </p:spPr>
      </p:sp>
      <p:sp>
        <p:nvSpPr>
          <p:cNvPr id="6" name="text-193">
            <a:extLst xmlns:a="http://schemas.openxmlformats.org/drawingml/2006/main">
              <a:ext uri="{FF2B5EF4-FFF2-40B4-BE49-F238E27FC236}">
                <a16:creationId xmlns:a16="http://schemas.microsoft.com/office/drawing/2014/main" id="{DC78732A-DFB0-4757-8A40-F3E75D4AA744}"/>
              </a:ext>
            </a:extLst>
          </p:cNvPr>
          <p:cNvSpPr>
            <a:spLocks xmlns:a="http://schemas.openxmlformats.org/drawingml/2006/main" noGrp="1"/>
          </p:cNvSpPr>
          <p:nvPr/>
        </p:nvSpPr>
        <p:spPr>
          <a:xfrm xmlns:a="http://schemas.openxmlformats.org/drawingml/2006/main">
            <a:off x="17081500" y="9893300"/>
            <a:ext cx="571500" cy="25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00" b="1" i="0">
                <a:solidFill>
                  <a:srgbClr val="FFFFFF"/>
                </a:solidFill>
                <a:latin typeface="Times New Roman"/>
                <a:ea typeface="Times New Roman"/>
                <a:cs typeface="Times New Roman"/>
              </a:defRPr>
            </a:defPPr>
          </a:lstStyle>
          <a:p xmlns:a="http://schemas.openxmlformats.org/drawingml/2006/main">
            <a:pPr algn="ctr">
              <a:defRPr sz="1600" b="1" i="0">
                <a:solidFill>
                  <a:srgbClr val="FFFFFF"/>
                </a:solidFill>
                <a:latin typeface="Times New Roman"/>
                <a:ea typeface="Times New Roman"/>
                <a:cs typeface="Times New Roman"/>
              </a:defRPr>
            </a:pPr>
            <a:r>
              <a:rPr sz="1600" b="1" i="0">
                <a:solidFill>
                  <a:srgbClr val="FFFFFF"/>
                </a:solidFill>
                <a:latin typeface="Times New Roman"/>
                <a:ea typeface="Times New Roman"/>
                <a:cs typeface="Times New Roman"/>
              </a:rPr>
              <a:t>4</a:t>
            </a:r>
          </a:p>
        </p:txBody>
      </p:sp>
      <p:sp>
        <p:nvSpPr>
          <p:cNvPr id="7" name="text-195">
            <a:extLst xmlns:a="http://schemas.openxmlformats.org/drawingml/2006/main">
              <a:ext uri="{FF2B5EF4-FFF2-40B4-BE49-F238E27FC236}">
                <a16:creationId xmlns:a16="http://schemas.microsoft.com/office/drawing/2014/main" id="{52786825-513C-48E7-80B4-405C2B254924}"/>
              </a:ext>
            </a:extLst>
          </p:cNvPr>
          <p:cNvSpPr>
            <a:spLocks xmlns:a="http://schemas.openxmlformats.org/drawingml/2006/main" noGrp="1"/>
          </p:cNvSpPr>
          <p:nvPr/>
        </p:nvSpPr>
        <p:spPr>
          <a:xfrm xmlns:a="http://schemas.openxmlformats.org/drawingml/2006/main">
            <a:off x="342900" y="1181100"/>
            <a:ext cx="7531100" cy="431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600" b="1" i="0" u="sng">
                <a:solidFill>
                  <a:srgbClr val="214E83"/>
                </a:solidFill>
                <a:latin typeface="Times New Roman"/>
                <a:ea typeface="Times New Roman"/>
                <a:cs typeface="Times New Roman"/>
              </a:defRPr>
            </a:defPPr>
          </a:lstStyle>
          <a:p xmlns:a="http://schemas.openxmlformats.org/drawingml/2006/main">
            <a:pPr algn="l">
              <a:defRPr sz="2600" b="1" i="0" u="sng">
                <a:solidFill>
                  <a:srgbClr val="214E83"/>
                </a:solidFill>
                <a:latin typeface="Times New Roman"/>
                <a:ea typeface="Times New Roman"/>
                <a:cs typeface="Times New Roman"/>
              </a:defRPr>
            </a:pPr>
            <a:r>
              <a:rPr sz="2600" b="1" i="0" u="sng">
                <a:solidFill>
                  <a:srgbClr val="214E83"/>
                </a:solidFill>
                <a:latin typeface="Times New Roman"/>
                <a:ea typeface="Times New Roman"/>
                <a:cs typeface="Times New Roman"/>
              </a:rPr>
              <a:t>BUSINESS MODEL AND CUSTOMER VALUE</a:t>
            </a:r>
          </a:p>
        </p:txBody>
      </p:sp>
      <p:sp>
        <p:nvSpPr>
          <p:cNvPr id="8" name="text-197">
            <a:extLst xmlns:a="http://schemas.openxmlformats.org/drawingml/2006/main">
              <a:ext uri="{FF2B5EF4-FFF2-40B4-BE49-F238E27FC236}">
                <a16:creationId xmlns:a16="http://schemas.microsoft.com/office/drawing/2014/main" id="{E3501FBF-4800-491A-95C2-BEFD395F13B7}"/>
              </a:ext>
            </a:extLst>
          </p:cNvPr>
          <p:cNvSpPr>
            <a:spLocks xmlns:a="http://schemas.openxmlformats.org/drawingml/2006/main" noGrp="1"/>
          </p:cNvSpPr>
          <p:nvPr/>
        </p:nvSpPr>
        <p:spPr>
          <a:xfrm xmlns:a="http://schemas.openxmlformats.org/drawingml/2006/main">
            <a:off x="8648700" y="1117600"/>
            <a:ext cx="9334500" cy="48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00" b="1" i="0" u="sng">
                <a:solidFill>
                  <a:srgbClr val="214E83"/>
                </a:solidFill>
                <a:latin typeface="Times New Roman"/>
                <a:ea typeface="Times New Roman"/>
                <a:cs typeface="Times New Roman"/>
              </a:defRPr>
            </a:defPPr>
          </a:lstStyle>
          <a:p xmlns:a="http://schemas.openxmlformats.org/drawingml/2006/main">
            <a:pPr algn="l">
              <a:defRPr sz="2800" b="1" i="0" u="sng">
                <a:solidFill>
                  <a:srgbClr val="214E83"/>
                </a:solidFill>
                <a:latin typeface="Times New Roman"/>
                <a:ea typeface="Times New Roman"/>
                <a:cs typeface="Times New Roman"/>
              </a:defRPr>
            </a:pPr>
            <a:r>
              <a:rPr sz="2800" b="1" i="0" u="sng">
                <a:solidFill>
                  <a:srgbClr val="214E83"/>
                </a:solidFill>
                <a:latin typeface="Times New Roman"/>
                <a:ea typeface="Times New Roman"/>
                <a:cs typeface="Times New Roman"/>
              </a:rPr>
              <a:t>PROPOSED EXPANSION PATH</a:t>
            </a:r>
          </a:p>
        </p:txBody>
      </p:sp>
      <p:sp>
        <p:nvSpPr>
          <p:cNvPr id="9" name="shape-198">
            <a:extLst xmlns:a="http://schemas.openxmlformats.org/drawingml/2006/main">
              <a:ext uri="{FF2B5EF4-FFF2-40B4-BE49-F238E27FC236}">
                <a16:creationId xmlns:a16="http://schemas.microsoft.com/office/drawing/2014/main" id="{3C38CD03-B4B7-45FD-A3F5-E396C577DEA7}"/>
              </a:ext>
            </a:extLst>
          </p:cNvPr>
          <p:cNvSpPr>
            <a:spLocks xmlns:a="http://schemas.openxmlformats.org/drawingml/2006/main" noGrp="1"/>
          </p:cNvSpPr>
          <p:nvPr/>
        </p:nvSpPr>
        <p:spPr>
          <a:xfrm xmlns:a="http://schemas.openxmlformats.org/drawingml/2006/main">
            <a:off x="114300" y="1816100"/>
            <a:ext cx="7874000" cy="7594600"/>
          </a:xfrm>
          <a:prstGeom xmlns:a="http://schemas.openxmlformats.org/drawingml/2006/main" prst="rect">
            <a:avLst/>
          </a:prstGeom>
          <a:solidFill xmlns:a="http://schemas.openxmlformats.org/drawingml/2006/main">
            <a:srgbClr val="FFFFFF"/>
          </a:solidFill>
          <a:ln xmlns:a="http://schemas.openxmlformats.org/drawingml/2006/main" w="17780">
            <a:solidFill>
              <a:srgbClr val="000000"/>
            </a:solidFill>
            <a:prstDash val="solid"/>
          </a:ln>
        </p:spPr>
      </p:sp>
      <p:sp>
        <p:nvSpPr>
          <p:cNvPr id="10" name="text-200">
            <a:extLst xmlns:a="http://schemas.openxmlformats.org/drawingml/2006/main">
              <a:ext uri="{FF2B5EF4-FFF2-40B4-BE49-F238E27FC236}">
                <a16:creationId xmlns:a16="http://schemas.microsoft.com/office/drawing/2014/main" id="{889442A8-6019-4EB5-BF70-A4F1B8CB2DF2}"/>
              </a:ext>
            </a:extLst>
          </p:cNvPr>
          <p:cNvSpPr>
            <a:spLocks xmlns:a="http://schemas.openxmlformats.org/drawingml/2006/main" noGrp="1"/>
          </p:cNvSpPr>
          <p:nvPr/>
        </p:nvSpPr>
        <p:spPr>
          <a:xfrm xmlns:a="http://schemas.openxmlformats.org/drawingml/2006/main">
            <a:off x="368300" y="2019300"/>
            <a:ext cx="7315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00" b="1" i="0" u="sng">
                <a:solidFill>
                  <a:srgbClr val="000000"/>
                </a:solidFill>
                <a:latin typeface="Times New Roman"/>
                <a:ea typeface="Times New Roman"/>
                <a:cs typeface="Times New Roman"/>
              </a:defRPr>
            </a:defPPr>
          </a:lstStyle>
          <a:p xmlns:a="http://schemas.openxmlformats.org/drawingml/2006/main">
            <a:pPr algn="l">
              <a:defRPr sz="2300" b="1" i="0" u="sng">
                <a:solidFill>
                  <a:srgbClr val="000000"/>
                </a:solidFill>
                <a:latin typeface="Times New Roman"/>
                <a:ea typeface="Times New Roman"/>
                <a:cs typeface="Times New Roman"/>
              </a:defRPr>
            </a:pPr>
            <a:r>
              <a:rPr sz="2300" b="1" i="0" u="sng">
                <a:solidFill>
                  <a:srgbClr val="000000"/>
                </a:solidFill>
                <a:latin typeface="Times New Roman"/>
                <a:ea typeface="Times New Roman"/>
                <a:cs typeface="Times New Roman"/>
              </a:rPr>
              <a:t>Initial customers</a:t>
            </a:r>
          </a:p>
        </p:txBody>
      </p:sp>
      <p:sp>
        <p:nvSpPr>
          <p:cNvPr id="11" name="text-202">
            <a:extLst xmlns:a="http://schemas.openxmlformats.org/drawingml/2006/main">
              <a:ext uri="{FF2B5EF4-FFF2-40B4-BE49-F238E27FC236}">
                <a16:creationId xmlns:a16="http://schemas.microsoft.com/office/drawing/2014/main" id="{75C2C818-2D2A-4861-ADD2-58BD754459F1}"/>
              </a:ext>
            </a:extLst>
          </p:cNvPr>
          <p:cNvSpPr>
            <a:spLocks xmlns:a="http://schemas.openxmlformats.org/drawingml/2006/main" noGrp="1"/>
          </p:cNvSpPr>
          <p:nvPr/>
        </p:nvSpPr>
        <p:spPr>
          <a:xfrm xmlns:a="http://schemas.openxmlformats.org/drawingml/2006/main">
            <a:off x="368300" y="2476500"/>
            <a:ext cx="7315200" cy="86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i="0">
                <a:solidFill>
                  <a:srgbClr val="000000"/>
                </a:solidFill>
                <a:latin typeface="Times New Roman"/>
                <a:ea typeface="Times New Roman"/>
                <a:cs typeface="Times New Roman"/>
              </a:defRPr>
            </a:defPPr>
          </a:lstStyle>
          <a:p xmlns:a="http://schemas.openxmlformats.org/drawingml/2006/main">
            <a:pPr algn="l">
              <a:defRPr sz="2100" b="0" i="0">
                <a:solidFill>
                  <a:srgbClr val="000000"/>
                </a:solidFill>
                <a:latin typeface="Times New Roman"/>
                <a:ea typeface="Times New Roman"/>
                <a:cs typeface="Times New Roman"/>
              </a:defRPr>
            </a:pPr>
            <a:r>
              <a:rPr sz="2100" b="0" i="0">
                <a:solidFill>
                  <a:srgbClr val="000000"/>
                </a:solidFill>
                <a:latin typeface="Times New Roman"/>
                <a:ea typeface="Times New Roman"/>
                <a:cs typeface="Times New Roman"/>
              </a:rPr>
              <a:t>HR teams in IT services, staffing firms and growing enterprises. Begin with one department and its authorized records.</a:t>
            </a:r>
          </a:p>
        </p:txBody>
      </p:sp>
      <p:sp>
        <p:nvSpPr>
          <p:cNvPr id="12" name="text-204">
            <a:extLst xmlns:a="http://schemas.openxmlformats.org/drawingml/2006/main">
              <a:ext uri="{FF2B5EF4-FFF2-40B4-BE49-F238E27FC236}">
                <a16:creationId xmlns:a16="http://schemas.microsoft.com/office/drawing/2014/main" id="{1D00D95C-4B1C-4A7A-ACBA-2D9EB2885628}"/>
              </a:ext>
            </a:extLst>
          </p:cNvPr>
          <p:cNvSpPr>
            <a:spLocks xmlns:a="http://schemas.openxmlformats.org/drawingml/2006/main" noGrp="1"/>
          </p:cNvSpPr>
          <p:nvPr/>
        </p:nvSpPr>
        <p:spPr>
          <a:xfrm xmlns:a="http://schemas.openxmlformats.org/drawingml/2006/main">
            <a:off x="368300" y="3416300"/>
            <a:ext cx="7315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00" b="1" i="0" u="sng">
                <a:solidFill>
                  <a:srgbClr val="000000"/>
                </a:solidFill>
                <a:latin typeface="Times New Roman"/>
                <a:ea typeface="Times New Roman"/>
                <a:cs typeface="Times New Roman"/>
              </a:defRPr>
            </a:defPPr>
          </a:lstStyle>
          <a:p xmlns:a="http://schemas.openxmlformats.org/drawingml/2006/main">
            <a:pPr algn="l">
              <a:defRPr sz="2300" b="1" i="0" u="sng">
                <a:solidFill>
                  <a:srgbClr val="000000"/>
                </a:solidFill>
                <a:latin typeface="Times New Roman"/>
                <a:ea typeface="Times New Roman"/>
                <a:cs typeface="Times New Roman"/>
              </a:defRPr>
            </a:pPr>
            <a:r>
              <a:rPr sz="2300" b="1" i="0" u="sng">
                <a:solidFill>
                  <a:srgbClr val="000000"/>
                </a:solidFill>
                <a:latin typeface="Times New Roman"/>
                <a:ea typeface="Times New Roman"/>
                <a:cs typeface="Times New Roman"/>
              </a:rPr>
              <a:t>Value proposition</a:t>
            </a:r>
          </a:p>
        </p:txBody>
      </p:sp>
      <p:sp>
        <p:nvSpPr>
          <p:cNvPr id="13" name="text-206">
            <a:extLst xmlns:a="http://schemas.openxmlformats.org/drawingml/2006/main">
              <a:ext uri="{FF2B5EF4-FFF2-40B4-BE49-F238E27FC236}">
                <a16:creationId xmlns:a16="http://schemas.microsoft.com/office/drawing/2014/main" id="{69A66F96-534D-4CC7-8671-8B4559742DBB}"/>
              </a:ext>
            </a:extLst>
          </p:cNvPr>
          <p:cNvSpPr>
            <a:spLocks xmlns:a="http://schemas.openxmlformats.org/drawingml/2006/main" noGrp="1"/>
          </p:cNvSpPr>
          <p:nvPr/>
        </p:nvSpPr>
        <p:spPr>
          <a:xfrm xmlns:a="http://schemas.openxmlformats.org/drawingml/2006/main">
            <a:off x="368300" y="3873500"/>
            <a:ext cx="7315200" cy="86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i="0">
                <a:solidFill>
                  <a:srgbClr val="000000"/>
                </a:solidFill>
                <a:latin typeface="Times New Roman"/>
                <a:ea typeface="Times New Roman"/>
                <a:cs typeface="Times New Roman"/>
              </a:defRPr>
            </a:defPPr>
          </a:lstStyle>
          <a:p xmlns:a="http://schemas.openxmlformats.org/drawingml/2006/main">
            <a:pPr algn="l">
              <a:defRPr sz="2100" b="0" i="0">
                <a:solidFill>
                  <a:srgbClr val="000000"/>
                </a:solidFill>
                <a:latin typeface="Times New Roman"/>
                <a:ea typeface="Times New Roman"/>
                <a:cs typeface="Times New Roman"/>
              </a:defRPr>
            </a:pPr>
            <a:r>
              <a:rPr sz="2100" b="0" i="0">
                <a:solidFill>
                  <a:srgbClr val="000000"/>
                </a:solidFill>
                <a:latin typeface="Times New Roman"/>
                <a:ea typeface="Times New Roman"/>
                <a:cs typeface="Times New Roman"/>
              </a:rPr>
              <a:t>Compare internal development, contractor capacity and external sourcing before committing a requisition or budget.</a:t>
            </a:r>
          </a:p>
        </p:txBody>
      </p:sp>
      <p:sp>
        <p:nvSpPr>
          <p:cNvPr id="14" name="text-208">
            <a:extLst xmlns:a="http://schemas.openxmlformats.org/drawingml/2006/main">
              <a:ext uri="{FF2B5EF4-FFF2-40B4-BE49-F238E27FC236}">
                <a16:creationId xmlns:a16="http://schemas.microsoft.com/office/drawing/2014/main" id="{C458AB68-01D1-417D-81A6-8A873A3C35C5}"/>
              </a:ext>
            </a:extLst>
          </p:cNvPr>
          <p:cNvSpPr>
            <a:spLocks xmlns:a="http://schemas.openxmlformats.org/drawingml/2006/main" noGrp="1"/>
          </p:cNvSpPr>
          <p:nvPr/>
        </p:nvSpPr>
        <p:spPr>
          <a:xfrm xmlns:a="http://schemas.openxmlformats.org/drawingml/2006/main">
            <a:off x="368300" y="4813300"/>
            <a:ext cx="7315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00" b="1" i="0" u="sng">
                <a:solidFill>
                  <a:srgbClr val="000000"/>
                </a:solidFill>
                <a:latin typeface="Times New Roman"/>
                <a:ea typeface="Times New Roman"/>
                <a:cs typeface="Times New Roman"/>
              </a:defRPr>
            </a:defPPr>
          </a:lstStyle>
          <a:p xmlns:a="http://schemas.openxmlformats.org/drawingml/2006/main">
            <a:pPr algn="l">
              <a:defRPr sz="2300" b="1" i="0" u="sng">
                <a:solidFill>
                  <a:srgbClr val="000000"/>
                </a:solidFill>
                <a:latin typeface="Times New Roman"/>
                <a:ea typeface="Times New Roman"/>
                <a:cs typeface="Times New Roman"/>
              </a:defRPr>
            </a:pPr>
            <a:r>
              <a:rPr sz="2300" b="1" i="0" u="sng">
                <a:solidFill>
                  <a:srgbClr val="000000"/>
                </a:solidFill>
                <a:latin typeface="Times New Roman"/>
                <a:ea typeface="Times New Roman"/>
                <a:cs typeface="Times New Roman"/>
              </a:rPr>
              <a:t>Proposed revenue model</a:t>
            </a:r>
          </a:p>
        </p:txBody>
      </p:sp>
      <p:sp>
        <p:nvSpPr>
          <p:cNvPr id="15" name="text-210">
            <a:extLst xmlns:a="http://schemas.openxmlformats.org/drawingml/2006/main">
              <a:ext uri="{FF2B5EF4-FFF2-40B4-BE49-F238E27FC236}">
                <a16:creationId xmlns:a16="http://schemas.microsoft.com/office/drawing/2014/main" id="{BE17E787-9551-46EB-AC80-A2A68EB4893F}"/>
              </a:ext>
            </a:extLst>
          </p:cNvPr>
          <p:cNvSpPr>
            <a:spLocks xmlns:a="http://schemas.openxmlformats.org/drawingml/2006/main" noGrp="1"/>
          </p:cNvSpPr>
          <p:nvPr/>
        </p:nvSpPr>
        <p:spPr>
          <a:xfrm xmlns:a="http://schemas.openxmlformats.org/drawingml/2006/main">
            <a:off x="368300" y="5270500"/>
            <a:ext cx="7315200" cy="86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i="0">
                <a:solidFill>
                  <a:srgbClr val="000000"/>
                </a:solidFill>
                <a:latin typeface="Times New Roman"/>
                <a:ea typeface="Times New Roman"/>
                <a:cs typeface="Times New Roman"/>
              </a:defRPr>
            </a:defPPr>
          </a:lstStyle>
          <a:p xmlns:a="http://schemas.openxmlformats.org/drawingml/2006/main">
            <a:pPr algn="l">
              <a:defRPr sz="2100" b="0" i="0">
                <a:solidFill>
                  <a:srgbClr val="000000"/>
                </a:solidFill>
                <a:latin typeface="Times New Roman"/>
                <a:ea typeface="Times New Roman"/>
                <a:cs typeface="Times New Roman"/>
              </a:defRPr>
            </a:pPr>
            <a:r>
              <a:rPr sz="2100" b="0" i="0">
                <a:solidFill>
                  <a:srgbClr val="000000"/>
                </a:solidFill>
                <a:latin typeface="Times New Roman"/>
                <a:ea typeface="Times New Roman"/>
                <a:cs typeface="Times New Roman"/>
              </a:rPr>
              <a:t>Workspace subscriptions, with optional integration and onboarding services. Pricing requires a customer pilot and cost validation.</a:t>
            </a:r>
          </a:p>
        </p:txBody>
      </p:sp>
      <p:sp>
        <p:nvSpPr>
          <p:cNvPr id="16" name="text-212">
            <a:extLst xmlns:a="http://schemas.openxmlformats.org/drawingml/2006/main">
              <a:ext uri="{FF2B5EF4-FFF2-40B4-BE49-F238E27FC236}">
                <a16:creationId xmlns:a16="http://schemas.microsoft.com/office/drawing/2014/main" id="{DD1F4040-A9C1-4C5D-8E9E-54AFFF5B7F2C}"/>
              </a:ext>
            </a:extLst>
          </p:cNvPr>
          <p:cNvSpPr>
            <a:spLocks xmlns:a="http://schemas.openxmlformats.org/drawingml/2006/main" noGrp="1"/>
          </p:cNvSpPr>
          <p:nvPr/>
        </p:nvSpPr>
        <p:spPr>
          <a:xfrm xmlns:a="http://schemas.openxmlformats.org/drawingml/2006/main">
            <a:off x="368300" y="6210300"/>
            <a:ext cx="7315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00" b="1" i="0" u="sng">
                <a:solidFill>
                  <a:srgbClr val="000000"/>
                </a:solidFill>
                <a:latin typeface="Times New Roman"/>
                <a:ea typeface="Times New Roman"/>
                <a:cs typeface="Times New Roman"/>
              </a:defRPr>
            </a:defPPr>
          </a:lstStyle>
          <a:p xmlns:a="http://schemas.openxmlformats.org/drawingml/2006/main">
            <a:pPr algn="l">
              <a:defRPr sz="2300" b="1" i="0" u="sng">
                <a:solidFill>
                  <a:srgbClr val="000000"/>
                </a:solidFill>
                <a:latin typeface="Times New Roman"/>
                <a:ea typeface="Times New Roman"/>
                <a:cs typeface="Times New Roman"/>
              </a:defRPr>
            </a:pPr>
            <a:r>
              <a:rPr sz="2300" b="1" i="0" u="sng">
                <a:solidFill>
                  <a:srgbClr val="000000"/>
                </a:solidFill>
                <a:latin typeface="Times New Roman"/>
                <a:ea typeface="Times New Roman"/>
                <a:cs typeface="Times New Roman"/>
              </a:rPr>
              <a:t>Adoption and retention</a:t>
            </a:r>
          </a:p>
        </p:txBody>
      </p:sp>
      <p:sp>
        <p:nvSpPr>
          <p:cNvPr id="17" name="text-214">
            <a:extLst xmlns:a="http://schemas.openxmlformats.org/drawingml/2006/main">
              <a:ext uri="{FF2B5EF4-FFF2-40B4-BE49-F238E27FC236}">
                <a16:creationId xmlns:a16="http://schemas.microsoft.com/office/drawing/2014/main" id="{749688C3-673C-42D1-9521-2E73E8059A1D}"/>
              </a:ext>
            </a:extLst>
          </p:cNvPr>
          <p:cNvSpPr>
            <a:spLocks xmlns:a="http://schemas.openxmlformats.org/drawingml/2006/main" noGrp="1"/>
          </p:cNvSpPr>
          <p:nvPr/>
        </p:nvSpPr>
        <p:spPr>
          <a:xfrm xmlns:a="http://schemas.openxmlformats.org/drawingml/2006/main">
            <a:off x="368300" y="6667500"/>
            <a:ext cx="7315200" cy="86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i="0">
                <a:solidFill>
                  <a:srgbClr val="000000"/>
                </a:solidFill>
                <a:latin typeface="Times New Roman"/>
                <a:ea typeface="Times New Roman"/>
                <a:cs typeface="Times New Roman"/>
              </a:defRPr>
            </a:defPPr>
          </a:lstStyle>
          <a:p xmlns:a="http://schemas.openxmlformats.org/drawingml/2006/main">
            <a:pPr algn="l">
              <a:defRPr sz="2100" b="0" i="0">
                <a:solidFill>
                  <a:srgbClr val="000000"/>
                </a:solidFill>
                <a:latin typeface="Times New Roman"/>
                <a:ea typeface="Times New Roman"/>
                <a:cs typeface="Times New Roman"/>
              </a:defRPr>
            </a:pPr>
            <a:r>
              <a:rPr sz="2100" b="0" i="0">
                <a:solidFill>
                  <a:srgbClr val="000000"/>
                </a:solidFill>
                <a:latin typeface="Times New Roman"/>
                <a:ea typeface="Times New Roman"/>
                <a:cs typeface="Times New Roman"/>
              </a:rPr>
              <a:t>Begin with mapped exports, then extend to approved connectors. Measure realized outcomes against the customer’s baseline.</a:t>
            </a:r>
          </a:p>
        </p:txBody>
      </p:sp>
      <p:sp>
        <p:nvSpPr>
          <p:cNvPr id="18" name="text-216">
            <a:extLst xmlns:a="http://schemas.openxmlformats.org/drawingml/2006/main">
              <a:ext uri="{FF2B5EF4-FFF2-40B4-BE49-F238E27FC236}">
                <a16:creationId xmlns:a16="http://schemas.microsoft.com/office/drawing/2014/main" id="{B75C121A-F46A-44D1-99FE-B044FD2D5EC8}"/>
              </a:ext>
            </a:extLst>
          </p:cNvPr>
          <p:cNvSpPr>
            <a:spLocks xmlns:a="http://schemas.openxmlformats.org/drawingml/2006/main" noGrp="1"/>
          </p:cNvSpPr>
          <p:nvPr/>
        </p:nvSpPr>
        <p:spPr>
          <a:xfrm xmlns:a="http://schemas.openxmlformats.org/drawingml/2006/main">
            <a:off x="368300" y="7607300"/>
            <a:ext cx="7315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00" b="1" i="0" u="sng">
                <a:solidFill>
                  <a:srgbClr val="000000"/>
                </a:solidFill>
                <a:latin typeface="Times New Roman"/>
                <a:ea typeface="Times New Roman"/>
                <a:cs typeface="Times New Roman"/>
              </a:defRPr>
            </a:defPPr>
          </a:lstStyle>
          <a:p xmlns:a="http://schemas.openxmlformats.org/drawingml/2006/main">
            <a:pPr algn="l">
              <a:defRPr sz="2300" b="1" i="0" u="sng">
                <a:solidFill>
                  <a:srgbClr val="000000"/>
                </a:solidFill>
                <a:latin typeface="Times New Roman"/>
                <a:ea typeface="Times New Roman"/>
                <a:cs typeface="Times New Roman"/>
              </a:defRPr>
            </a:pPr>
            <a:r>
              <a:rPr sz="2300" b="1" i="0" u="sng">
                <a:solidFill>
                  <a:srgbClr val="000000"/>
                </a:solidFill>
                <a:latin typeface="Times New Roman"/>
                <a:ea typeface="Times New Roman"/>
                <a:cs typeface="Times New Roman"/>
              </a:rPr>
              <a:t>Scale requirements</a:t>
            </a:r>
          </a:p>
        </p:txBody>
      </p:sp>
      <p:sp>
        <p:nvSpPr>
          <p:cNvPr id="19" name="text-218">
            <a:extLst xmlns:a="http://schemas.openxmlformats.org/drawingml/2006/main">
              <a:ext uri="{FF2B5EF4-FFF2-40B4-BE49-F238E27FC236}">
                <a16:creationId xmlns:a16="http://schemas.microsoft.com/office/drawing/2014/main" id="{4A90ACB0-FFA3-4EA3-8A90-D07D871D8054}"/>
              </a:ext>
            </a:extLst>
          </p:cNvPr>
          <p:cNvSpPr>
            <a:spLocks xmlns:a="http://schemas.openxmlformats.org/drawingml/2006/main" noGrp="1"/>
          </p:cNvSpPr>
          <p:nvPr/>
        </p:nvSpPr>
        <p:spPr>
          <a:xfrm xmlns:a="http://schemas.openxmlformats.org/drawingml/2006/main">
            <a:off x="368300" y="8064500"/>
            <a:ext cx="7315200" cy="86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i="0">
                <a:solidFill>
                  <a:srgbClr val="000000"/>
                </a:solidFill>
                <a:latin typeface="Times New Roman"/>
                <a:ea typeface="Times New Roman"/>
                <a:cs typeface="Times New Roman"/>
              </a:defRPr>
            </a:defPPr>
          </a:lstStyle>
          <a:p xmlns:a="http://schemas.openxmlformats.org/drawingml/2006/main">
            <a:pPr algn="l">
              <a:defRPr sz="2100" b="0" i="0">
                <a:solidFill>
                  <a:srgbClr val="000000"/>
                </a:solidFill>
                <a:latin typeface="Times New Roman"/>
                <a:ea typeface="Times New Roman"/>
                <a:cs typeface="Times New Roman"/>
              </a:defRPr>
            </a:pPr>
            <a:r>
              <a:rPr sz="2100" b="0" i="0">
                <a:solidFill>
                  <a:srgbClr val="000000"/>
                </a:solidFill>
                <a:latin typeface="Times New Roman"/>
                <a:ea typeface="Times New Roman"/>
                <a:cs typeface="Times New Roman"/>
              </a:rPr>
              <a:t>Shared tenant roles, background ingestion, vendor API scopes, monitoring, backups and formal production verification.</a:t>
            </a:r>
          </a:p>
        </p:txBody>
      </p:sp>
      <p:sp>
        <p:nvSpPr>
          <p:cNvPr id="20" name="shape-219">
            <a:extLst xmlns:a="http://schemas.openxmlformats.org/drawingml/2006/main">
              <a:ext uri="{FF2B5EF4-FFF2-40B4-BE49-F238E27FC236}">
                <a16:creationId xmlns:a16="http://schemas.microsoft.com/office/drawing/2014/main" id="{20464DD2-029C-49BC-81BA-8629A05A8214}"/>
              </a:ext>
            </a:extLst>
          </p:cNvPr>
          <p:cNvSpPr>
            <a:spLocks xmlns:a="http://schemas.openxmlformats.org/drawingml/2006/main" noGrp="1"/>
          </p:cNvSpPr>
          <p:nvPr/>
        </p:nvSpPr>
        <p:spPr>
          <a:xfrm xmlns:a="http://schemas.openxmlformats.org/drawingml/2006/main">
            <a:off x="8166100" y="1536700"/>
            <a:ext cx="3073400" cy="6286500"/>
          </a:xfrm>
          <a:prstGeom xmlns:a="http://schemas.openxmlformats.org/drawingml/2006/main" prst="roundRect">
            <a:avLst>
              <a:gd name="adj" fmla="val 11570"/>
            </a:avLst>
          </a:prstGeom>
          <a:solidFill xmlns:a="http://schemas.openxmlformats.org/drawingml/2006/main">
            <a:srgbClr val="D7EED0"/>
          </a:solidFill>
          <a:ln xmlns:a="http://schemas.openxmlformats.org/drawingml/2006/main" w="16510">
            <a:solidFill>
              <a:srgbClr val="65984F"/>
            </a:solidFill>
            <a:prstDash val="solid"/>
          </a:ln>
        </p:spPr>
      </p:sp>
      <p:sp>
        <p:nvSpPr>
          <p:cNvPr id="21" name="text-221">
            <a:extLst xmlns:a="http://schemas.openxmlformats.org/drawingml/2006/main">
              <a:ext uri="{FF2B5EF4-FFF2-40B4-BE49-F238E27FC236}">
                <a16:creationId xmlns:a16="http://schemas.microsoft.com/office/drawing/2014/main" id="{5FAF8678-6761-45C9-9056-8F7C8B0D5978}"/>
              </a:ext>
            </a:extLst>
          </p:cNvPr>
          <p:cNvSpPr>
            <a:spLocks xmlns:a="http://schemas.openxmlformats.org/drawingml/2006/main" noGrp="1"/>
          </p:cNvSpPr>
          <p:nvPr/>
        </p:nvSpPr>
        <p:spPr>
          <a:xfrm xmlns:a="http://schemas.openxmlformats.org/drawingml/2006/main">
            <a:off x="8318500" y="1689100"/>
            <a:ext cx="276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600" b="1" i="0">
                <a:solidFill>
                  <a:srgbClr val="000000"/>
                </a:solidFill>
                <a:latin typeface="Times New Roman"/>
                <a:ea typeface="Times New Roman"/>
                <a:cs typeface="Times New Roman"/>
              </a:defRPr>
            </a:defPPr>
          </a:lstStyle>
          <a:p xmlns:a="http://schemas.openxmlformats.org/drawingml/2006/main">
            <a:pPr algn="ctr">
              <a:defRPr sz="2600" b="1" i="0">
                <a:solidFill>
                  <a:srgbClr val="000000"/>
                </a:solidFill>
                <a:latin typeface="Times New Roman"/>
                <a:ea typeface="Times New Roman"/>
                <a:cs typeface="Times New Roman"/>
              </a:defRPr>
            </a:pPr>
            <a:r>
              <a:rPr sz="2600" b="1" i="0">
                <a:solidFill>
                  <a:srgbClr val="000000"/>
                </a:solidFill>
                <a:latin typeface="Times New Roman"/>
                <a:ea typeface="Times New Roman"/>
                <a:cs typeface="Times New Roman"/>
              </a:rPr>
              <a:t>Phase 1</a:t>
            </a:r>
          </a:p>
        </p:txBody>
      </p:sp>
      <p:sp>
        <p:nvSpPr>
          <p:cNvPr id="22" name="text-223">
            <a:extLst xmlns:a="http://schemas.openxmlformats.org/drawingml/2006/main">
              <a:ext uri="{FF2B5EF4-FFF2-40B4-BE49-F238E27FC236}">
                <a16:creationId xmlns:a16="http://schemas.microsoft.com/office/drawing/2014/main" id="{B6CD6A5C-3818-4773-88F6-1A6EFDB0D4D6}"/>
              </a:ext>
            </a:extLst>
          </p:cNvPr>
          <p:cNvSpPr>
            <a:spLocks xmlns:a="http://schemas.openxmlformats.org/drawingml/2006/main" noGrp="1"/>
          </p:cNvSpPr>
          <p:nvPr/>
        </p:nvSpPr>
        <p:spPr>
          <a:xfrm xmlns:a="http://schemas.openxmlformats.org/drawingml/2006/main">
            <a:off x="8305800" y="2235200"/>
            <a:ext cx="2794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i="0">
                <a:solidFill>
                  <a:srgbClr val="000000"/>
                </a:solidFill>
                <a:latin typeface="Times New Roman"/>
                <a:ea typeface="Times New Roman"/>
                <a:cs typeface="Times New Roman"/>
              </a:defRPr>
            </a:defPPr>
          </a:lstStyle>
          <a:p xmlns:a="http://schemas.openxmlformats.org/drawingml/2006/main">
            <a:pPr algn="ctr">
              <a:defRPr sz="2100" b="1" i="0">
                <a:solidFill>
                  <a:srgbClr val="000000"/>
                </a:solidFill>
                <a:latin typeface="Times New Roman"/>
                <a:ea typeface="Times New Roman"/>
                <a:cs typeface="Times New Roman"/>
              </a:defRPr>
            </a:pPr>
            <a:r>
              <a:rPr sz="2100" b="1" i="0">
                <a:solidFill>
                  <a:srgbClr val="000000"/>
                </a:solidFill>
                <a:latin typeface="Times New Roman"/>
                <a:ea typeface="Times New Roman"/>
                <a:cs typeface="Times New Roman"/>
              </a:rPr>
              <a:t>DEPARTMENT PILOT</a:t>
            </a:r>
          </a:p>
        </p:txBody>
      </p:sp>
      <p:sp>
        <p:nvSpPr>
          <p:cNvPr id="23" name="shape-224">
            <a:extLst xmlns:a="http://schemas.openxmlformats.org/drawingml/2006/main">
              <a:ext uri="{FF2B5EF4-FFF2-40B4-BE49-F238E27FC236}">
                <a16:creationId xmlns:a16="http://schemas.microsoft.com/office/drawing/2014/main" id="{2BD029D5-0DF1-4FE9-A51C-D712CB8DFFBF}"/>
              </a:ext>
            </a:extLst>
          </p:cNvPr>
          <p:cNvSpPr>
            <a:spLocks xmlns:a="http://schemas.openxmlformats.org/drawingml/2006/main" noGrp="1"/>
          </p:cNvSpPr>
          <p:nvPr/>
        </p:nvSpPr>
        <p:spPr>
          <a:xfrm xmlns:a="http://schemas.openxmlformats.org/drawingml/2006/main">
            <a:off x="8318500" y="3073400"/>
            <a:ext cx="2781300" cy="838200"/>
          </a:xfrm>
          <a:prstGeom xmlns:a="http://schemas.openxmlformats.org/drawingml/2006/main" prst="roundRect">
            <a:avLst>
              <a:gd name="adj" fmla="val 18182"/>
            </a:avLst>
          </a:prstGeom>
          <a:solidFill xmlns:a="http://schemas.openxmlformats.org/drawingml/2006/main">
            <a:srgbClr val="D7EED0"/>
          </a:solidFill>
          <a:ln xmlns:a="http://schemas.openxmlformats.org/drawingml/2006/main" w="25400">
            <a:solidFill>
              <a:srgbClr val="000000"/>
            </a:solidFill>
            <a:prstDash val="solid"/>
          </a:ln>
        </p:spPr>
        <p:txBody>
          <a:bodyPr xmlns:a="http://schemas.openxmlformats.org/drawingml/2006/main" wrap="square" lIns="88900" tIns="88900" rIns="88900" bIns="88900" anchor="ctr">
            <a:noAutofit/>
          </a:bodyPr>
          <a:lstStyle xmlns:a="http://schemas.openxmlformats.org/drawingml/2006/main">
            <a:defPPr algn="ctr">
              <a:defRPr sz="2100" b="0">
                <a:solidFill>
                  <a:srgbClr val="000000"/>
                </a:solidFill>
                <a:latin typeface="Times New Roman"/>
                <a:ea typeface="Times New Roman"/>
                <a:cs typeface="Times New Roman"/>
              </a:defRPr>
            </a:defPPr>
          </a:lstStyle>
          <a:p xmlns:a="http://schemas.openxmlformats.org/drawingml/2006/main">
            <a:pPr algn="ct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Authorized exports</a:t>
            </a:r>
          </a:p>
        </p:txBody>
      </p:sp>
      <p:sp>
        <p:nvSpPr>
          <p:cNvPr id="24" name="shape-225">
            <a:extLst xmlns:a="http://schemas.openxmlformats.org/drawingml/2006/main">
              <a:ext uri="{FF2B5EF4-FFF2-40B4-BE49-F238E27FC236}">
                <a16:creationId xmlns:a16="http://schemas.microsoft.com/office/drawing/2014/main" id="{5C2DA10B-1106-4F81-BDD7-B0BBE193C08B}"/>
              </a:ext>
            </a:extLst>
          </p:cNvPr>
          <p:cNvSpPr>
            <a:spLocks xmlns:a="http://schemas.openxmlformats.org/drawingml/2006/main" noGrp="1"/>
          </p:cNvSpPr>
          <p:nvPr/>
        </p:nvSpPr>
        <p:spPr>
          <a:xfrm xmlns:a="http://schemas.openxmlformats.org/drawingml/2006/main">
            <a:off x="8318500" y="4254500"/>
            <a:ext cx="2781300" cy="838200"/>
          </a:xfrm>
          <a:prstGeom xmlns:a="http://schemas.openxmlformats.org/drawingml/2006/main" prst="roundRect">
            <a:avLst>
              <a:gd name="adj" fmla="val 18182"/>
            </a:avLst>
          </a:prstGeom>
          <a:solidFill xmlns:a="http://schemas.openxmlformats.org/drawingml/2006/main">
            <a:srgbClr val="D7EED0"/>
          </a:solidFill>
          <a:ln xmlns:a="http://schemas.openxmlformats.org/drawingml/2006/main" w="25400">
            <a:solidFill>
              <a:srgbClr val="000000"/>
            </a:solidFill>
            <a:prstDash val="solid"/>
          </a:ln>
        </p:spPr>
        <p:txBody>
          <a:bodyPr xmlns:a="http://schemas.openxmlformats.org/drawingml/2006/main" wrap="square" lIns="88900" tIns="88900" rIns="88900" bIns="88900" anchor="ctr">
            <a:noAutofit/>
          </a:bodyPr>
          <a:lstStyle xmlns:a="http://schemas.openxmlformats.org/drawingml/2006/main">
            <a:defPPr algn="ctr">
              <a:defRPr sz="2100" b="0">
                <a:solidFill>
                  <a:srgbClr val="000000"/>
                </a:solidFill>
                <a:latin typeface="Times New Roman"/>
                <a:ea typeface="Times New Roman"/>
                <a:cs typeface="Times New Roman"/>
              </a:defRPr>
            </a:defPPr>
          </a:lstStyle>
          <a:p xmlns:a="http://schemas.openxmlformats.org/drawingml/2006/main">
            <a:pPr algn="ct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One planning team</a:t>
            </a:r>
          </a:p>
        </p:txBody>
      </p:sp>
      <p:cxnSp>
        <p:nvCxnSpPr>
          <p:cNvPr id="25" name="">
            <a:extLst xmlns:a="http://schemas.openxmlformats.org/drawingml/2006/main">
              <a:ext uri="{FF2B5EF4-FFF2-40B4-BE49-F238E27FC236}">
                <a16:creationId xmlns:a16="http://schemas.microsoft.com/office/drawing/2014/main" id="{B9AB42EB-0438-4659-BDEB-E2E0BA6E6839}"/>
              </a:ext>
            </a:extLst>
          </p:cNvPr>
          <p:cNvCxnSpPr/>
          <p:nvPr/>
        </p:nvCxnSpPr>
        <p:spPr>
          <a:xfrm xmlns:a="http://schemas.openxmlformats.org/drawingml/2006/main" flipH="0" flipV="0">
            <a:off x="9709150" y="3911600"/>
            <a:ext cx="0" cy="342900"/>
          </a:xfrm>
          <a:prstGeom xmlns:a="http://schemas.openxmlformats.org/drawingml/2006/main" prst="straightConnector1">
            <a:avLst/>
          </a:prstGeom>
          <a:ln xmlns:a="http://schemas.openxmlformats.org/drawingml/2006/main" w="29210">
            <a:solidFill>
              <a:srgbClr val="000000"/>
            </a:solidFill>
            <a:prstDash val="solid"/>
            <a:tailEnd type="triangle" w="med" len="med"/>
          </a:ln>
        </p:spPr>
      </p:cxnSp>
      <p:sp>
        <p:nvSpPr>
          <p:cNvPr id="26" name="shape-226">
            <a:extLst xmlns:a="http://schemas.openxmlformats.org/drawingml/2006/main">
              <a:ext uri="{FF2B5EF4-FFF2-40B4-BE49-F238E27FC236}">
                <a16:creationId xmlns:a16="http://schemas.microsoft.com/office/drawing/2014/main" id="{7E463430-2F61-4A19-8076-2FA75ECDB2CE}"/>
              </a:ext>
            </a:extLst>
          </p:cNvPr>
          <p:cNvSpPr>
            <a:spLocks xmlns:a="http://schemas.openxmlformats.org/drawingml/2006/main" noGrp="1"/>
          </p:cNvSpPr>
          <p:nvPr/>
        </p:nvSpPr>
        <p:spPr>
          <a:xfrm xmlns:a="http://schemas.openxmlformats.org/drawingml/2006/main">
            <a:off x="8318500" y="5435600"/>
            <a:ext cx="2781300" cy="838200"/>
          </a:xfrm>
          <a:prstGeom xmlns:a="http://schemas.openxmlformats.org/drawingml/2006/main" prst="roundRect">
            <a:avLst>
              <a:gd name="adj" fmla="val 18182"/>
            </a:avLst>
          </a:prstGeom>
          <a:solidFill xmlns:a="http://schemas.openxmlformats.org/drawingml/2006/main">
            <a:srgbClr val="D7EED0"/>
          </a:solidFill>
          <a:ln xmlns:a="http://schemas.openxmlformats.org/drawingml/2006/main" w="25400">
            <a:solidFill>
              <a:srgbClr val="000000"/>
            </a:solidFill>
            <a:prstDash val="solid"/>
          </a:ln>
        </p:spPr>
        <p:txBody>
          <a:bodyPr xmlns:a="http://schemas.openxmlformats.org/drawingml/2006/main" wrap="square" lIns="88900" tIns="88900" rIns="88900" bIns="88900" anchor="ctr">
            <a:noAutofit/>
          </a:bodyPr>
          <a:lstStyle xmlns:a="http://schemas.openxmlformats.org/drawingml/2006/main">
            <a:defPPr algn="ctr">
              <a:defRPr sz="2100" b="0">
                <a:solidFill>
                  <a:srgbClr val="000000"/>
                </a:solidFill>
                <a:latin typeface="Times New Roman"/>
                <a:ea typeface="Times New Roman"/>
                <a:cs typeface="Times New Roman"/>
              </a:defRPr>
            </a:defPPr>
          </a:lstStyle>
          <a:p xmlns:a="http://schemas.openxmlformats.org/drawingml/2006/main">
            <a:pPr algn="ct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Human decision workflow</a:t>
            </a:r>
          </a:p>
        </p:txBody>
      </p:sp>
      <p:cxnSp>
        <p:nvCxnSpPr>
          <p:cNvPr id="27" name="">
            <a:extLst xmlns:a="http://schemas.openxmlformats.org/drawingml/2006/main">
              <a:ext uri="{FF2B5EF4-FFF2-40B4-BE49-F238E27FC236}">
                <a16:creationId xmlns:a16="http://schemas.microsoft.com/office/drawing/2014/main" id="{111A0B53-74A8-4A8B-800B-04A9AF6547E2}"/>
              </a:ext>
            </a:extLst>
          </p:cNvPr>
          <p:cNvCxnSpPr/>
          <p:nvPr/>
        </p:nvCxnSpPr>
        <p:spPr>
          <a:xfrm xmlns:a="http://schemas.openxmlformats.org/drawingml/2006/main" flipH="0" flipV="0">
            <a:off x="9709150" y="5092700"/>
            <a:ext cx="0" cy="342900"/>
          </a:xfrm>
          <a:prstGeom xmlns:a="http://schemas.openxmlformats.org/drawingml/2006/main" prst="straightConnector1">
            <a:avLst/>
          </a:prstGeom>
          <a:ln xmlns:a="http://schemas.openxmlformats.org/drawingml/2006/main" w="29210">
            <a:solidFill>
              <a:srgbClr val="000000"/>
            </a:solidFill>
            <a:prstDash val="solid"/>
            <a:tailEnd type="triangle" w="med" len="med"/>
          </a:ln>
        </p:spPr>
      </p:cxnSp>
      <p:sp>
        <p:nvSpPr>
          <p:cNvPr id="28" name="shape-227">
            <a:extLst xmlns:a="http://schemas.openxmlformats.org/drawingml/2006/main">
              <a:ext uri="{FF2B5EF4-FFF2-40B4-BE49-F238E27FC236}">
                <a16:creationId xmlns:a16="http://schemas.microsoft.com/office/drawing/2014/main" id="{A996908F-50F8-45BC-B95C-E08D5843263F}"/>
              </a:ext>
            </a:extLst>
          </p:cNvPr>
          <p:cNvSpPr>
            <a:spLocks xmlns:a="http://schemas.openxmlformats.org/drawingml/2006/main" noGrp="1"/>
          </p:cNvSpPr>
          <p:nvPr/>
        </p:nvSpPr>
        <p:spPr>
          <a:xfrm xmlns:a="http://schemas.openxmlformats.org/drawingml/2006/main">
            <a:off x="8318500" y="6616700"/>
            <a:ext cx="2781300" cy="838200"/>
          </a:xfrm>
          <a:prstGeom xmlns:a="http://schemas.openxmlformats.org/drawingml/2006/main" prst="roundRect">
            <a:avLst>
              <a:gd name="adj" fmla="val 18182"/>
            </a:avLst>
          </a:prstGeom>
          <a:solidFill xmlns:a="http://schemas.openxmlformats.org/drawingml/2006/main">
            <a:srgbClr val="D7EED0"/>
          </a:solidFill>
          <a:ln xmlns:a="http://schemas.openxmlformats.org/drawingml/2006/main" w="25400">
            <a:solidFill>
              <a:srgbClr val="000000"/>
            </a:solidFill>
            <a:prstDash val="solid"/>
          </a:ln>
        </p:spPr>
        <p:txBody>
          <a:bodyPr xmlns:a="http://schemas.openxmlformats.org/drawingml/2006/main" wrap="square" lIns="88900" tIns="88900" rIns="88900" bIns="88900" anchor="ctr">
            <a:noAutofit/>
          </a:bodyPr>
          <a:lstStyle xmlns:a="http://schemas.openxmlformats.org/drawingml/2006/main">
            <a:defPPr algn="ctr">
              <a:defRPr sz="2100" b="0">
                <a:solidFill>
                  <a:srgbClr val="000000"/>
                </a:solidFill>
                <a:latin typeface="Times New Roman"/>
                <a:ea typeface="Times New Roman"/>
                <a:cs typeface="Times New Roman"/>
              </a:defRPr>
            </a:defPPr>
          </a:lstStyle>
          <a:p xmlns:a="http://schemas.openxmlformats.org/drawingml/2006/main">
            <a:pPr algn="ct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Measure baseline outcomes</a:t>
            </a:r>
          </a:p>
        </p:txBody>
      </p:sp>
      <p:cxnSp>
        <p:nvCxnSpPr>
          <p:cNvPr id="29" name="">
            <a:extLst xmlns:a="http://schemas.openxmlformats.org/drawingml/2006/main">
              <a:ext uri="{FF2B5EF4-FFF2-40B4-BE49-F238E27FC236}">
                <a16:creationId xmlns:a16="http://schemas.microsoft.com/office/drawing/2014/main" id="{8987B25F-C396-4B11-9B76-2F825E68190E}"/>
              </a:ext>
            </a:extLst>
          </p:cNvPr>
          <p:cNvCxnSpPr/>
          <p:nvPr/>
        </p:nvCxnSpPr>
        <p:spPr>
          <a:xfrm xmlns:a="http://schemas.openxmlformats.org/drawingml/2006/main" flipH="0" flipV="0">
            <a:off x="9709150" y="6273800"/>
            <a:ext cx="0" cy="342900"/>
          </a:xfrm>
          <a:prstGeom xmlns:a="http://schemas.openxmlformats.org/drawingml/2006/main" prst="straightConnector1">
            <a:avLst/>
          </a:prstGeom>
          <a:ln xmlns:a="http://schemas.openxmlformats.org/drawingml/2006/main" w="29210">
            <a:solidFill>
              <a:srgbClr val="000000"/>
            </a:solidFill>
            <a:prstDash val="solid"/>
            <a:tailEnd type="triangle" w="med" len="med"/>
          </a:ln>
        </p:spPr>
      </p:cxnSp>
      <p:sp>
        <p:nvSpPr>
          <p:cNvPr id="30" name="shape-228">
            <a:extLst xmlns:a="http://schemas.openxmlformats.org/drawingml/2006/main">
              <a:ext uri="{FF2B5EF4-FFF2-40B4-BE49-F238E27FC236}">
                <a16:creationId xmlns:a16="http://schemas.microsoft.com/office/drawing/2014/main" id="{D7323B1F-EF37-4397-8AB0-E4F6F2D2341B}"/>
              </a:ext>
            </a:extLst>
          </p:cNvPr>
          <p:cNvSpPr>
            <a:spLocks xmlns:a="http://schemas.openxmlformats.org/drawingml/2006/main" noGrp="1"/>
          </p:cNvSpPr>
          <p:nvPr/>
        </p:nvSpPr>
        <p:spPr>
          <a:xfrm xmlns:a="http://schemas.openxmlformats.org/drawingml/2006/main">
            <a:off x="11671300" y="1536700"/>
            <a:ext cx="3073400" cy="6286500"/>
          </a:xfrm>
          <a:prstGeom xmlns:a="http://schemas.openxmlformats.org/drawingml/2006/main" prst="roundRect">
            <a:avLst>
              <a:gd name="adj" fmla="val 11570"/>
            </a:avLst>
          </a:prstGeom>
          <a:solidFill xmlns:a="http://schemas.openxmlformats.org/drawingml/2006/main">
            <a:srgbClr val="AED0E8"/>
          </a:solidFill>
          <a:ln xmlns:a="http://schemas.openxmlformats.org/drawingml/2006/main" w="16510">
            <a:solidFill>
              <a:srgbClr val="2386CA"/>
            </a:solidFill>
            <a:prstDash val="solid"/>
          </a:ln>
        </p:spPr>
      </p:sp>
      <p:sp>
        <p:nvSpPr>
          <p:cNvPr id="31" name="text-230">
            <a:extLst xmlns:a="http://schemas.openxmlformats.org/drawingml/2006/main">
              <a:ext uri="{FF2B5EF4-FFF2-40B4-BE49-F238E27FC236}">
                <a16:creationId xmlns:a16="http://schemas.microsoft.com/office/drawing/2014/main" id="{6AF64DB3-176C-46D5-8853-0305611D3768}"/>
              </a:ext>
            </a:extLst>
          </p:cNvPr>
          <p:cNvSpPr>
            <a:spLocks xmlns:a="http://schemas.openxmlformats.org/drawingml/2006/main" noGrp="1"/>
          </p:cNvSpPr>
          <p:nvPr/>
        </p:nvSpPr>
        <p:spPr>
          <a:xfrm xmlns:a="http://schemas.openxmlformats.org/drawingml/2006/main">
            <a:off x="11823700" y="1689100"/>
            <a:ext cx="276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600" b="1" i="0">
                <a:solidFill>
                  <a:srgbClr val="000000"/>
                </a:solidFill>
                <a:latin typeface="Times New Roman"/>
                <a:ea typeface="Times New Roman"/>
                <a:cs typeface="Times New Roman"/>
              </a:defRPr>
            </a:defPPr>
          </a:lstStyle>
          <a:p xmlns:a="http://schemas.openxmlformats.org/drawingml/2006/main">
            <a:pPr algn="ctr">
              <a:defRPr sz="2600" b="1" i="0">
                <a:solidFill>
                  <a:srgbClr val="000000"/>
                </a:solidFill>
                <a:latin typeface="Times New Roman"/>
                <a:ea typeface="Times New Roman"/>
                <a:cs typeface="Times New Roman"/>
              </a:defRPr>
            </a:pPr>
            <a:r>
              <a:rPr sz="2600" b="1" i="0">
                <a:solidFill>
                  <a:srgbClr val="000000"/>
                </a:solidFill>
                <a:latin typeface="Times New Roman"/>
                <a:ea typeface="Times New Roman"/>
                <a:cs typeface="Times New Roman"/>
              </a:rPr>
              <a:t>Phase 2</a:t>
            </a:r>
          </a:p>
        </p:txBody>
      </p:sp>
      <p:sp>
        <p:nvSpPr>
          <p:cNvPr id="32" name="text-232">
            <a:extLst xmlns:a="http://schemas.openxmlformats.org/drawingml/2006/main">
              <a:ext uri="{FF2B5EF4-FFF2-40B4-BE49-F238E27FC236}">
                <a16:creationId xmlns:a16="http://schemas.microsoft.com/office/drawing/2014/main" id="{F29E00C2-E42C-4904-AA42-992A9DB54483}"/>
              </a:ext>
            </a:extLst>
          </p:cNvPr>
          <p:cNvSpPr>
            <a:spLocks xmlns:a="http://schemas.openxmlformats.org/drawingml/2006/main" noGrp="1"/>
          </p:cNvSpPr>
          <p:nvPr/>
        </p:nvSpPr>
        <p:spPr>
          <a:xfrm xmlns:a="http://schemas.openxmlformats.org/drawingml/2006/main">
            <a:off x="11811000" y="2235200"/>
            <a:ext cx="2794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i="0">
                <a:solidFill>
                  <a:srgbClr val="1727A1"/>
                </a:solidFill>
                <a:latin typeface="Times New Roman"/>
                <a:ea typeface="Times New Roman"/>
                <a:cs typeface="Times New Roman"/>
              </a:defRPr>
            </a:defPPr>
          </a:lstStyle>
          <a:p xmlns:a="http://schemas.openxmlformats.org/drawingml/2006/main">
            <a:pPr algn="ctr">
              <a:defRPr sz="2100" b="1" i="0">
                <a:solidFill>
                  <a:srgbClr val="1727A1"/>
                </a:solidFill>
                <a:latin typeface="Times New Roman"/>
                <a:ea typeface="Times New Roman"/>
                <a:cs typeface="Times New Roman"/>
              </a:defRPr>
            </a:pPr>
            <a:r>
              <a:rPr sz="2100" b="1" i="0">
                <a:solidFill>
                  <a:srgbClr val="1727A1"/>
                </a:solidFill>
                <a:latin typeface="Times New Roman"/>
                <a:ea typeface="Times New Roman"/>
                <a:cs typeface="Times New Roman"/>
              </a:rPr>
              <a:t>SHARED WORKSPACES</a:t>
            </a:r>
          </a:p>
        </p:txBody>
      </p:sp>
      <p:sp>
        <p:nvSpPr>
          <p:cNvPr id="33" name="shape-233">
            <a:extLst xmlns:a="http://schemas.openxmlformats.org/drawingml/2006/main">
              <a:ext uri="{FF2B5EF4-FFF2-40B4-BE49-F238E27FC236}">
                <a16:creationId xmlns:a16="http://schemas.microsoft.com/office/drawing/2014/main" id="{F5CD949E-EB1A-4383-83F0-CB766FB7EB5C}"/>
              </a:ext>
            </a:extLst>
          </p:cNvPr>
          <p:cNvSpPr>
            <a:spLocks xmlns:a="http://schemas.openxmlformats.org/drawingml/2006/main" noGrp="1"/>
          </p:cNvSpPr>
          <p:nvPr/>
        </p:nvSpPr>
        <p:spPr>
          <a:xfrm xmlns:a="http://schemas.openxmlformats.org/drawingml/2006/main">
            <a:off x="11823700" y="3073400"/>
            <a:ext cx="2781300" cy="838200"/>
          </a:xfrm>
          <a:prstGeom xmlns:a="http://schemas.openxmlformats.org/drawingml/2006/main" prst="roundRect">
            <a:avLst>
              <a:gd name="adj" fmla="val 18182"/>
            </a:avLst>
          </a:prstGeom>
          <a:solidFill xmlns:a="http://schemas.openxmlformats.org/drawingml/2006/main">
            <a:srgbClr val="AED0E8"/>
          </a:solidFill>
          <a:ln xmlns:a="http://schemas.openxmlformats.org/drawingml/2006/main" w="25400">
            <a:solidFill>
              <a:srgbClr val="000000"/>
            </a:solidFill>
            <a:prstDash val="solid"/>
          </a:ln>
        </p:spPr>
        <p:txBody>
          <a:bodyPr xmlns:a="http://schemas.openxmlformats.org/drawingml/2006/main" wrap="square" lIns="88900" tIns="88900" rIns="88900" bIns="88900" anchor="ctr">
            <a:noAutofit/>
          </a:bodyPr>
          <a:lstStyle xmlns:a="http://schemas.openxmlformats.org/drawingml/2006/main">
            <a:defPPr algn="ctr">
              <a:defRPr sz="2100" b="0">
                <a:solidFill>
                  <a:srgbClr val="000000"/>
                </a:solidFill>
                <a:latin typeface="Times New Roman"/>
                <a:ea typeface="Times New Roman"/>
                <a:cs typeface="Times New Roman"/>
              </a:defRPr>
            </a:defPPr>
          </a:lstStyle>
          <a:p xmlns:a="http://schemas.openxmlformats.org/drawingml/2006/main">
            <a:pPr algn="ct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Tenant membership</a:t>
            </a:r>
          </a:p>
        </p:txBody>
      </p:sp>
      <p:sp>
        <p:nvSpPr>
          <p:cNvPr id="34" name="shape-234">
            <a:extLst xmlns:a="http://schemas.openxmlformats.org/drawingml/2006/main">
              <a:ext uri="{FF2B5EF4-FFF2-40B4-BE49-F238E27FC236}">
                <a16:creationId xmlns:a16="http://schemas.microsoft.com/office/drawing/2014/main" id="{C1910496-8DF0-434A-9CA8-29366E63DBF1}"/>
              </a:ext>
            </a:extLst>
          </p:cNvPr>
          <p:cNvSpPr>
            <a:spLocks xmlns:a="http://schemas.openxmlformats.org/drawingml/2006/main" noGrp="1"/>
          </p:cNvSpPr>
          <p:nvPr/>
        </p:nvSpPr>
        <p:spPr>
          <a:xfrm xmlns:a="http://schemas.openxmlformats.org/drawingml/2006/main">
            <a:off x="11823700" y="4254500"/>
            <a:ext cx="2781300" cy="838200"/>
          </a:xfrm>
          <a:prstGeom xmlns:a="http://schemas.openxmlformats.org/drawingml/2006/main" prst="roundRect">
            <a:avLst>
              <a:gd name="adj" fmla="val 18182"/>
            </a:avLst>
          </a:prstGeom>
          <a:solidFill xmlns:a="http://schemas.openxmlformats.org/drawingml/2006/main">
            <a:srgbClr val="AED0E8"/>
          </a:solidFill>
          <a:ln xmlns:a="http://schemas.openxmlformats.org/drawingml/2006/main" w="25400">
            <a:solidFill>
              <a:srgbClr val="000000"/>
            </a:solidFill>
            <a:prstDash val="solid"/>
          </a:ln>
        </p:spPr>
        <p:txBody>
          <a:bodyPr xmlns:a="http://schemas.openxmlformats.org/drawingml/2006/main" wrap="square" lIns="88900" tIns="88900" rIns="88900" bIns="88900" anchor="ctr">
            <a:noAutofit/>
          </a:bodyPr>
          <a:lstStyle xmlns:a="http://schemas.openxmlformats.org/drawingml/2006/main">
            <a:defPPr algn="ctr">
              <a:defRPr sz="2100" b="0">
                <a:solidFill>
                  <a:srgbClr val="000000"/>
                </a:solidFill>
                <a:latin typeface="Times New Roman"/>
                <a:ea typeface="Times New Roman"/>
                <a:cs typeface="Times New Roman"/>
              </a:defRPr>
            </a:defPPr>
          </a:lstStyle>
          <a:p xmlns:a="http://schemas.openxmlformats.org/drawingml/2006/main">
            <a:pPr algn="ct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Department access rules</a:t>
            </a:r>
          </a:p>
        </p:txBody>
      </p:sp>
      <p:cxnSp>
        <p:nvCxnSpPr>
          <p:cNvPr id="35" name="">
            <a:extLst xmlns:a="http://schemas.openxmlformats.org/drawingml/2006/main">
              <a:ext uri="{FF2B5EF4-FFF2-40B4-BE49-F238E27FC236}">
                <a16:creationId xmlns:a16="http://schemas.microsoft.com/office/drawing/2014/main" id="{9AE09EFA-FAEF-4727-B426-0D7F4D203C51}"/>
              </a:ext>
            </a:extLst>
          </p:cNvPr>
          <p:cNvCxnSpPr/>
          <p:nvPr/>
        </p:nvCxnSpPr>
        <p:spPr>
          <a:xfrm xmlns:a="http://schemas.openxmlformats.org/drawingml/2006/main" flipH="0" flipV="0">
            <a:off x="13214350" y="3911600"/>
            <a:ext cx="0" cy="342900"/>
          </a:xfrm>
          <a:prstGeom xmlns:a="http://schemas.openxmlformats.org/drawingml/2006/main" prst="straightConnector1">
            <a:avLst/>
          </a:prstGeom>
          <a:ln xmlns:a="http://schemas.openxmlformats.org/drawingml/2006/main" w="29210">
            <a:solidFill>
              <a:srgbClr val="000000"/>
            </a:solidFill>
            <a:prstDash val="solid"/>
            <a:tailEnd type="triangle" w="med" len="med"/>
          </a:ln>
        </p:spPr>
      </p:cxnSp>
      <p:sp>
        <p:nvSpPr>
          <p:cNvPr id="36" name="shape-235">
            <a:extLst xmlns:a="http://schemas.openxmlformats.org/drawingml/2006/main">
              <a:ext uri="{FF2B5EF4-FFF2-40B4-BE49-F238E27FC236}">
                <a16:creationId xmlns:a16="http://schemas.microsoft.com/office/drawing/2014/main" id="{C6B4E893-2464-4056-B5E4-151B54160BFC}"/>
              </a:ext>
            </a:extLst>
          </p:cNvPr>
          <p:cNvSpPr>
            <a:spLocks xmlns:a="http://schemas.openxmlformats.org/drawingml/2006/main" noGrp="1"/>
          </p:cNvSpPr>
          <p:nvPr/>
        </p:nvSpPr>
        <p:spPr>
          <a:xfrm xmlns:a="http://schemas.openxmlformats.org/drawingml/2006/main">
            <a:off x="11823700" y="5435600"/>
            <a:ext cx="2781300" cy="838200"/>
          </a:xfrm>
          <a:prstGeom xmlns:a="http://schemas.openxmlformats.org/drawingml/2006/main" prst="roundRect">
            <a:avLst>
              <a:gd name="adj" fmla="val 18182"/>
            </a:avLst>
          </a:prstGeom>
          <a:solidFill xmlns:a="http://schemas.openxmlformats.org/drawingml/2006/main">
            <a:srgbClr val="AED0E8"/>
          </a:solidFill>
          <a:ln xmlns:a="http://schemas.openxmlformats.org/drawingml/2006/main" w="25400">
            <a:solidFill>
              <a:srgbClr val="000000"/>
            </a:solidFill>
            <a:prstDash val="solid"/>
          </a:ln>
        </p:spPr>
        <p:txBody>
          <a:bodyPr xmlns:a="http://schemas.openxmlformats.org/drawingml/2006/main" wrap="square" lIns="88900" tIns="88900" rIns="88900" bIns="88900" anchor="ctr">
            <a:noAutofit/>
          </a:bodyPr>
          <a:lstStyle xmlns:a="http://schemas.openxmlformats.org/drawingml/2006/main">
            <a:defPPr algn="ctr">
              <a:defRPr sz="2100" b="0">
                <a:solidFill>
                  <a:srgbClr val="000000"/>
                </a:solidFill>
                <a:latin typeface="Times New Roman"/>
                <a:ea typeface="Times New Roman"/>
                <a:cs typeface="Times New Roman"/>
              </a:defRPr>
            </a:defPPr>
          </a:lstStyle>
          <a:p xmlns:a="http://schemas.openxmlformats.org/drawingml/2006/main">
            <a:pPr algn="ct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Scheduled data ingestion</a:t>
            </a:r>
          </a:p>
        </p:txBody>
      </p:sp>
      <p:cxnSp>
        <p:nvCxnSpPr>
          <p:cNvPr id="37" name="">
            <a:extLst xmlns:a="http://schemas.openxmlformats.org/drawingml/2006/main">
              <a:ext uri="{FF2B5EF4-FFF2-40B4-BE49-F238E27FC236}">
                <a16:creationId xmlns:a16="http://schemas.microsoft.com/office/drawing/2014/main" id="{19373ACB-9133-45D4-B615-8B8CECC754D2}"/>
              </a:ext>
            </a:extLst>
          </p:cNvPr>
          <p:cNvCxnSpPr/>
          <p:nvPr/>
        </p:nvCxnSpPr>
        <p:spPr>
          <a:xfrm xmlns:a="http://schemas.openxmlformats.org/drawingml/2006/main" flipH="0" flipV="0">
            <a:off x="13214350" y="5092700"/>
            <a:ext cx="0" cy="342900"/>
          </a:xfrm>
          <a:prstGeom xmlns:a="http://schemas.openxmlformats.org/drawingml/2006/main" prst="straightConnector1">
            <a:avLst/>
          </a:prstGeom>
          <a:ln xmlns:a="http://schemas.openxmlformats.org/drawingml/2006/main" w="29210">
            <a:solidFill>
              <a:srgbClr val="000000"/>
            </a:solidFill>
            <a:prstDash val="solid"/>
            <a:tailEnd type="triangle" w="med" len="med"/>
          </a:ln>
        </p:spPr>
      </p:cxnSp>
      <p:sp>
        <p:nvSpPr>
          <p:cNvPr id="38" name="shape-236">
            <a:extLst xmlns:a="http://schemas.openxmlformats.org/drawingml/2006/main">
              <a:ext uri="{FF2B5EF4-FFF2-40B4-BE49-F238E27FC236}">
                <a16:creationId xmlns:a16="http://schemas.microsoft.com/office/drawing/2014/main" id="{64DA2BCD-2613-4C14-B4CF-929A1377CB55}"/>
              </a:ext>
            </a:extLst>
          </p:cNvPr>
          <p:cNvSpPr>
            <a:spLocks xmlns:a="http://schemas.openxmlformats.org/drawingml/2006/main" noGrp="1"/>
          </p:cNvSpPr>
          <p:nvPr/>
        </p:nvSpPr>
        <p:spPr>
          <a:xfrm xmlns:a="http://schemas.openxmlformats.org/drawingml/2006/main">
            <a:off x="11823700" y="6616700"/>
            <a:ext cx="2781300" cy="838200"/>
          </a:xfrm>
          <a:prstGeom xmlns:a="http://schemas.openxmlformats.org/drawingml/2006/main" prst="roundRect">
            <a:avLst>
              <a:gd name="adj" fmla="val 18182"/>
            </a:avLst>
          </a:prstGeom>
          <a:solidFill xmlns:a="http://schemas.openxmlformats.org/drawingml/2006/main">
            <a:srgbClr val="AED0E8"/>
          </a:solidFill>
          <a:ln xmlns:a="http://schemas.openxmlformats.org/drawingml/2006/main" w="25400">
            <a:solidFill>
              <a:srgbClr val="000000"/>
            </a:solidFill>
            <a:prstDash val="solid"/>
          </a:ln>
        </p:spPr>
        <p:txBody>
          <a:bodyPr xmlns:a="http://schemas.openxmlformats.org/drawingml/2006/main" wrap="square" lIns="88900" tIns="88900" rIns="88900" bIns="88900" anchor="ctr">
            <a:noAutofit/>
          </a:bodyPr>
          <a:lstStyle xmlns:a="http://schemas.openxmlformats.org/drawingml/2006/main">
            <a:defPPr algn="ctr">
              <a:defRPr sz="2100" b="0">
                <a:solidFill>
                  <a:srgbClr val="000000"/>
                </a:solidFill>
                <a:latin typeface="Times New Roman"/>
                <a:ea typeface="Times New Roman"/>
                <a:cs typeface="Times New Roman"/>
              </a:defRPr>
            </a:defPPr>
          </a:lstStyle>
          <a:p xmlns:a="http://schemas.openxmlformats.org/drawingml/2006/main">
            <a:pPr algn="ct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Approved ATS / LMS links</a:t>
            </a:r>
          </a:p>
        </p:txBody>
      </p:sp>
      <p:cxnSp>
        <p:nvCxnSpPr>
          <p:cNvPr id="39" name="">
            <a:extLst xmlns:a="http://schemas.openxmlformats.org/drawingml/2006/main">
              <a:ext uri="{FF2B5EF4-FFF2-40B4-BE49-F238E27FC236}">
                <a16:creationId xmlns:a16="http://schemas.microsoft.com/office/drawing/2014/main" id="{EE7E693B-1EDC-419D-BE6F-17E192F32E24}"/>
              </a:ext>
            </a:extLst>
          </p:cNvPr>
          <p:cNvCxnSpPr/>
          <p:nvPr/>
        </p:nvCxnSpPr>
        <p:spPr>
          <a:xfrm xmlns:a="http://schemas.openxmlformats.org/drawingml/2006/main" flipH="0" flipV="0">
            <a:off x="13214350" y="6273800"/>
            <a:ext cx="0" cy="342900"/>
          </a:xfrm>
          <a:prstGeom xmlns:a="http://schemas.openxmlformats.org/drawingml/2006/main" prst="straightConnector1">
            <a:avLst/>
          </a:prstGeom>
          <a:ln xmlns:a="http://schemas.openxmlformats.org/drawingml/2006/main" w="29210">
            <a:solidFill>
              <a:srgbClr val="000000"/>
            </a:solidFill>
            <a:prstDash val="solid"/>
            <a:tailEnd type="triangle" w="med" len="med"/>
          </a:ln>
        </p:spPr>
      </p:cxnSp>
      <p:sp>
        <p:nvSpPr>
          <p:cNvPr id="40" name="shape-237">
            <a:extLst xmlns:a="http://schemas.openxmlformats.org/drawingml/2006/main">
              <a:ext uri="{FF2B5EF4-FFF2-40B4-BE49-F238E27FC236}">
                <a16:creationId xmlns:a16="http://schemas.microsoft.com/office/drawing/2014/main" id="{01E99016-096A-43CD-AE14-B40C3F4CDB68}"/>
              </a:ext>
            </a:extLst>
          </p:cNvPr>
          <p:cNvSpPr>
            <a:spLocks xmlns:a="http://schemas.openxmlformats.org/drawingml/2006/main" noGrp="1"/>
          </p:cNvSpPr>
          <p:nvPr/>
        </p:nvSpPr>
        <p:spPr>
          <a:xfrm xmlns:a="http://schemas.openxmlformats.org/drawingml/2006/main">
            <a:off x="15151100" y="1536700"/>
            <a:ext cx="3073400" cy="6286500"/>
          </a:xfrm>
          <a:prstGeom xmlns:a="http://schemas.openxmlformats.org/drawingml/2006/main" prst="roundRect">
            <a:avLst>
              <a:gd name="adj" fmla="val 11570"/>
            </a:avLst>
          </a:prstGeom>
          <a:solidFill xmlns:a="http://schemas.openxmlformats.org/drawingml/2006/main">
            <a:srgbClr val="FBEFB6"/>
          </a:solidFill>
          <a:ln xmlns:a="http://schemas.openxmlformats.org/drawingml/2006/main" w="16510">
            <a:solidFill>
              <a:srgbClr val="FFD348"/>
            </a:solidFill>
            <a:prstDash val="solid"/>
          </a:ln>
        </p:spPr>
      </p:sp>
      <p:sp>
        <p:nvSpPr>
          <p:cNvPr id="41" name="text-239">
            <a:extLst xmlns:a="http://schemas.openxmlformats.org/drawingml/2006/main">
              <a:ext uri="{FF2B5EF4-FFF2-40B4-BE49-F238E27FC236}">
                <a16:creationId xmlns:a16="http://schemas.microsoft.com/office/drawing/2014/main" id="{3E68FBD6-547F-4EE0-BD29-CEA6FE99BB48}"/>
              </a:ext>
            </a:extLst>
          </p:cNvPr>
          <p:cNvSpPr>
            <a:spLocks xmlns:a="http://schemas.openxmlformats.org/drawingml/2006/main" noGrp="1"/>
          </p:cNvSpPr>
          <p:nvPr/>
        </p:nvSpPr>
        <p:spPr>
          <a:xfrm xmlns:a="http://schemas.openxmlformats.org/drawingml/2006/main">
            <a:off x="15303500" y="1689100"/>
            <a:ext cx="276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600" b="1" i="0">
                <a:solidFill>
                  <a:srgbClr val="000000"/>
                </a:solidFill>
                <a:latin typeface="Times New Roman"/>
                <a:ea typeface="Times New Roman"/>
                <a:cs typeface="Times New Roman"/>
              </a:defRPr>
            </a:defPPr>
          </a:lstStyle>
          <a:p xmlns:a="http://schemas.openxmlformats.org/drawingml/2006/main">
            <a:pPr algn="ctr">
              <a:defRPr sz="2600" b="1" i="0">
                <a:solidFill>
                  <a:srgbClr val="000000"/>
                </a:solidFill>
                <a:latin typeface="Times New Roman"/>
                <a:ea typeface="Times New Roman"/>
                <a:cs typeface="Times New Roman"/>
              </a:defRPr>
            </a:pPr>
            <a:r>
              <a:rPr sz="2600" b="1" i="0">
                <a:solidFill>
                  <a:srgbClr val="000000"/>
                </a:solidFill>
                <a:latin typeface="Times New Roman"/>
                <a:ea typeface="Times New Roman"/>
                <a:cs typeface="Times New Roman"/>
              </a:rPr>
              <a:t>Phase 3</a:t>
            </a:r>
          </a:p>
        </p:txBody>
      </p:sp>
      <p:sp>
        <p:nvSpPr>
          <p:cNvPr id="42" name="text-241">
            <a:extLst xmlns:a="http://schemas.openxmlformats.org/drawingml/2006/main">
              <a:ext uri="{FF2B5EF4-FFF2-40B4-BE49-F238E27FC236}">
                <a16:creationId xmlns:a16="http://schemas.microsoft.com/office/drawing/2014/main" id="{8BBF226A-D2FC-479C-8CDA-746AE5CF30EF}"/>
              </a:ext>
            </a:extLst>
          </p:cNvPr>
          <p:cNvSpPr>
            <a:spLocks xmlns:a="http://schemas.openxmlformats.org/drawingml/2006/main" noGrp="1"/>
          </p:cNvSpPr>
          <p:nvPr/>
        </p:nvSpPr>
        <p:spPr>
          <a:xfrm xmlns:a="http://schemas.openxmlformats.org/drawingml/2006/main">
            <a:off x="15290800" y="2235200"/>
            <a:ext cx="2794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i="0">
                <a:solidFill>
                  <a:srgbClr val="000000"/>
                </a:solidFill>
                <a:latin typeface="Times New Roman"/>
                <a:ea typeface="Times New Roman"/>
                <a:cs typeface="Times New Roman"/>
              </a:defRPr>
            </a:defPPr>
          </a:lstStyle>
          <a:p xmlns:a="http://schemas.openxmlformats.org/drawingml/2006/main">
            <a:pPr algn="ctr">
              <a:defRPr sz="2100" b="1" i="0">
                <a:solidFill>
                  <a:srgbClr val="000000"/>
                </a:solidFill>
                <a:latin typeface="Times New Roman"/>
                <a:ea typeface="Times New Roman"/>
                <a:cs typeface="Times New Roman"/>
              </a:defRPr>
            </a:pPr>
            <a:r>
              <a:rPr sz="2100" b="1" i="0">
                <a:solidFill>
                  <a:srgbClr val="000000"/>
                </a:solidFill>
                <a:latin typeface="Times New Roman"/>
                <a:ea typeface="Times New Roman"/>
                <a:cs typeface="Times New Roman"/>
              </a:rPr>
              <a:t>ENTERPRISE ROLLOUT</a:t>
            </a:r>
          </a:p>
        </p:txBody>
      </p:sp>
      <p:sp>
        <p:nvSpPr>
          <p:cNvPr id="43" name="shape-242">
            <a:extLst xmlns:a="http://schemas.openxmlformats.org/drawingml/2006/main">
              <a:ext uri="{FF2B5EF4-FFF2-40B4-BE49-F238E27FC236}">
                <a16:creationId xmlns:a16="http://schemas.microsoft.com/office/drawing/2014/main" id="{72BF0E3A-3278-4A68-BB1E-DB392BA599E2}"/>
              </a:ext>
            </a:extLst>
          </p:cNvPr>
          <p:cNvSpPr>
            <a:spLocks xmlns:a="http://schemas.openxmlformats.org/drawingml/2006/main" noGrp="1"/>
          </p:cNvSpPr>
          <p:nvPr/>
        </p:nvSpPr>
        <p:spPr>
          <a:xfrm xmlns:a="http://schemas.openxmlformats.org/drawingml/2006/main">
            <a:off x="15303500" y="3073400"/>
            <a:ext cx="2781300" cy="838200"/>
          </a:xfrm>
          <a:prstGeom xmlns:a="http://schemas.openxmlformats.org/drawingml/2006/main" prst="roundRect">
            <a:avLst>
              <a:gd name="adj" fmla="val 18182"/>
            </a:avLst>
          </a:prstGeom>
          <a:solidFill xmlns:a="http://schemas.openxmlformats.org/drawingml/2006/main">
            <a:srgbClr val="FBEFB6"/>
          </a:solidFill>
          <a:ln xmlns:a="http://schemas.openxmlformats.org/drawingml/2006/main" w="25400">
            <a:solidFill>
              <a:srgbClr val="000000"/>
            </a:solidFill>
            <a:prstDash val="solid"/>
          </a:ln>
        </p:spPr>
        <p:txBody>
          <a:bodyPr xmlns:a="http://schemas.openxmlformats.org/drawingml/2006/main" wrap="square" lIns="88900" tIns="88900" rIns="88900" bIns="88900" anchor="ctr">
            <a:noAutofit/>
          </a:bodyPr>
          <a:lstStyle xmlns:a="http://schemas.openxmlformats.org/drawingml/2006/main">
            <a:defPPr algn="ctr">
              <a:defRPr sz="2100" b="0">
                <a:solidFill>
                  <a:srgbClr val="000000"/>
                </a:solidFill>
                <a:latin typeface="Times New Roman"/>
                <a:ea typeface="Times New Roman"/>
                <a:cs typeface="Times New Roman"/>
              </a:defRPr>
            </a:defPPr>
          </a:lstStyle>
          <a:p xmlns:a="http://schemas.openxmlformats.org/drawingml/2006/main">
            <a:pPr algn="ct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Native vendor connectors</a:t>
            </a:r>
          </a:p>
        </p:txBody>
      </p:sp>
      <p:sp>
        <p:nvSpPr>
          <p:cNvPr id="44" name="shape-243">
            <a:extLst xmlns:a="http://schemas.openxmlformats.org/drawingml/2006/main">
              <a:ext uri="{FF2B5EF4-FFF2-40B4-BE49-F238E27FC236}">
                <a16:creationId xmlns:a16="http://schemas.microsoft.com/office/drawing/2014/main" id="{BB9CE5BB-0823-471B-A16A-35DEE4442DB2}"/>
              </a:ext>
            </a:extLst>
          </p:cNvPr>
          <p:cNvSpPr>
            <a:spLocks xmlns:a="http://schemas.openxmlformats.org/drawingml/2006/main" noGrp="1"/>
          </p:cNvSpPr>
          <p:nvPr/>
        </p:nvSpPr>
        <p:spPr>
          <a:xfrm xmlns:a="http://schemas.openxmlformats.org/drawingml/2006/main">
            <a:off x="15303500" y="4254500"/>
            <a:ext cx="2781300" cy="838200"/>
          </a:xfrm>
          <a:prstGeom xmlns:a="http://schemas.openxmlformats.org/drawingml/2006/main" prst="roundRect">
            <a:avLst>
              <a:gd name="adj" fmla="val 18182"/>
            </a:avLst>
          </a:prstGeom>
          <a:solidFill xmlns:a="http://schemas.openxmlformats.org/drawingml/2006/main">
            <a:srgbClr val="FBEFB6"/>
          </a:solidFill>
          <a:ln xmlns:a="http://schemas.openxmlformats.org/drawingml/2006/main" w="25400">
            <a:solidFill>
              <a:srgbClr val="000000"/>
            </a:solidFill>
            <a:prstDash val="solid"/>
          </a:ln>
        </p:spPr>
        <p:txBody>
          <a:bodyPr xmlns:a="http://schemas.openxmlformats.org/drawingml/2006/main" wrap="square" lIns="88900" tIns="88900" rIns="88900" bIns="88900" anchor="ctr">
            <a:noAutofit/>
          </a:bodyPr>
          <a:lstStyle xmlns:a="http://schemas.openxmlformats.org/drawingml/2006/main">
            <a:defPPr algn="ctr">
              <a:defRPr sz="2100" b="0">
                <a:solidFill>
                  <a:srgbClr val="000000"/>
                </a:solidFill>
                <a:latin typeface="Times New Roman"/>
                <a:ea typeface="Times New Roman"/>
                <a:cs typeface="Times New Roman"/>
              </a:defRPr>
            </a:defPPr>
          </a:lstStyle>
          <a:p xmlns:a="http://schemas.openxmlformats.org/drawingml/2006/main">
            <a:pPr algn="ct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Regional data licensing</a:t>
            </a:r>
          </a:p>
        </p:txBody>
      </p:sp>
      <p:cxnSp>
        <p:nvCxnSpPr>
          <p:cNvPr id="45" name="">
            <a:extLst xmlns:a="http://schemas.openxmlformats.org/drawingml/2006/main">
              <a:ext uri="{FF2B5EF4-FFF2-40B4-BE49-F238E27FC236}">
                <a16:creationId xmlns:a16="http://schemas.microsoft.com/office/drawing/2014/main" id="{492152F0-7575-46D3-85CC-5ABDB1C729C7}"/>
              </a:ext>
            </a:extLst>
          </p:cNvPr>
          <p:cNvCxnSpPr/>
          <p:nvPr/>
        </p:nvCxnSpPr>
        <p:spPr>
          <a:xfrm xmlns:a="http://schemas.openxmlformats.org/drawingml/2006/main" flipH="0" flipV="0">
            <a:off x="16694150" y="3911600"/>
            <a:ext cx="0" cy="342900"/>
          </a:xfrm>
          <a:prstGeom xmlns:a="http://schemas.openxmlformats.org/drawingml/2006/main" prst="straightConnector1">
            <a:avLst/>
          </a:prstGeom>
          <a:ln xmlns:a="http://schemas.openxmlformats.org/drawingml/2006/main" w="29210">
            <a:solidFill>
              <a:srgbClr val="000000"/>
            </a:solidFill>
            <a:prstDash val="solid"/>
            <a:tailEnd type="triangle" w="med" len="med"/>
          </a:ln>
        </p:spPr>
      </p:cxnSp>
      <p:sp>
        <p:nvSpPr>
          <p:cNvPr id="46" name="shape-244">
            <a:extLst xmlns:a="http://schemas.openxmlformats.org/drawingml/2006/main">
              <a:ext uri="{FF2B5EF4-FFF2-40B4-BE49-F238E27FC236}">
                <a16:creationId xmlns:a16="http://schemas.microsoft.com/office/drawing/2014/main" id="{3482F370-DF8C-42E1-B661-4992A78160F6}"/>
              </a:ext>
            </a:extLst>
          </p:cNvPr>
          <p:cNvSpPr>
            <a:spLocks xmlns:a="http://schemas.openxmlformats.org/drawingml/2006/main" noGrp="1"/>
          </p:cNvSpPr>
          <p:nvPr/>
        </p:nvSpPr>
        <p:spPr>
          <a:xfrm xmlns:a="http://schemas.openxmlformats.org/drawingml/2006/main">
            <a:off x="15303500" y="5435600"/>
            <a:ext cx="2781300" cy="838200"/>
          </a:xfrm>
          <a:prstGeom xmlns:a="http://schemas.openxmlformats.org/drawingml/2006/main" prst="roundRect">
            <a:avLst>
              <a:gd name="adj" fmla="val 18182"/>
            </a:avLst>
          </a:prstGeom>
          <a:solidFill xmlns:a="http://schemas.openxmlformats.org/drawingml/2006/main">
            <a:srgbClr val="FBEFB6"/>
          </a:solidFill>
          <a:ln xmlns:a="http://schemas.openxmlformats.org/drawingml/2006/main" w="25400">
            <a:solidFill>
              <a:srgbClr val="000000"/>
            </a:solidFill>
            <a:prstDash val="solid"/>
          </a:ln>
        </p:spPr>
        <p:txBody>
          <a:bodyPr xmlns:a="http://schemas.openxmlformats.org/drawingml/2006/main" wrap="square" lIns="88900" tIns="88900" rIns="88900" bIns="88900" anchor="ctr">
            <a:noAutofit/>
          </a:bodyPr>
          <a:lstStyle xmlns:a="http://schemas.openxmlformats.org/drawingml/2006/main">
            <a:defPPr algn="ctr">
              <a:defRPr sz="2100" b="0">
                <a:solidFill>
                  <a:srgbClr val="000000"/>
                </a:solidFill>
                <a:latin typeface="Times New Roman"/>
                <a:ea typeface="Times New Roman"/>
                <a:cs typeface="Times New Roman"/>
              </a:defRPr>
            </a:defPPr>
          </a:lstStyle>
          <a:p xmlns:a="http://schemas.openxmlformats.org/drawingml/2006/main">
            <a:pPr algn="ct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Operational service targets</a:t>
            </a:r>
          </a:p>
        </p:txBody>
      </p:sp>
      <p:cxnSp>
        <p:nvCxnSpPr>
          <p:cNvPr id="47" name="">
            <a:extLst xmlns:a="http://schemas.openxmlformats.org/drawingml/2006/main">
              <a:ext uri="{FF2B5EF4-FFF2-40B4-BE49-F238E27FC236}">
                <a16:creationId xmlns:a16="http://schemas.microsoft.com/office/drawing/2014/main" id="{1893E2F3-FC1D-4F1F-9584-8F2E31513FA6}"/>
              </a:ext>
            </a:extLst>
          </p:cNvPr>
          <p:cNvCxnSpPr/>
          <p:nvPr/>
        </p:nvCxnSpPr>
        <p:spPr>
          <a:xfrm xmlns:a="http://schemas.openxmlformats.org/drawingml/2006/main" flipH="0" flipV="0">
            <a:off x="16694150" y="5092700"/>
            <a:ext cx="0" cy="342900"/>
          </a:xfrm>
          <a:prstGeom xmlns:a="http://schemas.openxmlformats.org/drawingml/2006/main" prst="straightConnector1">
            <a:avLst/>
          </a:prstGeom>
          <a:ln xmlns:a="http://schemas.openxmlformats.org/drawingml/2006/main" w="29210">
            <a:solidFill>
              <a:srgbClr val="000000"/>
            </a:solidFill>
            <a:prstDash val="solid"/>
            <a:tailEnd type="triangle" w="med" len="med"/>
          </a:ln>
        </p:spPr>
      </p:cxnSp>
      <p:sp>
        <p:nvSpPr>
          <p:cNvPr id="48" name="shape-245">
            <a:extLst xmlns:a="http://schemas.openxmlformats.org/drawingml/2006/main">
              <a:ext uri="{FF2B5EF4-FFF2-40B4-BE49-F238E27FC236}">
                <a16:creationId xmlns:a16="http://schemas.microsoft.com/office/drawing/2014/main" id="{9CCBCA49-F289-4D7E-8684-FE9E07489F9B}"/>
              </a:ext>
            </a:extLst>
          </p:cNvPr>
          <p:cNvSpPr>
            <a:spLocks xmlns:a="http://schemas.openxmlformats.org/drawingml/2006/main" noGrp="1"/>
          </p:cNvSpPr>
          <p:nvPr/>
        </p:nvSpPr>
        <p:spPr>
          <a:xfrm xmlns:a="http://schemas.openxmlformats.org/drawingml/2006/main">
            <a:off x="15303500" y="6616700"/>
            <a:ext cx="2781300" cy="838200"/>
          </a:xfrm>
          <a:prstGeom xmlns:a="http://schemas.openxmlformats.org/drawingml/2006/main" prst="roundRect">
            <a:avLst>
              <a:gd name="adj" fmla="val 18182"/>
            </a:avLst>
          </a:prstGeom>
          <a:solidFill xmlns:a="http://schemas.openxmlformats.org/drawingml/2006/main">
            <a:srgbClr val="FBEFB6"/>
          </a:solidFill>
          <a:ln xmlns:a="http://schemas.openxmlformats.org/drawingml/2006/main" w="25400">
            <a:solidFill>
              <a:srgbClr val="000000"/>
            </a:solidFill>
            <a:prstDash val="solid"/>
          </a:ln>
        </p:spPr>
        <p:txBody>
          <a:bodyPr xmlns:a="http://schemas.openxmlformats.org/drawingml/2006/main" wrap="square" lIns="88900" tIns="88900" rIns="88900" bIns="88900" anchor="ctr">
            <a:noAutofit/>
          </a:bodyPr>
          <a:lstStyle xmlns:a="http://schemas.openxmlformats.org/drawingml/2006/main">
            <a:defPPr algn="ctr">
              <a:defRPr sz="2100" b="0">
                <a:solidFill>
                  <a:srgbClr val="000000"/>
                </a:solidFill>
                <a:latin typeface="Times New Roman"/>
                <a:ea typeface="Times New Roman"/>
                <a:cs typeface="Times New Roman"/>
              </a:defRPr>
            </a:defPPr>
          </a:lstStyle>
          <a:p xmlns:a="http://schemas.openxmlformats.org/drawingml/2006/main">
            <a:pPr algn="ct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Partner-led expansion</a:t>
            </a:r>
          </a:p>
        </p:txBody>
      </p:sp>
      <p:cxnSp>
        <p:nvCxnSpPr>
          <p:cNvPr id="49" name="">
            <a:extLst xmlns:a="http://schemas.openxmlformats.org/drawingml/2006/main">
              <a:ext uri="{FF2B5EF4-FFF2-40B4-BE49-F238E27FC236}">
                <a16:creationId xmlns:a16="http://schemas.microsoft.com/office/drawing/2014/main" id="{0FE536BB-807F-4CC9-B022-6DB5B3DA32E0}"/>
              </a:ext>
            </a:extLst>
          </p:cNvPr>
          <p:cNvCxnSpPr/>
          <p:nvPr/>
        </p:nvCxnSpPr>
        <p:spPr>
          <a:xfrm xmlns:a="http://schemas.openxmlformats.org/drawingml/2006/main" flipH="0" flipV="0">
            <a:off x="16694150" y="6273800"/>
            <a:ext cx="0" cy="342900"/>
          </a:xfrm>
          <a:prstGeom xmlns:a="http://schemas.openxmlformats.org/drawingml/2006/main" prst="straightConnector1">
            <a:avLst/>
          </a:prstGeom>
          <a:ln xmlns:a="http://schemas.openxmlformats.org/drawingml/2006/main" w="29210">
            <a:solidFill>
              <a:srgbClr val="000000"/>
            </a:solidFill>
            <a:prstDash val="solid"/>
            <a:tailEnd type="triangle" w="med" len="med"/>
          </a:ln>
        </p:spPr>
      </p:cxnSp>
      <p:sp>
        <p:nvSpPr>
          <p:cNvPr id="50" name="shape-246">
            <a:extLst xmlns:a="http://schemas.openxmlformats.org/drawingml/2006/main">
              <a:ext uri="{FF2B5EF4-FFF2-40B4-BE49-F238E27FC236}">
                <a16:creationId xmlns:a16="http://schemas.microsoft.com/office/drawing/2014/main" id="{06E73F23-E4A5-4069-BF69-B0216D78DEE3}"/>
              </a:ext>
            </a:extLst>
          </p:cNvPr>
          <p:cNvSpPr>
            <a:spLocks xmlns:a="http://schemas.openxmlformats.org/drawingml/2006/main" noGrp="1"/>
          </p:cNvSpPr>
          <p:nvPr/>
        </p:nvSpPr>
        <p:spPr>
          <a:xfrm xmlns:a="http://schemas.openxmlformats.org/drawingml/2006/main">
            <a:off x="11252200" y="4419600"/>
            <a:ext cx="393700" cy="152400"/>
          </a:xfrm>
          <a:prstGeom xmlns:a="http://schemas.openxmlformats.org/drawingml/2006/main" prst="rightArrow">
            <a:avLst/>
          </a:prstGeom>
          <a:solidFill xmlns:a="http://schemas.openxmlformats.org/drawingml/2006/main">
            <a:srgbClr val="000000"/>
          </a:solidFill>
          <a:ln xmlns:a="http://schemas.openxmlformats.org/drawingml/2006/main" w="0">
            <a:noFill/>
            <a:prstDash val="solid"/>
          </a:ln>
        </p:spPr>
      </p:sp>
      <p:sp>
        <p:nvSpPr>
          <p:cNvPr id="51" name="shape-247">
            <a:extLst xmlns:a="http://schemas.openxmlformats.org/drawingml/2006/main">
              <a:ext uri="{FF2B5EF4-FFF2-40B4-BE49-F238E27FC236}">
                <a16:creationId xmlns:a16="http://schemas.microsoft.com/office/drawing/2014/main" id="{CEE0796F-3408-4696-A1BB-1D1AF25379E4}"/>
              </a:ext>
            </a:extLst>
          </p:cNvPr>
          <p:cNvSpPr>
            <a:spLocks xmlns:a="http://schemas.openxmlformats.org/drawingml/2006/main" noGrp="1"/>
          </p:cNvSpPr>
          <p:nvPr/>
        </p:nvSpPr>
        <p:spPr>
          <a:xfrm xmlns:a="http://schemas.openxmlformats.org/drawingml/2006/main">
            <a:off x="14757400" y="4419600"/>
            <a:ext cx="381000" cy="152400"/>
          </a:xfrm>
          <a:prstGeom xmlns:a="http://schemas.openxmlformats.org/drawingml/2006/main" prst="rightArrow">
            <a:avLst/>
          </a:prstGeom>
          <a:solidFill xmlns:a="http://schemas.openxmlformats.org/drawingml/2006/main">
            <a:srgbClr val="000000"/>
          </a:solidFill>
          <a:ln xmlns:a="http://schemas.openxmlformats.org/drawingml/2006/main" w="0">
            <a:noFill/>
            <a:prstDash val="solid"/>
          </a:ln>
        </p:spPr>
      </p:sp>
      <p:sp>
        <p:nvSpPr>
          <p:cNvPr id="52" name="shape-248">
            <a:extLst xmlns:a="http://schemas.openxmlformats.org/drawingml/2006/main">
              <a:ext uri="{FF2B5EF4-FFF2-40B4-BE49-F238E27FC236}">
                <a16:creationId xmlns:a16="http://schemas.microsoft.com/office/drawing/2014/main" id="{30E057E8-83B6-4E79-A41E-3C24D76A4356}"/>
              </a:ext>
            </a:extLst>
          </p:cNvPr>
          <p:cNvSpPr>
            <a:spLocks xmlns:a="http://schemas.openxmlformats.org/drawingml/2006/main" noGrp="1"/>
          </p:cNvSpPr>
          <p:nvPr/>
        </p:nvSpPr>
        <p:spPr>
          <a:xfrm xmlns:a="http://schemas.openxmlformats.org/drawingml/2006/main">
            <a:off x="10363200" y="7988300"/>
            <a:ext cx="5321300" cy="698500"/>
          </a:xfrm>
          <a:prstGeom xmlns:a="http://schemas.openxmlformats.org/drawingml/2006/main" prst="roundRect">
            <a:avLst>
              <a:gd name="adj" fmla="val 49091"/>
            </a:avLst>
          </a:prstGeom>
          <a:solidFill xmlns:a="http://schemas.openxmlformats.org/drawingml/2006/main">
            <a:srgbClr val="E0EDF6"/>
          </a:solidFill>
          <a:ln xmlns:a="http://schemas.openxmlformats.org/drawingml/2006/main" w="0">
            <a:noFill/>
            <a:prstDash val="solid"/>
          </a:ln>
        </p:spPr>
        <p:txBody>
          <a:bodyPr xmlns:a="http://schemas.openxmlformats.org/drawingml/2006/main" wrap="square" lIns="88900" tIns="88900" rIns="88900" bIns="88900" anchor="ctr">
            <a:noAutofit/>
          </a:bodyPr>
          <a:lstStyle xmlns:a="http://schemas.openxmlformats.org/drawingml/2006/main">
            <a:defPPr algn="ctr">
              <a:defRPr sz="1900" b="0">
                <a:solidFill>
                  <a:srgbClr val="000000"/>
                </a:solidFill>
                <a:latin typeface="Times New Roman"/>
                <a:ea typeface="Times New Roman"/>
                <a:cs typeface="Times New Roman"/>
              </a:defRPr>
            </a:defPPr>
          </a:lstStyle>
          <a:p xmlns:a="http://schemas.openxmlformats.org/drawingml/2006/main">
            <a:pPr algn="ctr">
              <a:defRPr sz="1900" b="0">
                <a:solidFill>
                  <a:srgbClr val="000000"/>
                </a:solidFill>
                <a:latin typeface="Times New Roman"/>
                <a:ea typeface="Times New Roman"/>
                <a:cs typeface="Times New Roman"/>
              </a:defRPr>
            </a:pPr>
            <a:r>
              <a:rPr sz="1900" b="0">
                <a:solidFill>
                  <a:srgbClr val="000000"/>
                </a:solidFill>
                <a:latin typeface="Times New Roman"/>
                <a:ea typeface="Times New Roman"/>
                <a:cs typeface="Times New Roman"/>
              </a:rPr>
              <a:t>Expansion gate: verified customer value and approved data access</a:t>
            </a:r>
          </a:p>
        </p:txBody>
      </p:sp>
      <p:sp>
        <p:nvSpPr>
          <p:cNvPr id="53" name="text-250">
            <a:extLst xmlns:a="http://schemas.openxmlformats.org/drawingml/2006/main">
              <a:ext uri="{FF2B5EF4-FFF2-40B4-BE49-F238E27FC236}">
                <a16:creationId xmlns:a16="http://schemas.microsoft.com/office/drawing/2014/main" id="{1738928F-7552-4C80-8FC3-BF438D385F8A}"/>
              </a:ext>
            </a:extLst>
          </p:cNvPr>
          <p:cNvSpPr>
            <a:spLocks xmlns:a="http://schemas.openxmlformats.org/drawingml/2006/main" noGrp="1"/>
          </p:cNvSpPr>
          <p:nvPr/>
        </p:nvSpPr>
        <p:spPr>
          <a:xfrm xmlns:a="http://schemas.openxmlformats.org/drawingml/2006/main">
            <a:off x="8534400" y="8940800"/>
            <a:ext cx="9423400" cy="355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0" i="0">
                <a:solidFill>
                  <a:srgbClr val="000000"/>
                </a:solidFill>
                <a:latin typeface="Times New Roman"/>
                <a:ea typeface="Times New Roman"/>
                <a:cs typeface="Times New Roman"/>
              </a:defRPr>
            </a:defPPr>
          </a:lstStyle>
          <a:p xmlns:a="http://schemas.openxmlformats.org/drawingml/2006/main">
            <a:pPr algn="ctr">
              <a:defRPr sz="2100" b="0" i="0">
                <a:solidFill>
                  <a:srgbClr val="000000"/>
                </a:solidFill>
                <a:latin typeface="Times New Roman"/>
                <a:ea typeface="Times New Roman"/>
                <a:cs typeface="Times New Roman"/>
              </a:defRPr>
            </a:pPr>
            <a:r>
              <a:rPr sz="2100" b="0" i="0">
                <a:solidFill>
                  <a:srgbClr val="000000"/>
                </a:solidFill>
                <a:latin typeface="Times New Roman"/>
                <a:ea typeface="Times New Roman"/>
                <a:cs typeface="Times New Roman"/>
              </a:rPr>
              <a:t>Pilot measures: time to fill, internal fill share and realized cost</a:t>
            </a:r>
          </a:p>
        </p:txBody>
      </p:sp>
      <p:sp>
        <p:nvSpPr>
          <p:cNvPr id="54" name="text-252">
            <a:extLst xmlns:a="http://schemas.openxmlformats.org/drawingml/2006/main">
              <a:ext uri="{FF2B5EF4-FFF2-40B4-BE49-F238E27FC236}">
                <a16:creationId xmlns:a16="http://schemas.microsoft.com/office/drawing/2014/main" id="{E3E07878-24E5-4CBE-B74E-EE403E98659F}"/>
              </a:ext>
            </a:extLst>
          </p:cNvPr>
          <p:cNvSpPr>
            <a:spLocks xmlns:a="http://schemas.openxmlformats.org/drawingml/2006/main" noGrp="1"/>
          </p:cNvSpPr>
          <p:nvPr/>
        </p:nvSpPr>
        <p:spPr>
          <a:xfrm xmlns:a="http://schemas.openxmlformats.org/drawingml/2006/main">
            <a:off x="8534400" y="9321800"/>
            <a:ext cx="942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00" b="0" i="1">
                <a:solidFill>
                  <a:srgbClr val="000000"/>
                </a:solidFill>
                <a:latin typeface="Times New Roman"/>
                <a:ea typeface="Times New Roman"/>
                <a:cs typeface="Times New Roman"/>
              </a:defRPr>
            </a:defPPr>
          </a:lstStyle>
          <a:p xmlns:a="http://schemas.openxmlformats.org/drawingml/2006/main">
            <a:pPr algn="ctr">
              <a:defRPr sz="1700" b="0" i="1">
                <a:solidFill>
                  <a:srgbClr val="000000"/>
                </a:solidFill>
                <a:latin typeface="Times New Roman"/>
                <a:ea typeface="Times New Roman"/>
                <a:cs typeface="Times New Roman"/>
              </a:defRPr>
            </a:pPr>
            <a:r>
              <a:rPr sz="1700" b="0" i="1">
                <a:solidFill>
                  <a:srgbClr val="000000"/>
                </a:solidFill>
                <a:latin typeface="Times New Roman"/>
                <a:ea typeface="Times New Roman"/>
                <a:cs typeface="Times New Roman"/>
              </a:rPr>
              <a:t>Commercial model and expansion phases are proposals</a:t>
            </a:r>
          </a:p>
        </p:txBody>
      </p:sp>
    </p:spTree>
    <p:extLst>
      <p:ext uri="{BB962C8B-B14F-4D97-AF65-F5344CB8AC3E}">
        <p14:creationId xmlns:p14="http://schemas.microsoft.com/office/powerpoint/2010/main" val="136519086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shape-253">
            <a:extLst xmlns:a="http://schemas.openxmlformats.org/drawingml/2006/main">
              <a:ext uri="{FF2B5EF4-FFF2-40B4-BE49-F238E27FC236}">
                <a16:creationId xmlns:a16="http://schemas.microsoft.com/office/drawing/2014/main" id="{032B4499-47E2-46F3-9126-F6380C2391B9}"/>
              </a:ext>
            </a:extLst>
          </p:cNvPr>
          <p:cNvSpPr>
            <a:spLocks xmlns:a="http://schemas.openxmlformats.org/drawingml/2006/main" noGrp="1"/>
          </p:cNvSpPr>
          <p:nvPr/>
        </p:nvSpPr>
        <p:spPr>
          <a:xfrm xmlns:a="http://schemas.openxmlformats.org/drawingml/2006/main">
            <a:off x="127000" y="114300"/>
            <a:ext cx="1524000" cy="990600"/>
          </a:xfrm>
          <a:prstGeom xmlns:a="http://schemas.openxmlformats.org/drawingml/2006/main" prst="ellipse">
            <a:avLst/>
          </a:prstGeom>
          <a:noFill xmlns:a="http://schemas.openxmlformats.org/drawingml/2006/main"/>
          <a:ln xmlns:a="http://schemas.openxmlformats.org/drawingml/2006/main" w="30480">
            <a:solidFill>
              <a:srgbClr val="8064A2"/>
            </a:solidFill>
            <a:prstDash val="solid"/>
          </a:ln>
        </p:spPr>
      </p:sp>
      <p:sp>
        <p:nvSpPr>
          <p:cNvPr id="2" name="text-255">
            <a:extLst xmlns:a="http://schemas.openxmlformats.org/drawingml/2006/main">
              <a:ext uri="{FF2B5EF4-FFF2-40B4-BE49-F238E27FC236}">
                <a16:creationId xmlns:a16="http://schemas.microsoft.com/office/drawing/2014/main" id="{A06D2E17-EDAF-4141-920C-E32A1D08A999}"/>
              </a:ext>
            </a:extLst>
          </p:cNvPr>
          <p:cNvSpPr>
            <a:spLocks xmlns:a="http://schemas.openxmlformats.org/drawingml/2006/main" noGrp="1"/>
          </p:cNvSpPr>
          <p:nvPr/>
        </p:nvSpPr>
        <p:spPr>
          <a:xfrm xmlns:a="http://schemas.openxmlformats.org/drawingml/2006/main">
            <a:off x="190500" y="381000"/>
            <a:ext cx="1397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300" b="1" i="0">
                <a:solidFill>
                  <a:srgbClr val="000000"/>
                </a:solidFill>
                <a:latin typeface="Times New Roman"/>
                <a:ea typeface="Times New Roman"/>
                <a:cs typeface="Times New Roman"/>
              </a:defRPr>
            </a:defPPr>
          </a:lstStyle>
          <a:p xmlns:a="http://schemas.openxmlformats.org/drawingml/2006/main">
            <a:pPr algn="ctr">
              <a:defRPr sz="1300" b="1" i="0">
                <a:solidFill>
                  <a:srgbClr val="000000"/>
                </a:solidFill>
                <a:latin typeface="Times New Roman"/>
                <a:ea typeface="Times New Roman"/>
                <a:cs typeface="Times New Roman"/>
              </a:defRPr>
            </a:pPr>
            <a:r>
              <a:rPr sz="1300" b="1" i="0">
                <a:solidFill>
                  <a:srgbClr val="000000"/>
                </a:solidFill>
                <a:latin typeface="Times New Roman"/>
                <a:ea typeface="Times New Roman"/>
                <a:cs typeface="Times New Roman"/>
              </a:rPr>
              <a:t>WORKFORCE</a:t>
            </a:r>
          </a:p>
          <a:p xmlns:a="http://schemas.openxmlformats.org/drawingml/2006/main">
            <a:pPr algn="ctr">
              <a:defRPr sz="1300" b="1" i="0">
                <a:solidFill>
                  <a:srgbClr val="000000"/>
                </a:solidFill>
                <a:latin typeface="Times New Roman"/>
                <a:ea typeface="Times New Roman"/>
                <a:cs typeface="Times New Roman"/>
              </a:defRPr>
            </a:pPr>
            <a:r>
              <a:rPr sz="1300" b="1" i="0">
                <a:solidFill>
                  <a:srgbClr val="000000"/>
                </a:solidFill>
                <a:latin typeface="Times New Roman"/>
                <a:ea typeface="Times New Roman"/>
                <a:cs typeface="Times New Roman"/>
              </a:rPr>
              <a:t>ADVISORY</a:t>
            </a:r>
          </a:p>
        </p:txBody>
      </p:sp>
      <p:sp>
        <p:nvSpPr>
          <p:cNvPr id="3" name="slide-title">
            <a:extLst xmlns:a="http://schemas.openxmlformats.org/drawingml/2006/main">
              <a:ext uri="{FF2B5EF4-FFF2-40B4-BE49-F238E27FC236}">
                <a16:creationId xmlns:a16="http://schemas.microsoft.com/office/drawing/2014/main" id="{3F93C6F4-30C3-48C2-8408-F14B4F982E37}"/>
              </a:ext>
            </a:extLst>
          </p:cNvPr>
          <p:cNvSpPr>
            <a:spLocks xmlns:a="http://schemas.openxmlformats.org/drawingml/2006/main" noGrp="1"/>
          </p:cNvSpPr>
          <p:nvPr/>
        </p:nvSpPr>
        <p:spPr>
          <a:xfrm xmlns:a="http://schemas.openxmlformats.org/drawingml/2006/main">
            <a:off x="1905000" y="152400"/>
            <a:ext cx="13335000" cy="850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4300" b="1" i="0">
                <a:solidFill>
                  <a:srgbClr val="000000"/>
                </a:solidFill>
                <a:latin typeface="Times New Roman"/>
                <a:ea typeface="Times New Roman"/>
                <a:cs typeface="Times New Roman"/>
              </a:defRPr>
            </a:defPPr>
          </a:lstStyle>
          <a:p xmlns:a="http://schemas.openxmlformats.org/drawingml/2006/main">
            <a:pPr algn="ctr">
              <a:defRPr sz="4300" b="1" i="0">
                <a:solidFill>
                  <a:srgbClr val="000000"/>
                </a:solidFill>
                <a:latin typeface="Times New Roman"/>
                <a:ea typeface="Times New Roman"/>
                <a:cs typeface="Times New Roman"/>
              </a:defRPr>
            </a:pPr>
            <a:r>
              <a:rPr sz="4300" b="1" i="0">
                <a:solidFill>
                  <a:srgbClr val="000000"/>
                </a:solidFill>
                <a:latin typeface="Times New Roman"/>
                <a:ea typeface="Times New Roman"/>
                <a:cs typeface="Times New Roman"/>
              </a:rPr>
              <a:t>FEASIBILITY AND VIABILITY</a:t>
            </a:r>
          </a:p>
        </p:txBody>
      </p:sp>
      <p:sp>
        <p:nvSpPr>
          <p:cNvPr id="4" name="text-258">
            <a:extLst xmlns:a="http://schemas.openxmlformats.org/drawingml/2006/main">
              <a:ext uri="{FF2B5EF4-FFF2-40B4-BE49-F238E27FC236}">
                <a16:creationId xmlns:a16="http://schemas.microsoft.com/office/drawing/2014/main" id="{0A414D0A-25B7-48FC-AD0E-E509C3DB1F82}"/>
              </a:ext>
            </a:extLst>
          </p:cNvPr>
          <p:cNvSpPr>
            <a:spLocks xmlns:a="http://schemas.openxmlformats.org/drawingml/2006/main" noGrp="1"/>
          </p:cNvSpPr>
          <p:nvPr/>
        </p:nvSpPr>
        <p:spPr>
          <a:xfrm xmlns:a="http://schemas.openxmlformats.org/drawingml/2006/main">
            <a:off x="15557500" y="215900"/>
            <a:ext cx="2476500" cy="850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700" b="1" i="0">
                <a:solidFill>
                  <a:srgbClr val="214E83"/>
                </a:solidFill>
                <a:latin typeface="Garamond"/>
                <a:ea typeface="Garamond"/>
                <a:cs typeface="Garamond"/>
              </a:defRPr>
            </a:defPPr>
          </a:lstStyle>
          <a:p xmlns:a="http://schemas.openxmlformats.org/drawingml/2006/main">
            <a:pPr algn="ctr">
              <a:defRPr sz="2700" b="1" i="0">
                <a:solidFill>
                  <a:srgbClr val="214E83"/>
                </a:solidFill>
                <a:latin typeface="Garamond"/>
                <a:ea typeface="Garamond"/>
                <a:cs typeface="Garamond"/>
              </a:defRPr>
            </a:pPr>
            <a:r>
              <a:rPr sz="2700" b="1" i="0">
                <a:solidFill>
                  <a:srgbClr val="214E83"/>
                </a:solidFill>
                <a:latin typeface="Garamond"/>
                <a:ea typeface="Garamond"/>
                <a:cs typeface="Garamond"/>
              </a:rPr>
              <a:t>KERNEL</a:t>
            </a:r>
          </a:p>
          <a:p xmlns:a="http://schemas.openxmlformats.org/drawingml/2006/main">
            <a:pPr algn="ctr">
              <a:defRPr sz="2700" b="1" i="0">
                <a:solidFill>
                  <a:srgbClr val="214E83"/>
                </a:solidFill>
                <a:latin typeface="Garamond"/>
                <a:ea typeface="Garamond"/>
                <a:cs typeface="Garamond"/>
              </a:defRPr>
            </a:pPr>
            <a:r>
              <a:rPr sz="2700" b="1" i="0">
                <a:solidFill>
                  <a:srgbClr val="214E83"/>
                </a:solidFill>
                <a:latin typeface="Garamond"/>
                <a:ea typeface="Garamond"/>
                <a:cs typeface="Garamond"/>
              </a:rPr>
              <a:t>PRIME’26</a:t>
            </a:r>
          </a:p>
        </p:txBody>
      </p:sp>
      <p:sp>
        <p:nvSpPr>
          <p:cNvPr id="5" name="shape-259">
            <a:extLst xmlns:a="http://schemas.openxmlformats.org/drawingml/2006/main">
              <a:ext uri="{FF2B5EF4-FFF2-40B4-BE49-F238E27FC236}">
                <a16:creationId xmlns:a16="http://schemas.microsoft.com/office/drawing/2014/main" id="{A11D174A-908E-451D-8960-3F16A09E7B34}"/>
              </a:ext>
            </a:extLst>
          </p:cNvPr>
          <p:cNvSpPr>
            <a:spLocks xmlns:a="http://schemas.openxmlformats.org/drawingml/2006/main" noGrp="1"/>
          </p:cNvSpPr>
          <p:nvPr/>
        </p:nvSpPr>
        <p:spPr>
          <a:xfrm xmlns:a="http://schemas.openxmlformats.org/drawingml/2006/main">
            <a:off x="0" y="9690100"/>
            <a:ext cx="18288000" cy="596900"/>
          </a:xfrm>
          <a:prstGeom xmlns:a="http://schemas.openxmlformats.org/drawingml/2006/main" prst="rect">
            <a:avLst/>
          </a:prstGeom>
          <a:solidFill xmlns:a="http://schemas.openxmlformats.org/drawingml/2006/main">
            <a:srgbClr val="0071BC"/>
          </a:solidFill>
          <a:ln xmlns:a="http://schemas.openxmlformats.org/drawingml/2006/main" w="0">
            <a:noFill/>
            <a:prstDash val="solid"/>
          </a:ln>
        </p:spPr>
      </p:sp>
      <p:sp>
        <p:nvSpPr>
          <p:cNvPr id="6" name="text-261">
            <a:extLst xmlns:a="http://schemas.openxmlformats.org/drawingml/2006/main">
              <a:ext uri="{FF2B5EF4-FFF2-40B4-BE49-F238E27FC236}">
                <a16:creationId xmlns:a16="http://schemas.microsoft.com/office/drawing/2014/main" id="{13A824FA-F645-4233-8A1B-813C863F7825}"/>
              </a:ext>
            </a:extLst>
          </p:cNvPr>
          <p:cNvSpPr>
            <a:spLocks xmlns:a="http://schemas.openxmlformats.org/drawingml/2006/main" noGrp="1"/>
          </p:cNvSpPr>
          <p:nvPr/>
        </p:nvSpPr>
        <p:spPr>
          <a:xfrm xmlns:a="http://schemas.openxmlformats.org/drawingml/2006/main">
            <a:off x="17081500" y="9893300"/>
            <a:ext cx="571500" cy="25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00" b="1" i="0">
                <a:solidFill>
                  <a:srgbClr val="FFFFFF"/>
                </a:solidFill>
                <a:latin typeface="Times New Roman"/>
                <a:ea typeface="Times New Roman"/>
                <a:cs typeface="Times New Roman"/>
              </a:defRPr>
            </a:defPPr>
          </a:lstStyle>
          <a:p xmlns:a="http://schemas.openxmlformats.org/drawingml/2006/main">
            <a:pPr algn="ctr">
              <a:defRPr sz="1600" b="1" i="0">
                <a:solidFill>
                  <a:srgbClr val="FFFFFF"/>
                </a:solidFill>
                <a:latin typeface="Times New Roman"/>
                <a:ea typeface="Times New Roman"/>
                <a:cs typeface="Times New Roman"/>
              </a:defRPr>
            </a:pPr>
            <a:r>
              <a:rPr sz="1600" b="1" i="0">
                <a:solidFill>
                  <a:srgbClr val="FFFFFF"/>
                </a:solidFill>
                <a:latin typeface="Times New Roman"/>
                <a:ea typeface="Times New Roman"/>
                <a:cs typeface="Times New Roman"/>
              </a:rPr>
              <a:t>5</a:t>
            </a:r>
          </a:p>
        </p:txBody>
      </p:sp>
      <p:sp>
        <p:nvSpPr>
          <p:cNvPr id="7" name="shape-262">
            <a:extLst xmlns:a="http://schemas.openxmlformats.org/drawingml/2006/main">
              <a:ext uri="{FF2B5EF4-FFF2-40B4-BE49-F238E27FC236}">
                <a16:creationId xmlns:a16="http://schemas.microsoft.com/office/drawing/2014/main" id="{C93E96E8-AF57-4F9F-958E-6FB2F9FBF89C}"/>
              </a:ext>
            </a:extLst>
          </p:cNvPr>
          <p:cNvSpPr>
            <a:spLocks xmlns:a="http://schemas.openxmlformats.org/drawingml/2006/main" noGrp="1"/>
          </p:cNvSpPr>
          <p:nvPr/>
        </p:nvSpPr>
        <p:spPr>
          <a:xfrm xmlns:a="http://schemas.openxmlformats.org/drawingml/2006/main">
            <a:off x="165100" y="1308100"/>
            <a:ext cx="17970500" cy="457200"/>
          </a:xfrm>
          <a:prstGeom xmlns:a="http://schemas.openxmlformats.org/drawingml/2006/main" prst="roundRect">
            <a:avLst>
              <a:gd name="adj" fmla="val 27778"/>
            </a:avLst>
          </a:prstGeom>
          <a:solidFill xmlns:a="http://schemas.openxmlformats.org/drawingml/2006/main">
            <a:srgbClr val="0071BC"/>
          </a:solidFill>
          <a:ln xmlns:a="http://schemas.openxmlformats.org/drawingml/2006/main" w="0">
            <a:noFill/>
            <a:prstDash val="solid"/>
          </a:ln>
        </p:spPr>
        <p:txBody>
          <a:bodyPr xmlns:a="http://schemas.openxmlformats.org/drawingml/2006/main" wrap="square" lIns="88900" tIns="88900" rIns="88900" bIns="88900" anchor="ctr">
            <a:noAutofit/>
          </a:bodyPr>
          <a:lstStyle xmlns:a="http://schemas.openxmlformats.org/drawingml/2006/main">
            <a:defPPr algn="ctr">
              <a:defRPr sz="3200" b="1">
                <a:solidFill>
                  <a:srgbClr val="FFFFFF"/>
                </a:solidFill>
                <a:latin typeface="Times New Roman"/>
                <a:ea typeface="Times New Roman"/>
                <a:cs typeface="Times New Roman"/>
              </a:defRPr>
            </a:defPPr>
          </a:lstStyle>
          <a:p xmlns:a="http://schemas.openxmlformats.org/drawingml/2006/main">
            <a:pPr algn="ctr">
              <a:defRPr sz="3200" b="1">
                <a:solidFill>
                  <a:srgbClr val="FFFFFF"/>
                </a:solidFill>
                <a:latin typeface="Times New Roman"/>
                <a:ea typeface="Times New Roman"/>
                <a:cs typeface="Times New Roman"/>
              </a:defRPr>
            </a:pPr>
            <a:r>
              <a:rPr sz="3200" b="1">
                <a:solidFill>
                  <a:srgbClr val="FFFFFF"/>
                </a:solidFill>
                <a:latin typeface="Times New Roman"/>
                <a:ea typeface="Times New Roman"/>
                <a:cs typeface="Times New Roman"/>
              </a:rPr>
              <a:t>FEASIBILITY ANALYSIS</a:t>
            </a:r>
          </a:p>
        </p:txBody>
      </p:sp>
      <p:graphicFrame>
        <p:nvGraphicFramePr>
          <p:cNvPr id="8" name="">
            <a:extLst xmlns:a="http://schemas.openxmlformats.org/drawingml/2006/main">
              <a:ext uri="{FF2B5EF4-FFF2-40B4-BE49-F238E27FC236}">
                <a16:creationId xmlns:a16="http://schemas.microsoft.com/office/drawing/2014/main" id="{FA21A9CE-02C0-448E-85A0-B857364D31BC}"/>
              </a:ext>
            </a:extLst>
          </p:cNvPr>
          <p:cNvGraphicFramePr/>
          <p:nvPr/>
        </p:nvGraphicFramePr>
        <p:xfrm>
          <a:off xmlns:a="http://schemas.openxmlformats.org/drawingml/2006/main" x="241300" y="1943100"/>
          <a:ext xmlns:a="http://schemas.openxmlformats.org/drawingml/2006/main" cx="17792700" cy="3352800"/>
        </p:xfrm>
        <a:graphic xmlns:a="http://schemas.openxmlformats.org/drawingml/2006/main">
          <a:graphicData uri="http://schemas.openxmlformats.org/drawingml/2006/table">
            <a:tbl>
              <a:tblPr/>
              <a:tblGrid>
                <a:gridCol w="3558540"/>
                <a:gridCol w="3558540"/>
                <a:gridCol w="3558540"/>
                <a:gridCol w="3558540"/>
                <a:gridCol w="3558540"/>
              </a:tblGrid>
              <a:tr h="673100">
                <a:tc>
                  <a:txBody>
                    <a:bodyPr wrap="square" lIns="101600" tIns="101600" rIns="101600" bIns="101600">
                      <a:noAutofit/>
                    </a:bodyPr>
                    <a:lstStyle/>
                    <a:p>
                      <a:pPr algn="ctr"/>
                      <a:r>
                        <a:rPr sz="2900" b="1">
                          <a:solidFill>
                            <a:srgbClr val="000000"/>
                          </a:solidFill>
                          <a:latin typeface="Times New Roman"/>
                          <a:ea typeface="Times New Roman"/>
                          <a:cs typeface="Times New Roman"/>
                        </a:rPr>
                        <a:t>Technical</a:t>
                      </a:r>
                    </a:p>
                  </a:txBody>
                  <a:tcPr marL="91440" marR="91440" marT="45720" marB="45720" anchor="ctr">
                    <a:solidFill>
                      <a:srgbClr val="D9EAF8"/>
                    </a:solidFill>
                  </a:tcPr>
                </a:tc>
                <a:tc>
                  <a:txBody>
                    <a:bodyPr wrap="square" lIns="101600" tIns="101600" rIns="101600" bIns="101600">
                      <a:noAutofit/>
                    </a:bodyPr>
                    <a:lstStyle/>
                    <a:p>
                      <a:pPr algn="ctr"/>
                      <a:r>
                        <a:rPr sz="2900" b="1">
                          <a:solidFill>
                            <a:srgbClr val="000000"/>
                          </a:solidFill>
                          <a:latin typeface="Times New Roman"/>
                          <a:ea typeface="Times New Roman"/>
                          <a:cs typeface="Times New Roman"/>
                        </a:rPr>
                        <a:t>Deployment</a:t>
                      </a:r>
                    </a:p>
                  </a:txBody>
                  <a:tcPr marL="91440" marR="91440" marT="45720" marB="45720" anchor="ctr">
                    <a:solidFill>
                      <a:srgbClr val="D9EAF8"/>
                    </a:solidFill>
                  </a:tcPr>
                </a:tc>
                <a:tc>
                  <a:txBody>
                    <a:bodyPr wrap="square" lIns="101600" tIns="101600" rIns="101600" bIns="101600">
                      <a:noAutofit/>
                    </a:bodyPr>
                    <a:lstStyle/>
                    <a:p>
                      <a:pPr algn="ctr"/>
                      <a:r>
                        <a:rPr sz="2900" b="1">
                          <a:solidFill>
                            <a:srgbClr val="000000"/>
                          </a:solidFill>
                          <a:latin typeface="Times New Roman"/>
                          <a:ea typeface="Times New Roman"/>
                          <a:cs typeface="Times New Roman"/>
                        </a:rPr>
                        <a:t>Operational</a:t>
                      </a:r>
                    </a:p>
                  </a:txBody>
                  <a:tcPr marL="91440" marR="91440" marT="45720" marB="45720" anchor="ctr">
                    <a:solidFill>
                      <a:srgbClr val="D9EAF8"/>
                    </a:solidFill>
                  </a:tcPr>
                </a:tc>
                <a:tc>
                  <a:txBody>
                    <a:bodyPr wrap="square" lIns="101600" tIns="101600" rIns="101600" bIns="101600">
                      <a:noAutofit/>
                    </a:bodyPr>
                    <a:lstStyle/>
                    <a:p>
                      <a:pPr algn="ctr"/>
                      <a:r>
                        <a:rPr sz="2900" b="1">
                          <a:solidFill>
                            <a:srgbClr val="000000"/>
                          </a:solidFill>
                          <a:latin typeface="Times New Roman"/>
                          <a:ea typeface="Times New Roman"/>
                          <a:cs typeface="Times New Roman"/>
                        </a:rPr>
                        <a:t>Scalable</a:t>
                      </a:r>
                    </a:p>
                  </a:txBody>
                  <a:tcPr marL="91440" marR="91440" marT="45720" marB="45720" anchor="ctr">
                    <a:solidFill>
                      <a:srgbClr val="D9EAF8"/>
                    </a:solidFill>
                  </a:tcPr>
                </a:tc>
                <a:tc>
                  <a:txBody>
                    <a:bodyPr wrap="square" lIns="101600" tIns="101600" rIns="101600" bIns="101600">
                      <a:noAutofit/>
                    </a:bodyPr>
                    <a:lstStyle/>
                    <a:p>
                      <a:pPr algn="ctr"/>
                      <a:r>
                        <a:rPr sz="2900" b="1">
                          <a:solidFill>
                            <a:srgbClr val="000000"/>
                          </a:solidFill>
                          <a:latin typeface="Times New Roman"/>
                          <a:ea typeface="Times New Roman"/>
                          <a:cs typeface="Times New Roman"/>
                        </a:rPr>
                        <a:t>Economic</a:t>
                      </a:r>
                    </a:p>
                  </a:txBody>
                  <a:tcPr marL="91440" marR="91440" marT="45720" marB="45720" anchor="ctr">
                    <a:solidFill>
                      <a:srgbClr val="D9EAF8"/>
                    </a:solidFill>
                  </a:tcPr>
                </a:tc>
              </a:tr>
              <a:tr h="2679700">
                <a:tc>
                  <a:txBody>
                    <a:bodyPr wrap="square" lIns="101600" tIns="101600" rIns="101600" bIns="101600">
                      <a:noAutofit/>
                    </a:bodyPr>
                    <a:lstStyle/>
                    <a:p>
                      <a:pPr algn="ctr"/>
                      <a:r>
                        <a:rPr sz="2300" b="1">
                          <a:solidFill>
                            <a:srgbClr val="000000"/>
                          </a:solidFill>
                          <a:latin typeface="Times New Roman"/>
                          <a:ea typeface="Times New Roman"/>
                          <a:cs typeface="Times New Roman"/>
                        </a:rPr>
                        <a:t>Next.js, TypeScript and PostgreSQL support the implemented workflow with explicit schemas and transactions.</a:t>
                      </a:r>
                    </a:p>
                  </a:txBody>
                  <a:tcPr marL="91440" marR="91440" marT="45720" marB="45720" anchor="ctr">
                    <a:solidFill>
                      <a:srgbClr val="E1F3FC"/>
                    </a:solidFill>
                  </a:tcPr>
                </a:tc>
                <a:tc>
                  <a:txBody>
                    <a:bodyPr wrap="square" lIns="101600" tIns="101600" rIns="101600" bIns="101600">
                      <a:noAutofit/>
                    </a:bodyPr>
                    <a:lstStyle/>
                    <a:p>
                      <a:pPr algn="ctr"/>
                      <a:r>
                        <a:rPr sz="2300" b="0">
                          <a:solidFill>
                            <a:srgbClr val="000000"/>
                          </a:solidFill>
                          <a:latin typeface="Times New Roman"/>
                          <a:ea typeface="Times New Roman"/>
                          <a:cs typeface="Times New Roman"/>
                        </a:rPr>
                        <a:t>The local web app uses Neon storage. Hosted release needs reviewed authentication, secrets and backups.</a:t>
                      </a:r>
                    </a:p>
                  </a:txBody>
                  <a:tcPr marL="91440" marR="91440" marT="45720" marB="45720" anchor="ctr">
                    <a:solidFill>
                      <a:srgbClr val="E1F3FC"/>
                    </a:solidFill>
                  </a:tcPr>
                </a:tc>
                <a:tc>
                  <a:txBody>
                    <a:bodyPr wrap="square" lIns="101600" tIns="101600" rIns="101600" bIns="101600">
                      <a:noAutofit/>
                    </a:bodyPr>
                    <a:lstStyle/>
                    <a:p>
                      <a:pPr algn="ctr"/>
                      <a:r>
                        <a:rPr sz="2300" b="0">
                          <a:solidFill>
                            <a:srgbClr val="000000"/>
                          </a:solidFill>
                          <a:latin typeface="Times New Roman"/>
                          <a:ea typeface="Times New Roman"/>
                          <a:cs typeface="Times New Roman"/>
                        </a:rPr>
                        <a:t>Human approval, source history and work notes connect planning with accountable recruitment actions.</a:t>
                      </a:r>
                    </a:p>
                  </a:txBody>
                  <a:tcPr marL="91440" marR="91440" marT="45720" marB="45720" anchor="ctr">
                    <a:solidFill>
                      <a:srgbClr val="E1F3FC"/>
                    </a:solidFill>
                  </a:tcPr>
                </a:tc>
                <a:tc>
                  <a:txBody>
                    <a:bodyPr wrap="square" lIns="101600" tIns="101600" rIns="101600" bIns="101600">
                      <a:noAutofit/>
                    </a:bodyPr>
                    <a:lstStyle/>
                    <a:p>
                      <a:pPr algn="ctr"/>
                      <a:r>
                        <a:rPr sz="2300" b="0">
                          <a:solidFill>
                            <a:srgbClr val="000000"/>
                          </a:solidFill>
                          <a:latin typeface="Times New Roman"/>
                          <a:ea typeface="Times New Roman"/>
                          <a:cs typeface="Times New Roman"/>
                        </a:rPr>
                        <a:t>Modular APIs and normalized records provide a base. Shared tenants and queued ingestion are next steps.</a:t>
                      </a:r>
                    </a:p>
                  </a:txBody>
                  <a:tcPr marL="91440" marR="91440" marT="45720" marB="45720" anchor="ctr">
                    <a:solidFill>
                      <a:srgbClr val="E1F3FC"/>
                    </a:solidFill>
                  </a:tcPr>
                </a:tc>
                <a:tc>
                  <a:txBody>
                    <a:bodyPr wrap="square" lIns="101600" tIns="101600" rIns="101600" bIns="101600">
                      <a:noAutofit/>
                    </a:bodyPr>
                    <a:lstStyle/>
                    <a:p>
                      <a:pPr algn="ctr"/>
                      <a:r>
                        <a:rPr sz="2300" b="0">
                          <a:solidFill>
                            <a:srgbClr val="000000"/>
                          </a:solidFill>
                          <a:latin typeface="Times New Roman"/>
                          <a:ea typeface="Times New Roman"/>
                          <a:cs typeface="Times New Roman"/>
                        </a:rPr>
                        <a:t>Public reference data supports a low-cost pilot. Licensed feeds and native connectors add operating cost.</a:t>
                      </a:r>
                    </a:p>
                  </a:txBody>
                  <a:tcPr marL="91440" marR="91440" marT="45720" marB="45720" anchor="ctr">
                    <a:solidFill>
                      <a:srgbClr val="E1F3FC"/>
                    </a:solidFill>
                  </a:tcPr>
                </a:tc>
              </a:tr>
            </a:tbl>
          </a:graphicData>
        </a:graphic>
      </p:graphicFrame>
      <p:sp>
        <p:nvSpPr>
          <p:cNvPr id="9" name="shape-263">
            <a:extLst xmlns:a="http://schemas.openxmlformats.org/drawingml/2006/main">
              <a:ext uri="{FF2B5EF4-FFF2-40B4-BE49-F238E27FC236}">
                <a16:creationId xmlns:a16="http://schemas.microsoft.com/office/drawing/2014/main" id="{E78904D7-74DD-4CEF-8058-D69F9C841B00}"/>
              </a:ext>
            </a:extLst>
          </p:cNvPr>
          <p:cNvSpPr>
            <a:spLocks xmlns:a="http://schemas.openxmlformats.org/drawingml/2006/main" noGrp="1"/>
          </p:cNvSpPr>
          <p:nvPr/>
        </p:nvSpPr>
        <p:spPr>
          <a:xfrm xmlns:a="http://schemas.openxmlformats.org/drawingml/2006/main">
            <a:off x="215900" y="5842000"/>
            <a:ext cx="9169400" cy="3670300"/>
          </a:xfrm>
          <a:prstGeom xmlns:a="http://schemas.openxmlformats.org/drawingml/2006/main" prst="roundRect">
            <a:avLst>
              <a:gd name="adj" fmla="val 4152"/>
            </a:avLst>
          </a:prstGeom>
          <a:solidFill xmlns:a="http://schemas.openxmlformats.org/drawingml/2006/main">
            <a:srgbClr val="F9E9E9"/>
          </a:solidFill>
          <a:ln xmlns:a="http://schemas.openxmlformats.org/drawingml/2006/main" w="22860">
            <a:solidFill>
              <a:srgbClr val="CF3444"/>
            </a:solidFill>
            <a:prstDash val="solid"/>
          </a:ln>
        </p:spPr>
      </p:sp>
      <p:sp>
        <p:nvSpPr>
          <p:cNvPr id="10" name="shape-264">
            <a:extLst xmlns:a="http://schemas.openxmlformats.org/drawingml/2006/main">
              <a:ext uri="{FF2B5EF4-FFF2-40B4-BE49-F238E27FC236}">
                <a16:creationId xmlns:a16="http://schemas.microsoft.com/office/drawing/2014/main" id="{A864FD0A-7CBB-4971-8216-D3A4D6409210}"/>
              </a:ext>
            </a:extLst>
          </p:cNvPr>
          <p:cNvSpPr>
            <a:spLocks xmlns:a="http://schemas.openxmlformats.org/drawingml/2006/main" noGrp="1"/>
          </p:cNvSpPr>
          <p:nvPr/>
        </p:nvSpPr>
        <p:spPr>
          <a:xfrm xmlns:a="http://schemas.openxmlformats.org/drawingml/2006/main">
            <a:off x="9436100" y="5842000"/>
            <a:ext cx="8699500" cy="3670300"/>
          </a:xfrm>
          <a:prstGeom xmlns:a="http://schemas.openxmlformats.org/drawingml/2006/main" prst="roundRect">
            <a:avLst>
              <a:gd name="adj" fmla="val 4152"/>
            </a:avLst>
          </a:prstGeom>
          <a:solidFill xmlns:a="http://schemas.openxmlformats.org/drawingml/2006/main">
            <a:srgbClr val="E8F4E6"/>
          </a:solidFill>
          <a:ln xmlns:a="http://schemas.openxmlformats.org/drawingml/2006/main" w="22860">
            <a:solidFill>
              <a:srgbClr val="7AA565"/>
            </a:solidFill>
            <a:prstDash val="solid"/>
          </a:ln>
        </p:spPr>
      </p:sp>
      <p:sp>
        <p:nvSpPr>
          <p:cNvPr id="11" name="shape-265">
            <a:extLst xmlns:a="http://schemas.openxmlformats.org/drawingml/2006/main">
              <a:ext uri="{FF2B5EF4-FFF2-40B4-BE49-F238E27FC236}">
                <a16:creationId xmlns:a16="http://schemas.microsoft.com/office/drawing/2014/main" id="{511B66EC-10AF-413F-B99B-F0B801711F39}"/>
              </a:ext>
            </a:extLst>
          </p:cNvPr>
          <p:cNvSpPr>
            <a:spLocks xmlns:a="http://schemas.openxmlformats.org/drawingml/2006/main" noGrp="1"/>
          </p:cNvSpPr>
          <p:nvPr/>
        </p:nvSpPr>
        <p:spPr>
          <a:xfrm xmlns:a="http://schemas.openxmlformats.org/drawingml/2006/main">
            <a:off x="292100" y="5461000"/>
            <a:ext cx="8915400" cy="457200"/>
          </a:xfrm>
          <a:prstGeom xmlns:a="http://schemas.openxmlformats.org/drawingml/2006/main" prst="roundRect">
            <a:avLst>
              <a:gd name="adj" fmla="val 27778"/>
            </a:avLst>
          </a:prstGeom>
          <a:solidFill xmlns:a="http://schemas.openxmlformats.org/drawingml/2006/main">
            <a:srgbClr val="BC4848"/>
          </a:solidFill>
          <a:ln xmlns:a="http://schemas.openxmlformats.org/drawingml/2006/main" w="0">
            <a:noFill/>
            <a:prstDash val="solid"/>
          </a:ln>
        </p:spPr>
        <p:txBody>
          <a:bodyPr xmlns:a="http://schemas.openxmlformats.org/drawingml/2006/main" wrap="square" lIns="88900" tIns="88900" rIns="88900" bIns="88900" anchor="ctr">
            <a:noAutofit/>
          </a:bodyPr>
          <a:lstStyle xmlns:a="http://schemas.openxmlformats.org/drawingml/2006/main">
            <a:defPPr algn="ctr">
              <a:defRPr sz="3200" b="1">
                <a:solidFill>
                  <a:srgbClr val="FFFFFF"/>
                </a:solidFill>
                <a:latin typeface="Times New Roman"/>
                <a:ea typeface="Times New Roman"/>
                <a:cs typeface="Times New Roman"/>
              </a:defRPr>
            </a:defPPr>
          </a:lstStyle>
          <a:p xmlns:a="http://schemas.openxmlformats.org/drawingml/2006/main">
            <a:pPr algn="ctr">
              <a:defRPr sz="3200" b="1">
                <a:solidFill>
                  <a:srgbClr val="FFFFFF"/>
                </a:solidFill>
                <a:latin typeface="Times New Roman"/>
                <a:ea typeface="Times New Roman"/>
                <a:cs typeface="Times New Roman"/>
              </a:defRPr>
            </a:pPr>
            <a:r>
              <a:rPr sz="3200" b="1">
                <a:solidFill>
                  <a:srgbClr val="FFFFFF"/>
                </a:solidFill>
                <a:latin typeface="Times New Roman"/>
                <a:ea typeface="Times New Roman"/>
                <a:cs typeface="Times New Roman"/>
              </a:rPr>
              <a:t>Potential Challenges</a:t>
            </a:r>
          </a:p>
        </p:txBody>
      </p:sp>
      <p:sp>
        <p:nvSpPr>
          <p:cNvPr id="12" name="shape-266">
            <a:extLst xmlns:a="http://schemas.openxmlformats.org/drawingml/2006/main">
              <a:ext uri="{FF2B5EF4-FFF2-40B4-BE49-F238E27FC236}">
                <a16:creationId xmlns:a16="http://schemas.microsoft.com/office/drawing/2014/main" id="{24C12E5A-91E2-4F93-811D-C7EA4178CB5E}"/>
              </a:ext>
            </a:extLst>
          </p:cNvPr>
          <p:cNvSpPr>
            <a:spLocks xmlns:a="http://schemas.openxmlformats.org/drawingml/2006/main" noGrp="1"/>
          </p:cNvSpPr>
          <p:nvPr/>
        </p:nvSpPr>
        <p:spPr>
          <a:xfrm xmlns:a="http://schemas.openxmlformats.org/drawingml/2006/main">
            <a:off x="9525000" y="5461000"/>
            <a:ext cx="8483600" cy="457200"/>
          </a:xfrm>
          <a:prstGeom xmlns:a="http://schemas.openxmlformats.org/drawingml/2006/main" prst="roundRect">
            <a:avLst>
              <a:gd name="adj" fmla="val 27778"/>
            </a:avLst>
          </a:prstGeom>
          <a:solidFill xmlns:a="http://schemas.openxmlformats.org/drawingml/2006/main">
            <a:srgbClr val="2E9D58"/>
          </a:solidFill>
          <a:ln xmlns:a="http://schemas.openxmlformats.org/drawingml/2006/main" w="0">
            <a:noFill/>
            <a:prstDash val="solid"/>
          </a:ln>
        </p:spPr>
        <p:txBody>
          <a:bodyPr xmlns:a="http://schemas.openxmlformats.org/drawingml/2006/main" wrap="square" lIns="88900" tIns="88900" rIns="88900" bIns="88900" anchor="ctr">
            <a:noAutofit/>
          </a:bodyPr>
          <a:lstStyle xmlns:a="http://schemas.openxmlformats.org/drawingml/2006/main">
            <a:defPPr algn="ctr">
              <a:defRPr sz="3200" b="1">
                <a:solidFill>
                  <a:srgbClr val="FFFFFF"/>
                </a:solidFill>
                <a:latin typeface="Times New Roman"/>
                <a:ea typeface="Times New Roman"/>
                <a:cs typeface="Times New Roman"/>
              </a:defRPr>
            </a:defPPr>
          </a:lstStyle>
          <a:p xmlns:a="http://schemas.openxmlformats.org/drawingml/2006/main">
            <a:pPr algn="ctr">
              <a:defRPr sz="3200" b="1">
                <a:solidFill>
                  <a:srgbClr val="FFFFFF"/>
                </a:solidFill>
                <a:latin typeface="Times New Roman"/>
                <a:ea typeface="Times New Roman"/>
                <a:cs typeface="Times New Roman"/>
              </a:defRPr>
            </a:pPr>
            <a:r>
              <a:rPr sz="3200" b="1">
                <a:solidFill>
                  <a:srgbClr val="FFFFFF"/>
                </a:solidFill>
                <a:latin typeface="Times New Roman"/>
                <a:ea typeface="Times New Roman"/>
                <a:cs typeface="Times New Roman"/>
              </a:rPr>
              <a:t>Mitigation Strategy</a:t>
            </a:r>
          </a:p>
        </p:txBody>
      </p:sp>
      <p:sp>
        <p:nvSpPr>
          <p:cNvPr id="13" name="text-268">
            <a:extLst xmlns:a="http://schemas.openxmlformats.org/drawingml/2006/main">
              <a:ext uri="{FF2B5EF4-FFF2-40B4-BE49-F238E27FC236}">
                <a16:creationId xmlns:a16="http://schemas.microsoft.com/office/drawing/2014/main" id="{044D666A-3454-4AC6-B532-12120C914873}"/>
              </a:ext>
            </a:extLst>
          </p:cNvPr>
          <p:cNvSpPr>
            <a:spLocks xmlns:a="http://schemas.openxmlformats.org/drawingml/2006/main" noGrp="1"/>
          </p:cNvSpPr>
          <p:nvPr/>
        </p:nvSpPr>
        <p:spPr>
          <a:xfrm xmlns:a="http://schemas.openxmlformats.org/drawingml/2006/main">
            <a:off x="342900" y="6350000"/>
            <a:ext cx="8813800" cy="469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00" b="0" i="0">
                <a:solidFill>
                  <a:srgbClr val="000000"/>
                </a:solidFill>
                <a:latin typeface="Times New Roman"/>
                <a:ea typeface="Times New Roman"/>
                <a:cs typeface="Times New Roman"/>
              </a:defRPr>
            </a:defPPr>
          </a:lstStyle>
          <a:p xmlns:a="http://schemas.openxmlformats.org/drawingml/2006/main">
            <a:pPr algn="l">
              <a:defRPr sz="2300" b="0" i="0">
                <a:solidFill>
                  <a:srgbClr val="000000"/>
                </a:solidFill>
                <a:latin typeface="Times New Roman"/>
                <a:ea typeface="Times New Roman"/>
                <a:cs typeface="Times New Roman"/>
              </a:defRPr>
            </a:pPr>
            <a:r>
              <a:rPr sz="2300" b="0" i="0">
                <a:solidFill>
                  <a:srgbClr val="000000"/>
                </a:solidFill>
                <a:latin typeface="Times New Roman"/>
                <a:ea typeface="Times New Roman"/>
                <a:cs typeface="Times New Roman"/>
              </a:rPr>
              <a:t>1. Incomplete profiles or outdated assessments</a:t>
            </a:r>
          </a:p>
        </p:txBody>
      </p:sp>
      <p:sp>
        <p:nvSpPr>
          <p:cNvPr id="14" name="text-270">
            <a:extLst xmlns:a="http://schemas.openxmlformats.org/drawingml/2006/main">
              <a:ext uri="{FF2B5EF4-FFF2-40B4-BE49-F238E27FC236}">
                <a16:creationId xmlns:a16="http://schemas.microsoft.com/office/drawing/2014/main" id="{2C52D2C7-53A8-48D1-BA30-C362F4F16DBF}"/>
              </a:ext>
            </a:extLst>
          </p:cNvPr>
          <p:cNvSpPr>
            <a:spLocks xmlns:a="http://schemas.openxmlformats.org/drawingml/2006/main" noGrp="1"/>
          </p:cNvSpPr>
          <p:nvPr/>
        </p:nvSpPr>
        <p:spPr>
          <a:xfrm xmlns:a="http://schemas.openxmlformats.org/drawingml/2006/main">
            <a:off x="342900" y="6934200"/>
            <a:ext cx="8813800" cy="469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00" b="0" i="0">
                <a:solidFill>
                  <a:srgbClr val="000000"/>
                </a:solidFill>
                <a:latin typeface="Times New Roman"/>
                <a:ea typeface="Times New Roman"/>
                <a:cs typeface="Times New Roman"/>
              </a:defRPr>
            </a:defPPr>
          </a:lstStyle>
          <a:p xmlns:a="http://schemas.openxmlformats.org/drawingml/2006/main">
            <a:pPr algn="l">
              <a:defRPr sz="2300" b="0" i="0">
                <a:solidFill>
                  <a:srgbClr val="000000"/>
                </a:solidFill>
                <a:latin typeface="Times New Roman"/>
                <a:ea typeface="Times New Roman"/>
                <a:cs typeface="Times New Roman"/>
              </a:defRPr>
            </a:pPr>
            <a:r>
              <a:rPr sz="2300" b="0" i="0">
                <a:solidFill>
                  <a:srgbClr val="000000"/>
                </a:solidFill>
                <a:latin typeface="Times New Roman"/>
                <a:ea typeface="Times New Roman"/>
                <a:cs typeface="Times New Roman"/>
              </a:rPr>
              <a:t>2. Duplicate people across source systems</a:t>
            </a:r>
          </a:p>
        </p:txBody>
      </p:sp>
      <p:sp>
        <p:nvSpPr>
          <p:cNvPr id="15" name="text-272">
            <a:extLst xmlns:a="http://schemas.openxmlformats.org/drawingml/2006/main">
              <a:ext uri="{FF2B5EF4-FFF2-40B4-BE49-F238E27FC236}">
                <a16:creationId xmlns:a16="http://schemas.microsoft.com/office/drawing/2014/main" id="{47DF0F44-5F3F-4E5B-AB37-FDB4545A9D82}"/>
              </a:ext>
            </a:extLst>
          </p:cNvPr>
          <p:cNvSpPr>
            <a:spLocks xmlns:a="http://schemas.openxmlformats.org/drawingml/2006/main" noGrp="1"/>
          </p:cNvSpPr>
          <p:nvPr/>
        </p:nvSpPr>
        <p:spPr>
          <a:xfrm xmlns:a="http://schemas.openxmlformats.org/drawingml/2006/main">
            <a:off x="342900" y="7518400"/>
            <a:ext cx="8813800" cy="469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00" b="0" i="0">
                <a:solidFill>
                  <a:srgbClr val="000000"/>
                </a:solidFill>
                <a:latin typeface="Times New Roman"/>
                <a:ea typeface="Times New Roman"/>
                <a:cs typeface="Times New Roman"/>
              </a:defRPr>
            </a:defPPr>
          </a:lstStyle>
          <a:p xmlns:a="http://schemas.openxmlformats.org/drawingml/2006/main">
            <a:pPr algn="l">
              <a:defRPr sz="2300" b="0" i="0">
                <a:solidFill>
                  <a:srgbClr val="000000"/>
                </a:solidFill>
                <a:latin typeface="Times New Roman"/>
                <a:ea typeface="Times New Roman"/>
                <a:cs typeface="Times New Roman"/>
              </a:defRPr>
            </a:pPr>
            <a:r>
              <a:rPr sz="2300" b="0" i="0">
                <a:solidFill>
                  <a:srgbClr val="000000"/>
                </a:solidFill>
                <a:latin typeface="Times New Roman"/>
                <a:ea typeface="Times New Roman"/>
                <a:cs typeface="Times New Roman"/>
              </a:rPr>
              <a:t>3. Unsupported market and AI assumptions</a:t>
            </a:r>
          </a:p>
        </p:txBody>
      </p:sp>
      <p:sp>
        <p:nvSpPr>
          <p:cNvPr id="16" name="text-274">
            <a:extLst xmlns:a="http://schemas.openxmlformats.org/drawingml/2006/main">
              <a:ext uri="{FF2B5EF4-FFF2-40B4-BE49-F238E27FC236}">
                <a16:creationId xmlns:a16="http://schemas.microsoft.com/office/drawing/2014/main" id="{BF096975-82CC-4EC8-9BCE-14041B25BE44}"/>
              </a:ext>
            </a:extLst>
          </p:cNvPr>
          <p:cNvSpPr>
            <a:spLocks xmlns:a="http://schemas.openxmlformats.org/drawingml/2006/main" noGrp="1"/>
          </p:cNvSpPr>
          <p:nvPr/>
        </p:nvSpPr>
        <p:spPr>
          <a:xfrm xmlns:a="http://schemas.openxmlformats.org/drawingml/2006/main">
            <a:off x="342900" y="8102600"/>
            <a:ext cx="8813800" cy="469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00" b="0" i="0">
                <a:solidFill>
                  <a:srgbClr val="000000"/>
                </a:solidFill>
                <a:latin typeface="Times New Roman"/>
                <a:ea typeface="Times New Roman"/>
                <a:cs typeface="Times New Roman"/>
              </a:defRPr>
            </a:defPPr>
          </a:lstStyle>
          <a:p xmlns:a="http://schemas.openxmlformats.org/drawingml/2006/main">
            <a:pPr algn="l">
              <a:defRPr sz="2300" b="0" i="0">
                <a:solidFill>
                  <a:srgbClr val="000000"/>
                </a:solidFill>
                <a:latin typeface="Times New Roman"/>
                <a:ea typeface="Times New Roman"/>
                <a:cs typeface="Times New Roman"/>
              </a:defRPr>
            </a:pPr>
            <a:r>
              <a:rPr sz="2300" b="0" i="0">
                <a:solidFill>
                  <a:srgbClr val="000000"/>
                </a:solidFill>
                <a:latin typeface="Times New Roman"/>
                <a:ea typeface="Times New Roman"/>
                <a:cs typeface="Times New Roman"/>
              </a:rPr>
              <a:t>4. Restricted enterprise APIs and data licenses</a:t>
            </a:r>
          </a:p>
        </p:txBody>
      </p:sp>
      <p:sp>
        <p:nvSpPr>
          <p:cNvPr id="17" name="text-276">
            <a:extLst xmlns:a="http://schemas.openxmlformats.org/drawingml/2006/main">
              <a:ext uri="{FF2B5EF4-FFF2-40B4-BE49-F238E27FC236}">
                <a16:creationId xmlns:a16="http://schemas.microsoft.com/office/drawing/2014/main" id="{2EE39F83-1A33-450F-984A-A5DA8CB0C41D}"/>
              </a:ext>
            </a:extLst>
          </p:cNvPr>
          <p:cNvSpPr>
            <a:spLocks xmlns:a="http://schemas.openxmlformats.org/drawingml/2006/main" noGrp="1"/>
          </p:cNvSpPr>
          <p:nvPr/>
        </p:nvSpPr>
        <p:spPr>
          <a:xfrm xmlns:a="http://schemas.openxmlformats.org/drawingml/2006/main">
            <a:off x="342900" y="8686800"/>
            <a:ext cx="8813800" cy="469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00" b="0" i="0">
                <a:solidFill>
                  <a:srgbClr val="000000"/>
                </a:solidFill>
                <a:latin typeface="Times New Roman"/>
                <a:ea typeface="Times New Roman"/>
                <a:cs typeface="Times New Roman"/>
              </a:defRPr>
            </a:defPPr>
          </a:lstStyle>
          <a:p xmlns:a="http://schemas.openxmlformats.org/drawingml/2006/main">
            <a:pPr algn="l">
              <a:defRPr sz="2300" b="0" i="0">
                <a:solidFill>
                  <a:srgbClr val="000000"/>
                </a:solidFill>
                <a:latin typeface="Times New Roman"/>
                <a:ea typeface="Times New Roman"/>
                <a:cs typeface="Times New Roman"/>
              </a:defRPr>
            </a:pPr>
            <a:r>
              <a:rPr sz="2300" b="0" i="0">
                <a:solidFill>
                  <a:srgbClr val="000000"/>
                </a:solidFill>
                <a:latin typeface="Times New Roman"/>
                <a:ea typeface="Times New Roman"/>
                <a:cs typeface="Times New Roman"/>
              </a:rPr>
              <a:t>5. Privacy, fairness and production reliability</a:t>
            </a:r>
          </a:p>
        </p:txBody>
      </p:sp>
      <p:sp>
        <p:nvSpPr>
          <p:cNvPr id="18" name="text-278">
            <a:extLst xmlns:a="http://schemas.openxmlformats.org/drawingml/2006/main">
              <a:ext uri="{FF2B5EF4-FFF2-40B4-BE49-F238E27FC236}">
                <a16:creationId xmlns:a16="http://schemas.microsoft.com/office/drawing/2014/main" id="{E281C30C-DE40-42DE-8FBA-71236983E40F}"/>
              </a:ext>
            </a:extLst>
          </p:cNvPr>
          <p:cNvSpPr>
            <a:spLocks xmlns:a="http://schemas.openxmlformats.org/drawingml/2006/main" noGrp="1"/>
          </p:cNvSpPr>
          <p:nvPr/>
        </p:nvSpPr>
        <p:spPr>
          <a:xfrm xmlns:a="http://schemas.openxmlformats.org/drawingml/2006/main">
            <a:off x="9639300" y="6350000"/>
            <a:ext cx="431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0" i="0">
                <a:solidFill>
                  <a:srgbClr val="299C4D"/>
                </a:solidFill>
                <a:latin typeface="Times New Roman"/>
                <a:ea typeface="Times New Roman"/>
                <a:cs typeface="Times New Roman"/>
              </a:defRPr>
            </a:defPPr>
          </a:lstStyle>
          <a:p xmlns:a="http://schemas.openxmlformats.org/drawingml/2006/main">
            <a:pPr algn="l">
              <a:defRPr sz="2700" b="0" i="0">
                <a:solidFill>
                  <a:srgbClr val="299C4D"/>
                </a:solidFill>
                <a:latin typeface="Times New Roman"/>
                <a:ea typeface="Times New Roman"/>
                <a:cs typeface="Times New Roman"/>
              </a:defRPr>
            </a:pPr>
            <a:r>
              <a:rPr sz="2700" b="0" i="0">
                <a:solidFill>
                  <a:srgbClr val="299C4D"/>
                </a:solidFill>
                <a:latin typeface="Times New Roman"/>
                <a:ea typeface="Times New Roman"/>
                <a:cs typeface="Times New Roman"/>
              </a:rPr>
              <a:t>→</a:t>
            </a:r>
          </a:p>
        </p:txBody>
      </p:sp>
      <p:sp>
        <p:nvSpPr>
          <p:cNvPr id="19" name="text-280">
            <a:extLst xmlns:a="http://schemas.openxmlformats.org/drawingml/2006/main">
              <a:ext uri="{FF2B5EF4-FFF2-40B4-BE49-F238E27FC236}">
                <a16:creationId xmlns:a16="http://schemas.microsoft.com/office/drawing/2014/main" id="{FBE42B90-65DC-44A6-8156-85586EC49B6B}"/>
              </a:ext>
            </a:extLst>
          </p:cNvPr>
          <p:cNvSpPr>
            <a:spLocks xmlns:a="http://schemas.openxmlformats.org/drawingml/2006/main" noGrp="1"/>
          </p:cNvSpPr>
          <p:nvPr/>
        </p:nvSpPr>
        <p:spPr>
          <a:xfrm xmlns:a="http://schemas.openxmlformats.org/drawingml/2006/main">
            <a:off x="10287000" y="6350000"/>
            <a:ext cx="7569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00" b="0" i="0">
                <a:solidFill>
                  <a:srgbClr val="000000"/>
                </a:solidFill>
                <a:latin typeface="Times New Roman"/>
                <a:ea typeface="Times New Roman"/>
                <a:cs typeface="Times New Roman"/>
              </a:defRPr>
            </a:defPPr>
          </a:lstStyle>
          <a:p xmlns:a="http://schemas.openxmlformats.org/drawingml/2006/main">
            <a:pPr algn="l">
              <a:defRPr sz="2200" b="0" i="0">
                <a:solidFill>
                  <a:srgbClr val="000000"/>
                </a:solidFill>
                <a:latin typeface="Times New Roman"/>
                <a:ea typeface="Times New Roman"/>
                <a:cs typeface="Times New Roman"/>
              </a:defRPr>
            </a:pPr>
            <a:r>
              <a:rPr sz="2200" b="0" i="0">
                <a:solidFill>
                  <a:srgbClr val="000000"/>
                </a:solidFill>
                <a:latin typeface="Times New Roman"/>
                <a:ea typeface="Times New Roman"/>
                <a:cs typeface="Times New Roman"/>
              </a:rPr>
              <a:t>Collect consented evidence and retain observation dates</a:t>
            </a:r>
          </a:p>
        </p:txBody>
      </p:sp>
      <p:sp>
        <p:nvSpPr>
          <p:cNvPr id="20" name="text-282">
            <a:extLst xmlns:a="http://schemas.openxmlformats.org/drawingml/2006/main">
              <a:ext uri="{FF2B5EF4-FFF2-40B4-BE49-F238E27FC236}">
                <a16:creationId xmlns:a16="http://schemas.microsoft.com/office/drawing/2014/main" id="{9D0AAEC8-FDA2-406E-910F-DBC542D68122}"/>
              </a:ext>
            </a:extLst>
          </p:cNvPr>
          <p:cNvSpPr>
            <a:spLocks xmlns:a="http://schemas.openxmlformats.org/drawingml/2006/main" noGrp="1"/>
          </p:cNvSpPr>
          <p:nvPr/>
        </p:nvSpPr>
        <p:spPr>
          <a:xfrm xmlns:a="http://schemas.openxmlformats.org/drawingml/2006/main">
            <a:off x="9639300" y="6934200"/>
            <a:ext cx="431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0" i="0">
                <a:solidFill>
                  <a:srgbClr val="299C4D"/>
                </a:solidFill>
                <a:latin typeface="Times New Roman"/>
                <a:ea typeface="Times New Roman"/>
                <a:cs typeface="Times New Roman"/>
              </a:defRPr>
            </a:defPPr>
          </a:lstStyle>
          <a:p xmlns:a="http://schemas.openxmlformats.org/drawingml/2006/main">
            <a:pPr algn="l">
              <a:defRPr sz="2700" b="0" i="0">
                <a:solidFill>
                  <a:srgbClr val="299C4D"/>
                </a:solidFill>
                <a:latin typeface="Times New Roman"/>
                <a:ea typeface="Times New Roman"/>
                <a:cs typeface="Times New Roman"/>
              </a:defRPr>
            </a:pPr>
            <a:r>
              <a:rPr sz="2700" b="0" i="0">
                <a:solidFill>
                  <a:srgbClr val="299C4D"/>
                </a:solidFill>
                <a:latin typeface="Times New Roman"/>
                <a:ea typeface="Times New Roman"/>
                <a:cs typeface="Times New Roman"/>
              </a:rPr>
              <a:t>→</a:t>
            </a:r>
          </a:p>
        </p:txBody>
      </p:sp>
      <p:sp>
        <p:nvSpPr>
          <p:cNvPr id="21" name="text-284">
            <a:extLst xmlns:a="http://schemas.openxmlformats.org/drawingml/2006/main">
              <a:ext uri="{FF2B5EF4-FFF2-40B4-BE49-F238E27FC236}">
                <a16:creationId xmlns:a16="http://schemas.microsoft.com/office/drawing/2014/main" id="{7E352D3E-C8C1-4FFE-9A36-43373D590179}"/>
              </a:ext>
            </a:extLst>
          </p:cNvPr>
          <p:cNvSpPr>
            <a:spLocks xmlns:a="http://schemas.openxmlformats.org/drawingml/2006/main" noGrp="1"/>
          </p:cNvSpPr>
          <p:nvPr/>
        </p:nvSpPr>
        <p:spPr>
          <a:xfrm xmlns:a="http://schemas.openxmlformats.org/drawingml/2006/main">
            <a:off x="10287000" y="6934200"/>
            <a:ext cx="7569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00" b="0" i="0">
                <a:solidFill>
                  <a:srgbClr val="000000"/>
                </a:solidFill>
                <a:latin typeface="Times New Roman"/>
                <a:ea typeface="Times New Roman"/>
                <a:cs typeface="Times New Roman"/>
              </a:defRPr>
            </a:defPPr>
          </a:lstStyle>
          <a:p xmlns:a="http://schemas.openxmlformats.org/drawingml/2006/main">
            <a:pPr algn="l">
              <a:defRPr sz="2200" b="0" i="0">
                <a:solidFill>
                  <a:srgbClr val="000000"/>
                </a:solidFill>
                <a:latin typeface="Times New Roman"/>
                <a:ea typeface="Times New Roman"/>
                <a:cs typeface="Times New Roman"/>
              </a:defRPr>
            </a:pPr>
            <a:r>
              <a:rPr sz="2200" b="0" i="0">
                <a:solidFill>
                  <a:srgbClr val="000000"/>
                </a:solidFill>
                <a:latin typeface="Times New Roman"/>
                <a:ea typeface="Times New Roman"/>
                <a:cs typeface="Times New Roman"/>
              </a:rPr>
              <a:t>Use stable IDs and reconcile source identities</a:t>
            </a:r>
          </a:p>
        </p:txBody>
      </p:sp>
      <p:sp>
        <p:nvSpPr>
          <p:cNvPr id="22" name="text-286">
            <a:extLst xmlns:a="http://schemas.openxmlformats.org/drawingml/2006/main">
              <a:ext uri="{FF2B5EF4-FFF2-40B4-BE49-F238E27FC236}">
                <a16:creationId xmlns:a16="http://schemas.microsoft.com/office/drawing/2014/main" id="{A1D40040-18A2-4352-9FF1-D4C67CA1DBEB}"/>
              </a:ext>
            </a:extLst>
          </p:cNvPr>
          <p:cNvSpPr>
            <a:spLocks xmlns:a="http://schemas.openxmlformats.org/drawingml/2006/main" noGrp="1"/>
          </p:cNvSpPr>
          <p:nvPr/>
        </p:nvSpPr>
        <p:spPr>
          <a:xfrm xmlns:a="http://schemas.openxmlformats.org/drawingml/2006/main">
            <a:off x="9639300" y="7518400"/>
            <a:ext cx="431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0" i="0">
                <a:solidFill>
                  <a:srgbClr val="299C4D"/>
                </a:solidFill>
                <a:latin typeface="Times New Roman"/>
                <a:ea typeface="Times New Roman"/>
                <a:cs typeface="Times New Roman"/>
              </a:defRPr>
            </a:defPPr>
          </a:lstStyle>
          <a:p xmlns:a="http://schemas.openxmlformats.org/drawingml/2006/main">
            <a:pPr algn="l">
              <a:defRPr sz="2700" b="0" i="0">
                <a:solidFill>
                  <a:srgbClr val="299C4D"/>
                </a:solidFill>
                <a:latin typeface="Times New Roman"/>
                <a:ea typeface="Times New Roman"/>
                <a:cs typeface="Times New Roman"/>
              </a:defRPr>
            </a:pPr>
            <a:r>
              <a:rPr sz="2700" b="0" i="0">
                <a:solidFill>
                  <a:srgbClr val="299C4D"/>
                </a:solidFill>
                <a:latin typeface="Times New Roman"/>
                <a:ea typeface="Times New Roman"/>
                <a:cs typeface="Times New Roman"/>
              </a:rPr>
              <a:t>→</a:t>
            </a:r>
          </a:p>
        </p:txBody>
      </p:sp>
      <p:sp>
        <p:nvSpPr>
          <p:cNvPr id="23" name="text-288">
            <a:extLst xmlns:a="http://schemas.openxmlformats.org/drawingml/2006/main">
              <a:ext uri="{FF2B5EF4-FFF2-40B4-BE49-F238E27FC236}">
                <a16:creationId xmlns:a16="http://schemas.microsoft.com/office/drawing/2014/main" id="{5A6DA6D2-C06E-4E48-ABBF-85CF471B6B4B}"/>
              </a:ext>
            </a:extLst>
          </p:cNvPr>
          <p:cNvSpPr>
            <a:spLocks xmlns:a="http://schemas.openxmlformats.org/drawingml/2006/main" noGrp="1"/>
          </p:cNvSpPr>
          <p:nvPr/>
        </p:nvSpPr>
        <p:spPr>
          <a:xfrm xmlns:a="http://schemas.openxmlformats.org/drawingml/2006/main">
            <a:off x="10287000" y="7518400"/>
            <a:ext cx="7569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00" b="0" i="0">
                <a:solidFill>
                  <a:srgbClr val="000000"/>
                </a:solidFill>
                <a:latin typeface="Times New Roman"/>
                <a:ea typeface="Times New Roman"/>
                <a:cs typeface="Times New Roman"/>
              </a:defRPr>
            </a:defPPr>
          </a:lstStyle>
          <a:p xmlns:a="http://schemas.openxmlformats.org/drawingml/2006/main">
            <a:pPr algn="l">
              <a:defRPr sz="2200" b="0" i="0">
                <a:solidFill>
                  <a:srgbClr val="000000"/>
                </a:solidFill>
                <a:latin typeface="Times New Roman"/>
                <a:ea typeface="Times New Roman"/>
                <a:cs typeface="Times New Roman"/>
              </a:defRPr>
            </a:pPr>
            <a:r>
              <a:rPr sz="2200" b="0" i="0">
                <a:solidFill>
                  <a:srgbClr val="000000"/>
                </a:solidFill>
                <a:latin typeface="Times New Roman"/>
                <a:ea typeface="Times New Roman"/>
                <a:cs typeface="Times New Roman"/>
              </a:rPr>
              <a:t>Show missing evidence and keep humans accountable</a:t>
            </a:r>
          </a:p>
        </p:txBody>
      </p:sp>
      <p:sp>
        <p:nvSpPr>
          <p:cNvPr id="24" name="text-290">
            <a:extLst xmlns:a="http://schemas.openxmlformats.org/drawingml/2006/main">
              <a:ext uri="{FF2B5EF4-FFF2-40B4-BE49-F238E27FC236}">
                <a16:creationId xmlns:a16="http://schemas.microsoft.com/office/drawing/2014/main" id="{65FFAFA3-EFC0-4951-8687-2C50592AE9E3}"/>
              </a:ext>
            </a:extLst>
          </p:cNvPr>
          <p:cNvSpPr>
            <a:spLocks xmlns:a="http://schemas.openxmlformats.org/drawingml/2006/main" noGrp="1"/>
          </p:cNvSpPr>
          <p:nvPr/>
        </p:nvSpPr>
        <p:spPr>
          <a:xfrm xmlns:a="http://schemas.openxmlformats.org/drawingml/2006/main">
            <a:off x="9639300" y="8102600"/>
            <a:ext cx="431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0" i="0">
                <a:solidFill>
                  <a:srgbClr val="299C4D"/>
                </a:solidFill>
                <a:latin typeface="Times New Roman"/>
                <a:ea typeface="Times New Roman"/>
                <a:cs typeface="Times New Roman"/>
              </a:defRPr>
            </a:defPPr>
          </a:lstStyle>
          <a:p xmlns:a="http://schemas.openxmlformats.org/drawingml/2006/main">
            <a:pPr algn="l">
              <a:defRPr sz="2700" b="0" i="0">
                <a:solidFill>
                  <a:srgbClr val="299C4D"/>
                </a:solidFill>
                <a:latin typeface="Times New Roman"/>
                <a:ea typeface="Times New Roman"/>
                <a:cs typeface="Times New Roman"/>
              </a:defRPr>
            </a:pPr>
            <a:r>
              <a:rPr sz="2700" b="0" i="0">
                <a:solidFill>
                  <a:srgbClr val="299C4D"/>
                </a:solidFill>
                <a:latin typeface="Times New Roman"/>
                <a:ea typeface="Times New Roman"/>
                <a:cs typeface="Times New Roman"/>
              </a:rPr>
              <a:t>→</a:t>
            </a:r>
          </a:p>
        </p:txBody>
      </p:sp>
      <p:sp>
        <p:nvSpPr>
          <p:cNvPr id="25" name="text-292">
            <a:extLst xmlns:a="http://schemas.openxmlformats.org/drawingml/2006/main">
              <a:ext uri="{FF2B5EF4-FFF2-40B4-BE49-F238E27FC236}">
                <a16:creationId xmlns:a16="http://schemas.microsoft.com/office/drawing/2014/main" id="{61D923B9-B758-494C-9D68-7D74328DE884}"/>
              </a:ext>
            </a:extLst>
          </p:cNvPr>
          <p:cNvSpPr>
            <a:spLocks xmlns:a="http://schemas.openxmlformats.org/drawingml/2006/main" noGrp="1"/>
          </p:cNvSpPr>
          <p:nvPr/>
        </p:nvSpPr>
        <p:spPr>
          <a:xfrm xmlns:a="http://schemas.openxmlformats.org/drawingml/2006/main">
            <a:off x="10287000" y="8102600"/>
            <a:ext cx="7569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00" b="0" i="0">
                <a:solidFill>
                  <a:srgbClr val="000000"/>
                </a:solidFill>
                <a:latin typeface="Times New Roman"/>
                <a:ea typeface="Times New Roman"/>
                <a:cs typeface="Times New Roman"/>
              </a:defRPr>
            </a:defPPr>
          </a:lstStyle>
          <a:p xmlns:a="http://schemas.openxmlformats.org/drawingml/2006/main">
            <a:pPr algn="l">
              <a:defRPr sz="2200" b="0" i="0">
                <a:solidFill>
                  <a:srgbClr val="000000"/>
                </a:solidFill>
                <a:latin typeface="Times New Roman"/>
                <a:ea typeface="Times New Roman"/>
                <a:cs typeface="Times New Roman"/>
              </a:defRPr>
            </a:pPr>
            <a:r>
              <a:rPr sz="2200" b="0" i="0">
                <a:solidFill>
                  <a:srgbClr val="000000"/>
                </a:solidFill>
                <a:latin typeface="Times New Roman"/>
                <a:ea typeface="Times New Roman"/>
                <a:cs typeface="Times New Roman"/>
              </a:rPr>
              <a:t>Use permitted exports, then authorized vendor connectors</a:t>
            </a:r>
          </a:p>
        </p:txBody>
      </p:sp>
      <p:sp>
        <p:nvSpPr>
          <p:cNvPr id="26" name="text-294">
            <a:extLst xmlns:a="http://schemas.openxmlformats.org/drawingml/2006/main">
              <a:ext uri="{FF2B5EF4-FFF2-40B4-BE49-F238E27FC236}">
                <a16:creationId xmlns:a16="http://schemas.microsoft.com/office/drawing/2014/main" id="{A7816B1D-4D67-4D27-8645-54081183E8E2}"/>
              </a:ext>
            </a:extLst>
          </p:cNvPr>
          <p:cNvSpPr>
            <a:spLocks xmlns:a="http://schemas.openxmlformats.org/drawingml/2006/main" noGrp="1"/>
          </p:cNvSpPr>
          <p:nvPr/>
        </p:nvSpPr>
        <p:spPr>
          <a:xfrm xmlns:a="http://schemas.openxmlformats.org/drawingml/2006/main">
            <a:off x="9639300" y="8686800"/>
            <a:ext cx="431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0" i="0">
                <a:solidFill>
                  <a:srgbClr val="299C4D"/>
                </a:solidFill>
                <a:latin typeface="Times New Roman"/>
                <a:ea typeface="Times New Roman"/>
                <a:cs typeface="Times New Roman"/>
              </a:defRPr>
            </a:defPPr>
          </a:lstStyle>
          <a:p xmlns:a="http://schemas.openxmlformats.org/drawingml/2006/main">
            <a:pPr algn="l">
              <a:defRPr sz="2700" b="0" i="0">
                <a:solidFill>
                  <a:srgbClr val="299C4D"/>
                </a:solidFill>
                <a:latin typeface="Times New Roman"/>
                <a:ea typeface="Times New Roman"/>
                <a:cs typeface="Times New Roman"/>
              </a:defRPr>
            </a:pPr>
            <a:r>
              <a:rPr sz="2700" b="0" i="0">
                <a:solidFill>
                  <a:srgbClr val="299C4D"/>
                </a:solidFill>
                <a:latin typeface="Times New Roman"/>
                <a:ea typeface="Times New Roman"/>
                <a:cs typeface="Times New Roman"/>
              </a:rPr>
              <a:t>→</a:t>
            </a:r>
          </a:p>
        </p:txBody>
      </p:sp>
      <p:sp>
        <p:nvSpPr>
          <p:cNvPr id="27" name="text-296">
            <a:extLst xmlns:a="http://schemas.openxmlformats.org/drawingml/2006/main">
              <a:ext uri="{FF2B5EF4-FFF2-40B4-BE49-F238E27FC236}">
                <a16:creationId xmlns:a16="http://schemas.microsoft.com/office/drawing/2014/main" id="{DB37BA75-0040-4FA9-8098-82D3DA0E3742}"/>
              </a:ext>
            </a:extLst>
          </p:cNvPr>
          <p:cNvSpPr>
            <a:spLocks xmlns:a="http://schemas.openxmlformats.org/drawingml/2006/main" noGrp="1"/>
          </p:cNvSpPr>
          <p:nvPr/>
        </p:nvSpPr>
        <p:spPr>
          <a:xfrm xmlns:a="http://schemas.openxmlformats.org/drawingml/2006/main">
            <a:off x="10287000" y="8686800"/>
            <a:ext cx="7569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00" b="0" i="0">
                <a:solidFill>
                  <a:srgbClr val="000000"/>
                </a:solidFill>
                <a:latin typeface="Times New Roman"/>
                <a:ea typeface="Times New Roman"/>
                <a:cs typeface="Times New Roman"/>
              </a:defRPr>
            </a:defPPr>
          </a:lstStyle>
          <a:p xmlns:a="http://schemas.openxmlformats.org/drawingml/2006/main">
            <a:pPr algn="l">
              <a:defRPr sz="2200" b="0" i="0">
                <a:solidFill>
                  <a:srgbClr val="000000"/>
                </a:solidFill>
                <a:latin typeface="Times New Roman"/>
                <a:ea typeface="Times New Roman"/>
                <a:cs typeface="Times New Roman"/>
              </a:defRPr>
            </a:pPr>
            <a:r>
              <a:rPr sz="2200" b="0" i="0">
                <a:solidFill>
                  <a:srgbClr val="000000"/>
                </a:solidFill>
                <a:latin typeface="Times New Roman"/>
                <a:ea typeface="Times New Roman"/>
                <a:cs typeface="Times New Roman"/>
              </a:rPr>
              <a:t>Add tenant controls, retention and formal verification</a:t>
            </a:r>
          </a:p>
        </p:txBody>
      </p:sp>
    </p:spTree>
    <p:extLst>
      <p:ext uri="{BB962C8B-B14F-4D97-AF65-F5344CB8AC3E}">
        <p14:creationId xmlns:p14="http://schemas.microsoft.com/office/powerpoint/2010/main" val="1844675453"/>
      </p:ext>
    </p:extLst>
  </p:cSld>
</p:sld>
</file>

<file path=ppt/slides/slide6.xml><?xml version="1.0" encoding="utf-8"?>
<p:sld xmlns:p="http://schemas.openxmlformats.org/presentationml/2006/main">
  <p:cSld>
    <p:bg>
      <p:bgPr>
        <a:solidFill xmlns:a="http://schemas.openxmlformats.org/drawingml/2006/main">
          <a:srgbClr val="FAF8FA"/>
        </a:solidFill>
      </p:bgPr>
    </p:bg>
    <p:spTree>
      <p:nvGrpSpPr>
        <p:cNvPr id="1" name=""/>
        <p:cNvGrpSpPr/>
        <p:nvPr/>
      </p:nvGrpSpPr>
      <p:grpSpPr>
        <a:xfrm xmlns:a="http://schemas.openxmlformats.org/drawingml/2006/main"/>
      </p:grpSpPr>
      <p:sp>
        <p:nvSpPr>
          <p:cNvPr id="85" name="shape-297">
            <a:extLst xmlns:a="http://schemas.openxmlformats.org/drawingml/2006/main">
              <a:ext uri="{FF2B5EF4-FFF2-40B4-BE49-F238E27FC236}">
                <a16:creationId xmlns:a16="http://schemas.microsoft.com/office/drawing/2014/main" id="{A489B7F4-CE09-468D-996B-7D3E63C6661B}"/>
              </a:ext>
            </a:extLst>
          </p:cNvPr>
          <p:cNvSpPr>
            <a:spLocks xmlns:a="http://schemas.openxmlformats.org/drawingml/2006/main" noGrp="1"/>
          </p:cNvSpPr>
          <p:nvPr/>
        </p:nvSpPr>
        <p:spPr>
          <a:xfrm xmlns:a="http://schemas.openxmlformats.org/drawingml/2006/main">
            <a:off x="127000" y="114300"/>
            <a:ext cx="1524000" cy="990600"/>
          </a:xfrm>
          <a:prstGeom xmlns:a="http://schemas.openxmlformats.org/drawingml/2006/main" prst="ellipse">
            <a:avLst/>
          </a:prstGeom>
          <a:noFill xmlns:a="http://schemas.openxmlformats.org/drawingml/2006/main"/>
          <a:ln xmlns:a="http://schemas.openxmlformats.org/drawingml/2006/main" w="30480">
            <a:solidFill>
              <a:srgbClr val="8064A2"/>
            </a:solidFill>
            <a:prstDash val="solid"/>
          </a:ln>
        </p:spPr>
      </p:sp>
      <p:sp>
        <p:nvSpPr>
          <p:cNvPr id="2" name="text-299">
            <a:extLst xmlns:a="http://schemas.openxmlformats.org/drawingml/2006/main">
              <a:ext uri="{FF2B5EF4-FFF2-40B4-BE49-F238E27FC236}">
                <a16:creationId xmlns:a16="http://schemas.microsoft.com/office/drawing/2014/main" id="{A88F39BA-C6A9-497A-8F8C-2B9616AC5533}"/>
              </a:ext>
            </a:extLst>
          </p:cNvPr>
          <p:cNvSpPr>
            <a:spLocks xmlns:a="http://schemas.openxmlformats.org/drawingml/2006/main" noGrp="1"/>
          </p:cNvSpPr>
          <p:nvPr/>
        </p:nvSpPr>
        <p:spPr>
          <a:xfrm xmlns:a="http://schemas.openxmlformats.org/drawingml/2006/main">
            <a:off x="190500" y="381000"/>
            <a:ext cx="1397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300" b="1" i="0">
                <a:solidFill>
                  <a:srgbClr val="000000"/>
                </a:solidFill>
                <a:latin typeface="Times New Roman"/>
                <a:ea typeface="Times New Roman"/>
                <a:cs typeface="Times New Roman"/>
              </a:defRPr>
            </a:defPPr>
          </a:lstStyle>
          <a:p xmlns:a="http://schemas.openxmlformats.org/drawingml/2006/main">
            <a:pPr algn="ctr">
              <a:defRPr sz="1300" b="1" i="0">
                <a:solidFill>
                  <a:srgbClr val="000000"/>
                </a:solidFill>
                <a:latin typeface="Times New Roman"/>
                <a:ea typeface="Times New Roman"/>
                <a:cs typeface="Times New Roman"/>
              </a:defRPr>
            </a:pPr>
            <a:r>
              <a:rPr sz="1300" b="1" i="0">
                <a:solidFill>
                  <a:srgbClr val="000000"/>
                </a:solidFill>
                <a:latin typeface="Times New Roman"/>
                <a:ea typeface="Times New Roman"/>
                <a:cs typeface="Times New Roman"/>
              </a:rPr>
              <a:t>WORKFORCE</a:t>
            </a:r>
          </a:p>
          <a:p xmlns:a="http://schemas.openxmlformats.org/drawingml/2006/main">
            <a:pPr algn="ctr">
              <a:defRPr sz="1300" b="1" i="0">
                <a:solidFill>
                  <a:srgbClr val="000000"/>
                </a:solidFill>
                <a:latin typeface="Times New Roman"/>
                <a:ea typeface="Times New Roman"/>
                <a:cs typeface="Times New Roman"/>
              </a:defRPr>
            </a:pPr>
            <a:r>
              <a:rPr sz="1300" b="1" i="0">
                <a:solidFill>
                  <a:srgbClr val="000000"/>
                </a:solidFill>
                <a:latin typeface="Times New Roman"/>
                <a:ea typeface="Times New Roman"/>
                <a:cs typeface="Times New Roman"/>
              </a:rPr>
              <a:t>ADVISORY</a:t>
            </a:r>
          </a:p>
        </p:txBody>
      </p:sp>
      <p:sp>
        <p:nvSpPr>
          <p:cNvPr id="3" name="slide-title">
            <a:extLst xmlns:a="http://schemas.openxmlformats.org/drawingml/2006/main">
              <a:ext uri="{FF2B5EF4-FFF2-40B4-BE49-F238E27FC236}">
                <a16:creationId xmlns:a16="http://schemas.microsoft.com/office/drawing/2014/main" id="{B850C499-A059-44D5-B1C9-9D00C37CCE7A}"/>
              </a:ext>
            </a:extLst>
          </p:cNvPr>
          <p:cNvSpPr>
            <a:spLocks xmlns:a="http://schemas.openxmlformats.org/drawingml/2006/main" noGrp="1"/>
          </p:cNvSpPr>
          <p:nvPr/>
        </p:nvSpPr>
        <p:spPr>
          <a:xfrm xmlns:a="http://schemas.openxmlformats.org/drawingml/2006/main">
            <a:off x="1905000" y="152400"/>
            <a:ext cx="13335000" cy="850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4300" b="1" i="0">
                <a:solidFill>
                  <a:srgbClr val="000000"/>
                </a:solidFill>
                <a:latin typeface="Times New Roman"/>
                <a:ea typeface="Times New Roman"/>
                <a:cs typeface="Times New Roman"/>
              </a:defRPr>
            </a:defPPr>
          </a:lstStyle>
          <a:p xmlns:a="http://schemas.openxmlformats.org/drawingml/2006/main">
            <a:pPr algn="ctr">
              <a:defRPr sz="4300" b="1" i="0">
                <a:solidFill>
                  <a:srgbClr val="000000"/>
                </a:solidFill>
                <a:latin typeface="Times New Roman"/>
                <a:ea typeface="Times New Roman"/>
                <a:cs typeface="Times New Roman"/>
              </a:defRPr>
            </a:pPr>
            <a:r>
              <a:rPr sz="4300" b="1" i="0">
                <a:solidFill>
                  <a:srgbClr val="000000"/>
                </a:solidFill>
                <a:latin typeface="Times New Roman"/>
                <a:ea typeface="Times New Roman"/>
                <a:cs typeface="Times New Roman"/>
              </a:rPr>
              <a:t>IMPACT AND BENEFITS</a:t>
            </a:r>
          </a:p>
        </p:txBody>
      </p:sp>
      <p:sp>
        <p:nvSpPr>
          <p:cNvPr id="4" name="text-302">
            <a:extLst xmlns:a="http://schemas.openxmlformats.org/drawingml/2006/main">
              <a:ext uri="{FF2B5EF4-FFF2-40B4-BE49-F238E27FC236}">
                <a16:creationId xmlns:a16="http://schemas.microsoft.com/office/drawing/2014/main" id="{55B76072-A84C-4EDF-B87B-29B0FE264E84}"/>
              </a:ext>
            </a:extLst>
          </p:cNvPr>
          <p:cNvSpPr>
            <a:spLocks xmlns:a="http://schemas.openxmlformats.org/drawingml/2006/main" noGrp="1"/>
          </p:cNvSpPr>
          <p:nvPr/>
        </p:nvSpPr>
        <p:spPr>
          <a:xfrm xmlns:a="http://schemas.openxmlformats.org/drawingml/2006/main">
            <a:off x="15557500" y="215900"/>
            <a:ext cx="2476500" cy="850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700" b="1" i="0">
                <a:solidFill>
                  <a:srgbClr val="214E83"/>
                </a:solidFill>
                <a:latin typeface="Garamond"/>
                <a:ea typeface="Garamond"/>
                <a:cs typeface="Garamond"/>
              </a:defRPr>
            </a:defPPr>
          </a:lstStyle>
          <a:p xmlns:a="http://schemas.openxmlformats.org/drawingml/2006/main">
            <a:pPr algn="ctr">
              <a:defRPr sz="2700" b="1" i="0">
                <a:solidFill>
                  <a:srgbClr val="214E83"/>
                </a:solidFill>
                <a:latin typeface="Garamond"/>
                <a:ea typeface="Garamond"/>
                <a:cs typeface="Garamond"/>
              </a:defRPr>
            </a:pPr>
            <a:r>
              <a:rPr sz="2700" b="1" i="0">
                <a:solidFill>
                  <a:srgbClr val="214E83"/>
                </a:solidFill>
                <a:latin typeface="Garamond"/>
                <a:ea typeface="Garamond"/>
                <a:cs typeface="Garamond"/>
              </a:rPr>
              <a:t>KERNEL</a:t>
            </a:r>
          </a:p>
          <a:p xmlns:a="http://schemas.openxmlformats.org/drawingml/2006/main">
            <a:pPr algn="ctr">
              <a:defRPr sz="2700" b="1" i="0">
                <a:solidFill>
                  <a:srgbClr val="214E83"/>
                </a:solidFill>
                <a:latin typeface="Garamond"/>
                <a:ea typeface="Garamond"/>
                <a:cs typeface="Garamond"/>
              </a:defRPr>
            </a:pPr>
            <a:r>
              <a:rPr sz="2700" b="1" i="0">
                <a:solidFill>
                  <a:srgbClr val="214E83"/>
                </a:solidFill>
                <a:latin typeface="Garamond"/>
                <a:ea typeface="Garamond"/>
                <a:cs typeface="Garamond"/>
              </a:rPr>
              <a:t>PRIME’26</a:t>
            </a:r>
          </a:p>
        </p:txBody>
      </p:sp>
      <p:sp>
        <p:nvSpPr>
          <p:cNvPr id="5" name="shape-303">
            <a:extLst xmlns:a="http://schemas.openxmlformats.org/drawingml/2006/main">
              <a:ext uri="{FF2B5EF4-FFF2-40B4-BE49-F238E27FC236}">
                <a16:creationId xmlns:a16="http://schemas.microsoft.com/office/drawing/2014/main" id="{2AC3624C-5C7F-47F9-9864-FD0395F8FEE8}"/>
              </a:ext>
            </a:extLst>
          </p:cNvPr>
          <p:cNvSpPr>
            <a:spLocks xmlns:a="http://schemas.openxmlformats.org/drawingml/2006/main" noGrp="1"/>
          </p:cNvSpPr>
          <p:nvPr/>
        </p:nvSpPr>
        <p:spPr>
          <a:xfrm xmlns:a="http://schemas.openxmlformats.org/drawingml/2006/main">
            <a:off x="0" y="9690100"/>
            <a:ext cx="18288000" cy="596900"/>
          </a:xfrm>
          <a:prstGeom xmlns:a="http://schemas.openxmlformats.org/drawingml/2006/main" prst="rect">
            <a:avLst/>
          </a:prstGeom>
          <a:solidFill xmlns:a="http://schemas.openxmlformats.org/drawingml/2006/main">
            <a:srgbClr val="0071BC"/>
          </a:solidFill>
          <a:ln xmlns:a="http://schemas.openxmlformats.org/drawingml/2006/main" w="0">
            <a:noFill/>
            <a:prstDash val="solid"/>
          </a:ln>
        </p:spPr>
      </p:sp>
      <p:sp>
        <p:nvSpPr>
          <p:cNvPr id="6" name="text-305">
            <a:extLst xmlns:a="http://schemas.openxmlformats.org/drawingml/2006/main">
              <a:ext uri="{FF2B5EF4-FFF2-40B4-BE49-F238E27FC236}">
                <a16:creationId xmlns:a16="http://schemas.microsoft.com/office/drawing/2014/main" id="{A40D70BB-8D25-40D7-9247-242847B15EAB}"/>
              </a:ext>
            </a:extLst>
          </p:cNvPr>
          <p:cNvSpPr>
            <a:spLocks xmlns:a="http://schemas.openxmlformats.org/drawingml/2006/main" noGrp="1"/>
          </p:cNvSpPr>
          <p:nvPr/>
        </p:nvSpPr>
        <p:spPr>
          <a:xfrm xmlns:a="http://schemas.openxmlformats.org/drawingml/2006/main">
            <a:off x="17081500" y="9893300"/>
            <a:ext cx="571500" cy="25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00" b="1" i="0">
                <a:solidFill>
                  <a:srgbClr val="FFFFFF"/>
                </a:solidFill>
                <a:latin typeface="Times New Roman"/>
                <a:ea typeface="Times New Roman"/>
                <a:cs typeface="Times New Roman"/>
              </a:defRPr>
            </a:defPPr>
          </a:lstStyle>
          <a:p xmlns:a="http://schemas.openxmlformats.org/drawingml/2006/main">
            <a:pPr algn="ctr">
              <a:defRPr sz="1600" b="1" i="0">
                <a:solidFill>
                  <a:srgbClr val="FFFFFF"/>
                </a:solidFill>
                <a:latin typeface="Times New Roman"/>
                <a:ea typeface="Times New Roman"/>
                <a:cs typeface="Times New Roman"/>
              </a:defRPr>
            </a:pPr>
            <a:r>
              <a:rPr sz="1600" b="1" i="0">
                <a:solidFill>
                  <a:srgbClr val="FFFFFF"/>
                </a:solidFill>
                <a:latin typeface="Times New Roman"/>
                <a:ea typeface="Times New Roman"/>
                <a:cs typeface="Times New Roman"/>
              </a:rPr>
              <a:t>6</a:t>
            </a:r>
          </a:p>
        </p:txBody>
      </p:sp>
      <p:sp>
        <p:nvSpPr>
          <p:cNvPr id="7" name="shape-306">
            <a:extLst xmlns:a="http://schemas.openxmlformats.org/drawingml/2006/main">
              <a:ext uri="{FF2B5EF4-FFF2-40B4-BE49-F238E27FC236}">
                <a16:creationId xmlns:a16="http://schemas.microsoft.com/office/drawing/2014/main" id="{376C4560-0653-4343-85AA-4F3E20F8B0D3}"/>
              </a:ext>
            </a:extLst>
          </p:cNvPr>
          <p:cNvSpPr>
            <a:spLocks xmlns:a="http://schemas.openxmlformats.org/drawingml/2006/main" noGrp="1"/>
          </p:cNvSpPr>
          <p:nvPr/>
        </p:nvSpPr>
        <p:spPr>
          <a:xfrm xmlns:a="http://schemas.openxmlformats.org/drawingml/2006/main">
            <a:off x="342900" y="1562100"/>
            <a:ext cx="5918200" cy="8013700"/>
          </a:xfrm>
          <a:prstGeom xmlns:a="http://schemas.openxmlformats.org/drawingml/2006/main" prst="roundRect">
            <a:avLst>
              <a:gd name="adj" fmla="val 3004"/>
            </a:avLst>
          </a:prstGeom>
          <a:solidFill xmlns:a="http://schemas.openxmlformats.org/drawingml/2006/main">
            <a:srgbClr val="FAF8FA"/>
          </a:solidFill>
          <a:ln xmlns:a="http://schemas.openxmlformats.org/drawingml/2006/main" w="6985">
            <a:solidFill>
              <a:srgbClr val="666666"/>
            </a:solidFill>
            <a:prstDash val="solid"/>
          </a:ln>
        </p:spPr>
      </p:sp>
      <p:sp>
        <p:nvSpPr>
          <p:cNvPr id="8" name="shape-307">
            <a:extLst xmlns:a="http://schemas.openxmlformats.org/drawingml/2006/main">
              <a:ext uri="{FF2B5EF4-FFF2-40B4-BE49-F238E27FC236}">
                <a16:creationId xmlns:a16="http://schemas.microsoft.com/office/drawing/2014/main" id="{AA4520F9-C93B-45B9-920A-11E50EEA051A}"/>
              </a:ext>
            </a:extLst>
          </p:cNvPr>
          <p:cNvSpPr>
            <a:spLocks xmlns:a="http://schemas.openxmlformats.org/drawingml/2006/main" noGrp="1"/>
          </p:cNvSpPr>
          <p:nvPr/>
        </p:nvSpPr>
        <p:spPr>
          <a:xfrm xmlns:a="http://schemas.openxmlformats.org/drawingml/2006/main">
            <a:off x="571500" y="1320800"/>
            <a:ext cx="5410200" cy="876300"/>
          </a:xfrm>
          <a:prstGeom xmlns:a="http://schemas.openxmlformats.org/drawingml/2006/main" prst="roundRect">
            <a:avLst>
              <a:gd name="adj" fmla="val 18841"/>
            </a:avLst>
          </a:prstGeom>
          <a:solidFill xmlns:a="http://schemas.openxmlformats.org/drawingml/2006/main">
            <a:srgbClr val="0071BC"/>
          </a:solidFill>
          <a:ln xmlns:a="http://schemas.openxmlformats.org/drawingml/2006/main" w="0">
            <a:noFill/>
            <a:prstDash val="solid"/>
          </a:ln>
        </p:spPr>
        <p:txBody>
          <a:bodyPr xmlns:a="http://schemas.openxmlformats.org/drawingml/2006/main" wrap="square" lIns="88900" tIns="88900" rIns="88900" bIns="88900" anchor="ctr">
            <a:noAutofit/>
          </a:bodyPr>
          <a:lstStyle xmlns:a="http://schemas.openxmlformats.org/drawingml/2006/main">
            <a:defPPr algn="ctr">
              <a:defRPr sz="2300" b="1">
                <a:solidFill>
                  <a:srgbClr val="FFFFFF"/>
                </a:solidFill>
                <a:latin typeface="Times New Roman"/>
                <a:ea typeface="Times New Roman"/>
                <a:cs typeface="Times New Roman"/>
              </a:defRPr>
            </a:defPPr>
          </a:lstStyle>
          <a:p xmlns:a="http://schemas.openxmlformats.org/drawingml/2006/main">
            <a:pPr algn="ctr">
              <a:defRPr sz="2300" b="1">
                <a:solidFill>
                  <a:srgbClr val="FFFFFF"/>
                </a:solidFill>
                <a:latin typeface="Times New Roman"/>
                <a:ea typeface="Times New Roman"/>
                <a:cs typeface="Times New Roman"/>
              </a:defRPr>
            </a:pPr>
            <a:r>
              <a:rPr sz="2300" b="1">
                <a:solidFill>
                  <a:srgbClr val="FFFFFF"/>
                </a:solidFill>
                <a:latin typeface="Times New Roman"/>
                <a:ea typeface="Times New Roman"/>
                <a:cs typeface="Times New Roman"/>
              </a:rPr>
              <a:t>TARGET BENEFICIARIES</a:t>
            </a:r>
          </a:p>
        </p:txBody>
      </p:sp>
      <p:sp>
        <p:nvSpPr>
          <p:cNvPr id="9" name="shape-308">
            <a:extLst xmlns:a="http://schemas.openxmlformats.org/drawingml/2006/main">
              <a:ext uri="{FF2B5EF4-FFF2-40B4-BE49-F238E27FC236}">
                <a16:creationId xmlns:a16="http://schemas.microsoft.com/office/drawing/2014/main" id="{47A3FF75-B272-45F0-8516-13C4598D9A91}"/>
              </a:ext>
            </a:extLst>
          </p:cNvPr>
          <p:cNvSpPr>
            <a:spLocks xmlns:a="http://schemas.openxmlformats.org/drawingml/2006/main" noGrp="1"/>
          </p:cNvSpPr>
          <p:nvPr/>
        </p:nvSpPr>
        <p:spPr>
          <a:xfrm xmlns:a="http://schemas.openxmlformats.org/drawingml/2006/main">
            <a:off x="368300" y="3657600"/>
            <a:ext cx="5867400" cy="127"/>
          </a:xfrm>
          <a:prstGeom xmlns:a="http://schemas.openxmlformats.org/drawingml/2006/main" prst="line">
            <a:avLst/>
          </a:prstGeom>
          <a:noFill xmlns:a="http://schemas.openxmlformats.org/drawingml/2006/main"/>
          <a:ln xmlns:a="http://schemas.openxmlformats.org/drawingml/2006/main" w="8255">
            <a:solidFill>
              <a:srgbClr val="AAAAAA"/>
            </a:solidFill>
            <a:prstDash val="solid"/>
          </a:ln>
        </p:spPr>
      </p:sp>
      <p:sp>
        <p:nvSpPr>
          <p:cNvPr id="10" name="shape-309">
            <a:extLst xmlns:a="http://schemas.openxmlformats.org/drawingml/2006/main">
              <a:ext uri="{FF2B5EF4-FFF2-40B4-BE49-F238E27FC236}">
                <a16:creationId xmlns:a16="http://schemas.microsoft.com/office/drawing/2014/main" id="{B5DA7881-EBC7-46B0-94D9-AEB2930107A0}"/>
              </a:ext>
            </a:extLst>
          </p:cNvPr>
          <p:cNvSpPr>
            <a:spLocks xmlns:a="http://schemas.openxmlformats.org/drawingml/2006/main" noGrp="1"/>
          </p:cNvSpPr>
          <p:nvPr/>
        </p:nvSpPr>
        <p:spPr>
          <a:xfrm xmlns:a="http://schemas.openxmlformats.org/drawingml/2006/main">
            <a:off x="368300" y="5054600"/>
            <a:ext cx="5867400" cy="127"/>
          </a:xfrm>
          <a:prstGeom xmlns:a="http://schemas.openxmlformats.org/drawingml/2006/main" prst="line">
            <a:avLst/>
          </a:prstGeom>
          <a:noFill xmlns:a="http://schemas.openxmlformats.org/drawingml/2006/main"/>
          <a:ln xmlns:a="http://schemas.openxmlformats.org/drawingml/2006/main" w="8255">
            <a:solidFill>
              <a:srgbClr val="AAAAAA"/>
            </a:solidFill>
            <a:prstDash val="solid"/>
          </a:ln>
        </p:spPr>
      </p:sp>
      <p:sp>
        <p:nvSpPr>
          <p:cNvPr id="11" name="shape-310">
            <a:extLst xmlns:a="http://schemas.openxmlformats.org/drawingml/2006/main">
              <a:ext uri="{FF2B5EF4-FFF2-40B4-BE49-F238E27FC236}">
                <a16:creationId xmlns:a16="http://schemas.microsoft.com/office/drawing/2014/main" id="{4953466E-2170-4897-BAA9-C2E4264483A6}"/>
              </a:ext>
            </a:extLst>
          </p:cNvPr>
          <p:cNvSpPr>
            <a:spLocks xmlns:a="http://schemas.openxmlformats.org/drawingml/2006/main" noGrp="1"/>
          </p:cNvSpPr>
          <p:nvPr/>
        </p:nvSpPr>
        <p:spPr>
          <a:xfrm xmlns:a="http://schemas.openxmlformats.org/drawingml/2006/main">
            <a:off x="368300" y="6451600"/>
            <a:ext cx="5867400" cy="127"/>
          </a:xfrm>
          <a:prstGeom xmlns:a="http://schemas.openxmlformats.org/drawingml/2006/main" prst="line">
            <a:avLst/>
          </a:prstGeom>
          <a:noFill xmlns:a="http://schemas.openxmlformats.org/drawingml/2006/main"/>
          <a:ln xmlns:a="http://schemas.openxmlformats.org/drawingml/2006/main" w="8255">
            <a:solidFill>
              <a:srgbClr val="AAAAAA"/>
            </a:solidFill>
            <a:prstDash val="solid"/>
          </a:ln>
        </p:spPr>
      </p:sp>
      <p:sp>
        <p:nvSpPr>
          <p:cNvPr id="12" name="shape-311">
            <a:extLst xmlns:a="http://schemas.openxmlformats.org/drawingml/2006/main">
              <a:ext uri="{FF2B5EF4-FFF2-40B4-BE49-F238E27FC236}">
                <a16:creationId xmlns:a16="http://schemas.microsoft.com/office/drawing/2014/main" id="{D0932FE6-6372-4943-A77E-1605110B367A}"/>
              </a:ext>
            </a:extLst>
          </p:cNvPr>
          <p:cNvSpPr>
            <a:spLocks xmlns:a="http://schemas.openxmlformats.org/drawingml/2006/main" noGrp="1"/>
          </p:cNvSpPr>
          <p:nvPr/>
        </p:nvSpPr>
        <p:spPr>
          <a:xfrm xmlns:a="http://schemas.openxmlformats.org/drawingml/2006/main">
            <a:off x="368300" y="7848600"/>
            <a:ext cx="5867400" cy="127"/>
          </a:xfrm>
          <a:prstGeom xmlns:a="http://schemas.openxmlformats.org/drawingml/2006/main" prst="line">
            <a:avLst/>
          </a:prstGeom>
          <a:noFill xmlns:a="http://schemas.openxmlformats.org/drawingml/2006/main"/>
          <a:ln xmlns:a="http://schemas.openxmlformats.org/drawingml/2006/main" w="8255">
            <a:solidFill>
              <a:srgbClr val="AAAAAA"/>
            </a:solidFill>
            <a:prstDash val="solid"/>
          </a:ln>
        </p:spPr>
      </p:sp>
      <p:sp>
        <p:nvSpPr>
          <p:cNvPr id="13" name="shape-312">
            <a:extLst xmlns:a="http://schemas.openxmlformats.org/drawingml/2006/main">
              <a:ext uri="{FF2B5EF4-FFF2-40B4-BE49-F238E27FC236}">
                <a16:creationId xmlns:a16="http://schemas.microsoft.com/office/drawing/2014/main" id="{C9319A9A-ACD3-4B77-9C4E-A3F0CC9FD7BD}"/>
              </a:ext>
            </a:extLst>
          </p:cNvPr>
          <p:cNvSpPr>
            <a:spLocks xmlns:a="http://schemas.openxmlformats.org/drawingml/2006/main" noGrp="1"/>
          </p:cNvSpPr>
          <p:nvPr/>
        </p:nvSpPr>
        <p:spPr>
          <a:xfrm xmlns:a="http://schemas.openxmlformats.org/drawingml/2006/main">
            <a:off x="6426200" y="1562100"/>
            <a:ext cx="5918200" cy="8013700"/>
          </a:xfrm>
          <a:prstGeom xmlns:a="http://schemas.openxmlformats.org/drawingml/2006/main" prst="roundRect">
            <a:avLst>
              <a:gd name="adj" fmla="val 3004"/>
            </a:avLst>
          </a:prstGeom>
          <a:solidFill xmlns:a="http://schemas.openxmlformats.org/drawingml/2006/main">
            <a:srgbClr val="F1F8EC"/>
          </a:solidFill>
          <a:ln xmlns:a="http://schemas.openxmlformats.org/drawingml/2006/main" w="6985">
            <a:solidFill>
              <a:srgbClr val="666666"/>
            </a:solidFill>
            <a:prstDash val="solid"/>
          </a:ln>
        </p:spPr>
      </p:sp>
      <p:sp>
        <p:nvSpPr>
          <p:cNvPr id="14" name="shape-313">
            <a:extLst xmlns:a="http://schemas.openxmlformats.org/drawingml/2006/main">
              <a:ext uri="{FF2B5EF4-FFF2-40B4-BE49-F238E27FC236}">
                <a16:creationId xmlns:a16="http://schemas.microsoft.com/office/drawing/2014/main" id="{0500D163-8DB5-4F8E-AFE6-EB9F78E91E34}"/>
              </a:ext>
            </a:extLst>
          </p:cNvPr>
          <p:cNvSpPr>
            <a:spLocks xmlns:a="http://schemas.openxmlformats.org/drawingml/2006/main" noGrp="1"/>
          </p:cNvSpPr>
          <p:nvPr/>
        </p:nvSpPr>
        <p:spPr>
          <a:xfrm xmlns:a="http://schemas.openxmlformats.org/drawingml/2006/main">
            <a:off x="6654800" y="1320800"/>
            <a:ext cx="5410200" cy="876300"/>
          </a:xfrm>
          <a:prstGeom xmlns:a="http://schemas.openxmlformats.org/drawingml/2006/main" prst="roundRect">
            <a:avLst>
              <a:gd name="adj" fmla="val 18841"/>
            </a:avLst>
          </a:prstGeom>
          <a:solidFill xmlns:a="http://schemas.openxmlformats.org/drawingml/2006/main">
            <a:srgbClr val="5B903E"/>
          </a:solidFill>
          <a:ln xmlns:a="http://schemas.openxmlformats.org/drawingml/2006/main" w="0">
            <a:noFill/>
            <a:prstDash val="solid"/>
          </a:ln>
        </p:spPr>
        <p:txBody>
          <a:bodyPr xmlns:a="http://schemas.openxmlformats.org/drawingml/2006/main" wrap="square" lIns="88900" tIns="88900" rIns="88900" bIns="88900" anchor="ctr">
            <a:noAutofit/>
          </a:bodyPr>
          <a:lstStyle xmlns:a="http://schemas.openxmlformats.org/drawingml/2006/main">
            <a:defPPr algn="ctr">
              <a:defRPr sz="2300" b="1">
                <a:solidFill>
                  <a:srgbClr val="FFFFFF"/>
                </a:solidFill>
                <a:latin typeface="Times New Roman"/>
                <a:ea typeface="Times New Roman"/>
                <a:cs typeface="Times New Roman"/>
              </a:defRPr>
            </a:defPPr>
          </a:lstStyle>
          <a:p xmlns:a="http://schemas.openxmlformats.org/drawingml/2006/main">
            <a:pPr algn="ctr">
              <a:defRPr sz="2300" b="1">
                <a:solidFill>
                  <a:srgbClr val="FFFFFF"/>
                </a:solidFill>
                <a:latin typeface="Times New Roman"/>
                <a:ea typeface="Times New Roman"/>
                <a:cs typeface="Times New Roman"/>
              </a:defRPr>
            </a:pPr>
            <a:r>
              <a:rPr sz="2300" b="1">
                <a:solidFill>
                  <a:srgbClr val="FFFFFF"/>
                </a:solidFill>
                <a:latin typeface="Times New Roman"/>
                <a:ea typeface="Times New Roman"/>
                <a:cs typeface="Times New Roman"/>
              </a:rPr>
              <a:t>SOCIAL AND INDUSTRIAL IMPACT</a:t>
            </a:r>
          </a:p>
        </p:txBody>
      </p:sp>
      <p:sp>
        <p:nvSpPr>
          <p:cNvPr id="15" name="shape-314">
            <a:extLst xmlns:a="http://schemas.openxmlformats.org/drawingml/2006/main">
              <a:ext uri="{FF2B5EF4-FFF2-40B4-BE49-F238E27FC236}">
                <a16:creationId xmlns:a16="http://schemas.microsoft.com/office/drawing/2014/main" id="{91843AB3-EC60-4A29-A201-8E4BCF754BA8}"/>
              </a:ext>
            </a:extLst>
          </p:cNvPr>
          <p:cNvSpPr>
            <a:spLocks xmlns:a="http://schemas.openxmlformats.org/drawingml/2006/main" noGrp="1"/>
          </p:cNvSpPr>
          <p:nvPr/>
        </p:nvSpPr>
        <p:spPr>
          <a:xfrm xmlns:a="http://schemas.openxmlformats.org/drawingml/2006/main">
            <a:off x="6451600" y="3657600"/>
            <a:ext cx="5867400" cy="127"/>
          </a:xfrm>
          <a:prstGeom xmlns:a="http://schemas.openxmlformats.org/drawingml/2006/main" prst="line">
            <a:avLst/>
          </a:prstGeom>
          <a:noFill xmlns:a="http://schemas.openxmlformats.org/drawingml/2006/main"/>
          <a:ln xmlns:a="http://schemas.openxmlformats.org/drawingml/2006/main" w="8255">
            <a:solidFill>
              <a:srgbClr val="AAAAAA"/>
            </a:solidFill>
            <a:prstDash val="solid"/>
          </a:ln>
        </p:spPr>
      </p:sp>
      <p:sp>
        <p:nvSpPr>
          <p:cNvPr id="16" name="shape-315">
            <a:extLst xmlns:a="http://schemas.openxmlformats.org/drawingml/2006/main">
              <a:ext uri="{FF2B5EF4-FFF2-40B4-BE49-F238E27FC236}">
                <a16:creationId xmlns:a16="http://schemas.microsoft.com/office/drawing/2014/main" id="{64F53103-6A46-4DD9-98AC-C02C9731AFD3}"/>
              </a:ext>
            </a:extLst>
          </p:cNvPr>
          <p:cNvSpPr>
            <a:spLocks xmlns:a="http://schemas.openxmlformats.org/drawingml/2006/main" noGrp="1"/>
          </p:cNvSpPr>
          <p:nvPr/>
        </p:nvSpPr>
        <p:spPr>
          <a:xfrm xmlns:a="http://schemas.openxmlformats.org/drawingml/2006/main">
            <a:off x="6451600" y="5054600"/>
            <a:ext cx="5867400" cy="127"/>
          </a:xfrm>
          <a:prstGeom xmlns:a="http://schemas.openxmlformats.org/drawingml/2006/main" prst="line">
            <a:avLst/>
          </a:prstGeom>
          <a:noFill xmlns:a="http://schemas.openxmlformats.org/drawingml/2006/main"/>
          <a:ln xmlns:a="http://schemas.openxmlformats.org/drawingml/2006/main" w="8255">
            <a:solidFill>
              <a:srgbClr val="AAAAAA"/>
            </a:solidFill>
            <a:prstDash val="solid"/>
          </a:ln>
        </p:spPr>
      </p:sp>
      <p:sp>
        <p:nvSpPr>
          <p:cNvPr id="17" name="shape-316">
            <a:extLst xmlns:a="http://schemas.openxmlformats.org/drawingml/2006/main">
              <a:ext uri="{FF2B5EF4-FFF2-40B4-BE49-F238E27FC236}">
                <a16:creationId xmlns:a16="http://schemas.microsoft.com/office/drawing/2014/main" id="{7CF01526-2DBC-4688-8C2D-C1432D0170E5}"/>
              </a:ext>
            </a:extLst>
          </p:cNvPr>
          <p:cNvSpPr>
            <a:spLocks xmlns:a="http://schemas.openxmlformats.org/drawingml/2006/main" noGrp="1"/>
          </p:cNvSpPr>
          <p:nvPr/>
        </p:nvSpPr>
        <p:spPr>
          <a:xfrm xmlns:a="http://schemas.openxmlformats.org/drawingml/2006/main">
            <a:off x="6451600" y="6451600"/>
            <a:ext cx="5867400" cy="127"/>
          </a:xfrm>
          <a:prstGeom xmlns:a="http://schemas.openxmlformats.org/drawingml/2006/main" prst="line">
            <a:avLst/>
          </a:prstGeom>
          <a:noFill xmlns:a="http://schemas.openxmlformats.org/drawingml/2006/main"/>
          <a:ln xmlns:a="http://schemas.openxmlformats.org/drawingml/2006/main" w="8255">
            <a:solidFill>
              <a:srgbClr val="AAAAAA"/>
            </a:solidFill>
            <a:prstDash val="solid"/>
          </a:ln>
        </p:spPr>
      </p:sp>
      <p:sp>
        <p:nvSpPr>
          <p:cNvPr id="18" name="shape-317">
            <a:extLst xmlns:a="http://schemas.openxmlformats.org/drawingml/2006/main">
              <a:ext uri="{FF2B5EF4-FFF2-40B4-BE49-F238E27FC236}">
                <a16:creationId xmlns:a16="http://schemas.microsoft.com/office/drawing/2014/main" id="{9689EF71-E7BD-4122-9581-B7D869340630}"/>
              </a:ext>
            </a:extLst>
          </p:cNvPr>
          <p:cNvSpPr>
            <a:spLocks xmlns:a="http://schemas.openxmlformats.org/drawingml/2006/main" noGrp="1"/>
          </p:cNvSpPr>
          <p:nvPr/>
        </p:nvSpPr>
        <p:spPr>
          <a:xfrm xmlns:a="http://schemas.openxmlformats.org/drawingml/2006/main">
            <a:off x="6451600" y="7848600"/>
            <a:ext cx="5867400" cy="127"/>
          </a:xfrm>
          <a:prstGeom xmlns:a="http://schemas.openxmlformats.org/drawingml/2006/main" prst="line">
            <a:avLst/>
          </a:prstGeom>
          <a:noFill xmlns:a="http://schemas.openxmlformats.org/drawingml/2006/main"/>
          <a:ln xmlns:a="http://schemas.openxmlformats.org/drawingml/2006/main" w="8255">
            <a:solidFill>
              <a:srgbClr val="AAAAAA"/>
            </a:solidFill>
            <a:prstDash val="solid"/>
          </a:ln>
        </p:spPr>
      </p:sp>
      <p:sp>
        <p:nvSpPr>
          <p:cNvPr id="19" name="shape-318">
            <a:extLst xmlns:a="http://schemas.openxmlformats.org/drawingml/2006/main">
              <a:ext uri="{FF2B5EF4-FFF2-40B4-BE49-F238E27FC236}">
                <a16:creationId xmlns:a16="http://schemas.microsoft.com/office/drawing/2014/main" id="{EF81B135-DFAD-43DD-A13D-D3C5396CAB6B}"/>
              </a:ext>
            </a:extLst>
          </p:cNvPr>
          <p:cNvSpPr>
            <a:spLocks xmlns:a="http://schemas.openxmlformats.org/drawingml/2006/main" noGrp="1"/>
          </p:cNvSpPr>
          <p:nvPr/>
        </p:nvSpPr>
        <p:spPr>
          <a:xfrm xmlns:a="http://schemas.openxmlformats.org/drawingml/2006/main">
            <a:off x="12433300" y="1562100"/>
            <a:ext cx="5549900" cy="8013700"/>
          </a:xfrm>
          <a:prstGeom xmlns:a="http://schemas.openxmlformats.org/drawingml/2006/main" prst="roundRect">
            <a:avLst>
              <a:gd name="adj" fmla="val 3204"/>
            </a:avLst>
          </a:prstGeom>
          <a:solidFill xmlns:a="http://schemas.openxmlformats.org/drawingml/2006/main">
            <a:srgbClr val="FAF8FA"/>
          </a:solidFill>
          <a:ln xmlns:a="http://schemas.openxmlformats.org/drawingml/2006/main" w="6985">
            <a:solidFill>
              <a:srgbClr val="666666"/>
            </a:solidFill>
            <a:prstDash val="solid"/>
          </a:ln>
        </p:spPr>
      </p:sp>
      <p:sp>
        <p:nvSpPr>
          <p:cNvPr id="20" name="shape-319">
            <a:extLst xmlns:a="http://schemas.openxmlformats.org/drawingml/2006/main">
              <a:ext uri="{FF2B5EF4-FFF2-40B4-BE49-F238E27FC236}">
                <a16:creationId xmlns:a16="http://schemas.microsoft.com/office/drawing/2014/main" id="{D86C90F0-E091-4D10-A13B-1DBD3EED0789}"/>
              </a:ext>
            </a:extLst>
          </p:cNvPr>
          <p:cNvSpPr>
            <a:spLocks xmlns:a="http://schemas.openxmlformats.org/drawingml/2006/main" noGrp="1"/>
          </p:cNvSpPr>
          <p:nvPr/>
        </p:nvSpPr>
        <p:spPr>
          <a:xfrm xmlns:a="http://schemas.openxmlformats.org/drawingml/2006/main">
            <a:off x="12661900" y="1320800"/>
            <a:ext cx="5041900" cy="876300"/>
          </a:xfrm>
          <a:prstGeom xmlns:a="http://schemas.openxmlformats.org/drawingml/2006/main" prst="roundRect">
            <a:avLst>
              <a:gd name="adj" fmla="val 18841"/>
            </a:avLst>
          </a:prstGeom>
          <a:solidFill xmlns:a="http://schemas.openxmlformats.org/drawingml/2006/main">
            <a:srgbClr val="835000"/>
          </a:solidFill>
          <a:ln xmlns:a="http://schemas.openxmlformats.org/drawingml/2006/main" w="0">
            <a:noFill/>
            <a:prstDash val="solid"/>
          </a:ln>
        </p:spPr>
        <p:txBody>
          <a:bodyPr xmlns:a="http://schemas.openxmlformats.org/drawingml/2006/main" wrap="square" lIns="88900" tIns="88900" rIns="88900" bIns="88900" anchor="ctr">
            <a:noAutofit/>
          </a:bodyPr>
          <a:lstStyle xmlns:a="http://schemas.openxmlformats.org/drawingml/2006/main">
            <a:defPPr algn="ctr">
              <a:defRPr sz="2300" b="1">
                <a:solidFill>
                  <a:srgbClr val="FFFFFF"/>
                </a:solidFill>
                <a:latin typeface="Times New Roman"/>
                <a:ea typeface="Times New Roman"/>
                <a:cs typeface="Times New Roman"/>
              </a:defRPr>
            </a:defPPr>
          </a:lstStyle>
          <a:p xmlns:a="http://schemas.openxmlformats.org/drawingml/2006/main">
            <a:pPr algn="ctr">
              <a:defRPr sz="2300" b="1">
                <a:solidFill>
                  <a:srgbClr val="FFFFFF"/>
                </a:solidFill>
                <a:latin typeface="Times New Roman"/>
                <a:ea typeface="Times New Roman"/>
                <a:cs typeface="Times New Roman"/>
              </a:defRPr>
            </a:pPr>
            <a:r>
              <a:rPr sz="2300" b="1">
                <a:solidFill>
                  <a:srgbClr val="FFFFFF"/>
                </a:solidFill>
                <a:latin typeface="Times New Roman"/>
                <a:ea typeface="Times New Roman"/>
                <a:cs typeface="Times New Roman"/>
              </a:rPr>
              <a:t>OUTCOME MEASURES</a:t>
            </a:r>
          </a:p>
        </p:txBody>
      </p:sp>
      <p:sp>
        <p:nvSpPr>
          <p:cNvPr id="21" name="shape-320">
            <a:extLst xmlns:a="http://schemas.openxmlformats.org/drawingml/2006/main">
              <a:ext uri="{FF2B5EF4-FFF2-40B4-BE49-F238E27FC236}">
                <a16:creationId xmlns:a16="http://schemas.microsoft.com/office/drawing/2014/main" id="{7F12FC3E-0828-47EE-A16A-634E2D7355CE}"/>
              </a:ext>
            </a:extLst>
          </p:cNvPr>
          <p:cNvSpPr>
            <a:spLocks xmlns:a="http://schemas.openxmlformats.org/drawingml/2006/main" noGrp="1"/>
          </p:cNvSpPr>
          <p:nvPr/>
        </p:nvSpPr>
        <p:spPr>
          <a:xfrm xmlns:a="http://schemas.openxmlformats.org/drawingml/2006/main">
            <a:off x="12458700" y="3657600"/>
            <a:ext cx="5499100" cy="127"/>
          </a:xfrm>
          <a:prstGeom xmlns:a="http://schemas.openxmlformats.org/drawingml/2006/main" prst="line">
            <a:avLst/>
          </a:prstGeom>
          <a:noFill xmlns:a="http://schemas.openxmlformats.org/drawingml/2006/main"/>
          <a:ln xmlns:a="http://schemas.openxmlformats.org/drawingml/2006/main" w="8255">
            <a:solidFill>
              <a:srgbClr val="AAAAAA"/>
            </a:solidFill>
            <a:prstDash val="solid"/>
          </a:ln>
        </p:spPr>
      </p:sp>
      <p:sp>
        <p:nvSpPr>
          <p:cNvPr id="22" name="shape-321">
            <a:extLst xmlns:a="http://schemas.openxmlformats.org/drawingml/2006/main">
              <a:ext uri="{FF2B5EF4-FFF2-40B4-BE49-F238E27FC236}">
                <a16:creationId xmlns:a16="http://schemas.microsoft.com/office/drawing/2014/main" id="{905C05A6-110B-48BF-BB2A-3DFDB8FCD811}"/>
              </a:ext>
            </a:extLst>
          </p:cNvPr>
          <p:cNvSpPr>
            <a:spLocks xmlns:a="http://schemas.openxmlformats.org/drawingml/2006/main" noGrp="1"/>
          </p:cNvSpPr>
          <p:nvPr/>
        </p:nvSpPr>
        <p:spPr>
          <a:xfrm xmlns:a="http://schemas.openxmlformats.org/drawingml/2006/main">
            <a:off x="12458700" y="5054600"/>
            <a:ext cx="5499100" cy="127"/>
          </a:xfrm>
          <a:prstGeom xmlns:a="http://schemas.openxmlformats.org/drawingml/2006/main" prst="line">
            <a:avLst/>
          </a:prstGeom>
          <a:noFill xmlns:a="http://schemas.openxmlformats.org/drawingml/2006/main"/>
          <a:ln xmlns:a="http://schemas.openxmlformats.org/drawingml/2006/main" w="8255">
            <a:solidFill>
              <a:srgbClr val="AAAAAA"/>
            </a:solidFill>
            <a:prstDash val="solid"/>
          </a:ln>
        </p:spPr>
      </p:sp>
      <p:sp>
        <p:nvSpPr>
          <p:cNvPr id="23" name="shape-322">
            <a:extLst xmlns:a="http://schemas.openxmlformats.org/drawingml/2006/main">
              <a:ext uri="{FF2B5EF4-FFF2-40B4-BE49-F238E27FC236}">
                <a16:creationId xmlns:a16="http://schemas.microsoft.com/office/drawing/2014/main" id="{6A31D841-BF6B-44E5-B36A-7661AA701E5D}"/>
              </a:ext>
            </a:extLst>
          </p:cNvPr>
          <p:cNvSpPr>
            <a:spLocks xmlns:a="http://schemas.openxmlformats.org/drawingml/2006/main" noGrp="1"/>
          </p:cNvSpPr>
          <p:nvPr/>
        </p:nvSpPr>
        <p:spPr>
          <a:xfrm xmlns:a="http://schemas.openxmlformats.org/drawingml/2006/main">
            <a:off x="12458700" y="6451600"/>
            <a:ext cx="5499100" cy="127"/>
          </a:xfrm>
          <a:prstGeom xmlns:a="http://schemas.openxmlformats.org/drawingml/2006/main" prst="line">
            <a:avLst/>
          </a:prstGeom>
          <a:noFill xmlns:a="http://schemas.openxmlformats.org/drawingml/2006/main"/>
          <a:ln xmlns:a="http://schemas.openxmlformats.org/drawingml/2006/main" w="8255">
            <a:solidFill>
              <a:srgbClr val="AAAAAA"/>
            </a:solidFill>
            <a:prstDash val="solid"/>
          </a:ln>
        </p:spPr>
      </p:sp>
      <p:sp>
        <p:nvSpPr>
          <p:cNvPr id="24" name="shape-323">
            <a:extLst xmlns:a="http://schemas.openxmlformats.org/drawingml/2006/main">
              <a:ext uri="{FF2B5EF4-FFF2-40B4-BE49-F238E27FC236}">
                <a16:creationId xmlns:a16="http://schemas.microsoft.com/office/drawing/2014/main" id="{65D4E999-7718-43A7-B326-E9F61EB6CF73}"/>
              </a:ext>
            </a:extLst>
          </p:cNvPr>
          <p:cNvSpPr>
            <a:spLocks xmlns:a="http://schemas.openxmlformats.org/drawingml/2006/main" noGrp="1"/>
          </p:cNvSpPr>
          <p:nvPr/>
        </p:nvSpPr>
        <p:spPr>
          <a:xfrm xmlns:a="http://schemas.openxmlformats.org/drawingml/2006/main">
            <a:off x="12458700" y="7848600"/>
            <a:ext cx="5499100" cy="127"/>
          </a:xfrm>
          <a:prstGeom xmlns:a="http://schemas.openxmlformats.org/drawingml/2006/main" prst="line">
            <a:avLst/>
          </a:prstGeom>
          <a:noFill xmlns:a="http://schemas.openxmlformats.org/drawingml/2006/main"/>
          <a:ln xmlns:a="http://schemas.openxmlformats.org/drawingml/2006/main" w="8255">
            <a:solidFill>
              <a:srgbClr val="AAAAAA"/>
            </a:solidFill>
            <a:prstDash val="solid"/>
          </a:ln>
        </p:spPr>
      </p:sp>
      <p:sp>
        <p:nvSpPr>
          <p:cNvPr id="25" name="shape-324">
            <a:extLst xmlns:a="http://schemas.openxmlformats.org/drawingml/2006/main">
              <a:ext uri="{FF2B5EF4-FFF2-40B4-BE49-F238E27FC236}">
                <a16:creationId xmlns:a16="http://schemas.microsoft.com/office/drawing/2014/main" id="{A29C0CC0-1FC5-4166-9F1A-515062F16709}"/>
              </a:ext>
            </a:extLst>
          </p:cNvPr>
          <p:cNvSpPr>
            <a:spLocks xmlns:a="http://schemas.openxmlformats.org/drawingml/2006/main" noGrp="1"/>
          </p:cNvSpPr>
          <p:nvPr/>
        </p:nvSpPr>
        <p:spPr>
          <a:xfrm xmlns:a="http://schemas.openxmlformats.org/drawingml/2006/main">
            <a:off x="571500" y="2552700"/>
            <a:ext cx="558800" cy="558800"/>
          </a:xfrm>
          <a:prstGeom xmlns:a="http://schemas.openxmlformats.org/drawingml/2006/main" prst="ellipse">
            <a:avLst/>
          </a:prstGeom>
          <a:noFill xmlns:a="http://schemas.openxmlformats.org/drawingml/2006/main"/>
          <a:ln xmlns:a="http://schemas.openxmlformats.org/drawingml/2006/main" w="25400">
            <a:solidFill>
              <a:srgbClr val="0050A6"/>
            </a:solidFill>
            <a:prstDash val="solid"/>
          </a:ln>
        </p:spPr>
      </p:sp>
      <p:sp>
        <p:nvSpPr>
          <p:cNvPr id="26" name="text-326">
            <a:extLst xmlns:a="http://schemas.openxmlformats.org/drawingml/2006/main">
              <a:ext uri="{FF2B5EF4-FFF2-40B4-BE49-F238E27FC236}">
                <a16:creationId xmlns:a16="http://schemas.microsoft.com/office/drawing/2014/main" id="{87FD13EA-5E54-45BF-845B-BB07010A1536}"/>
              </a:ext>
            </a:extLst>
          </p:cNvPr>
          <p:cNvSpPr>
            <a:spLocks xmlns:a="http://schemas.openxmlformats.org/drawingml/2006/main" noGrp="1"/>
          </p:cNvSpPr>
          <p:nvPr/>
        </p:nvSpPr>
        <p:spPr>
          <a:xfrm xmlns:a="http://schemas.openxmlformats.org/drawingml/2006/main">
            <a:off x="698500" y="2654300"/>
            <a:ext cx="304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00" b="1" i="0">
                <a:solidFill>
                  <a:srgbClr val="0050A6"/>
                </a:solidFill>
                <a:latin typeface="Times New Roman"/>
                <a:ea typeface="Times New Roman"/>
                <a:cs typeface="Times New Roman"/>
              </a:defRPr>
            </a:defPPr>
          </a:lstStyle>
          <a:p xmlns:a="http://schemas.openxmlformats.org/drawingml/2006/main">
            <a:pPr algn="ctr">
              <a:defRPr sz="2200" b="1" i="0">
                <a:solidFill>
                  <a:srgbClr val="0050A6"/>
                </a:solidFill>
                <a:latin typeface="Times New Roman"/>
                <a:ea typeface="Times New Roman"/>
                <a:cs typeface="Times New Roman"/>
              </a:defRPr>
            </a:pPr>
            <a:r>
              <a:rPr sz="2200" b="1" i="0">
                <a:solidFill>
                  <a:srgbClr val="0050A6"/>
                </a:solidFill>
                <a:latin typeface="Times New Roman"/>
                <a:ea typeface="Times New Roman"/>
                <a:cs typeface="Times New Roman"/>
              </a:rPr>
              <a:t>1</a:t>
            </a:r>
          </a:p>
        </p:txBody>
      </p:sp>
      <p:sp>
        <p:nvSpPr>
          <p:cNvPr id="27" name="text-328">
            <a:extLst xmlns:a="http://schemas.openxmlformats.org/drawingml/2006/main">
              <a:ext uri="{FF2B5EF4-FFF2-40B4-BE49-F238E27FC236}">
                <a16:creationId xmlns:a16="http://schemas.microsoft.com/office/drawing/2014/main" id="{9438E36F-CE97-4D13-85F5-822020C55AB6}"/>
              </a:ext>
            </a:extLst>
          </p:cNvPr>
          <p:cNvSpPr>
            <a:spLocks xmlns:a="http://schemas.openxmlformats.org/drawingml/2006/main" noGrp="1"/>
          </p:cNvSpPr>
          <p:nvPr/>
        </p:nvSpPr>
        <p:spPr>
          <a:xfrm xmlns:a="http://schemas.openxmlformats.org/drawingml/2006/main">
            <a:off x="1397000" y="2413000"/>
            <a:ext cx="4711700" cy="67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00" b="1" i="0">
                <a:solidFill>
                  <a:srgbClr val="0050A6"/>
                </a:solidFill>
                <a:latin typeface="Times New Roman"/>
                <a:ea typeface="Times New Roman"/>
                <a:cs typeface="Times New Roman"/>
              </a:defRPr>
            </a:defPPr>
          </a:lstStyle>
          <a:p xmlns:a="http://schemas.openxmlformats.org/drawingml/2006/main">
            <a:pPr algn="l">
              <a:defRPr sz="2300" b="1" i="0">
                <a:solidFill>
                  <a:srgbClr val="0050A6"/>
                </a:solidFill>
                <a:latin typeface="Times New Roman"/>
                <a:ea typeface="Times New Roman"/>
                <a:cs typeface="Times New Roman"/>
              </a:defRPr>
            </a:pPr>
            <a:r>
              <a:rPr sz="2300" b="1" i="0">
                <a:solidFill>
                  <a:srgbClr val="0050A6"/>
                </a:solidFill>
                <a:latin typeface="Times New Roman"/>
                <a:ea typeface="Times New Roman"/>
                <a:cs typeface="Times New Roman"/>
              </a:rPr>
              <a:t>HR AND RECRUITMENT</a:t>
            </a:r>
          </a:p>
        </p:txBody>
      </p:sp>
      <p:sp>
        <p:nvSpPr>
          <p:cNvPr id="28" name="text-330">
            <a:extLst xmlns:a="http://schemas.openxmlformats.org/drawingml/2006/main">
              <a:ext uri="{FF2B5EF4-FFF2-40B4-BE49-F238E27FC236}">
                <a16:creationId xmlns:a16="http://schemas.microsoft.com/office/drawing/2014/main" id="{D7201B04-8950-46F0-B213-DAE180991FFF}"/>
              </a:ext>
            </a:extLst>
          </p:cNvPr>
          <p:cNvSpPr>
            <a:spLocks xmlns:a="http://schemas.openxmlformats.org/drawingml/2006/main" noGrp="1"/>
          </p:cNvSpPr>
          <p:nvPr/>
        </p:nvSpPr>
        <p:spPr>
          <a:xfrm xmlns:a="http://schemas.openxmlformats.org/drawingml/2006/main">
            <a:off x="1397000" y="3073400"/>
            <a:ext cx="4673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000000"/>
                </a:solidFill>
                <a:latin typeface="Times New Roman"/>
                <a:ea typeface="Times New Roman"/>
                <a:cs typeface="Times New Roman"/>
              </a:defRPr>
            </a:defPPr>
          </a:lstStyle>
          <a:p xmlns:a="http://schemas.openxmlformats.org/drawingml/2006/main">
            <a:pPr algn="l">
              <a:defRPr sz="2000" b="0" i="0">
                <a:solidFill>
                  <a:srgbClr val="000000"/>
                </a:solidFill>
                <a:latin typeface="Times New Roman"/>
                <a:ea typeface="Times New Roman"/>
                <a:cs typeface="Times New Roman"/>
              </a:defRPr>
            </a:pPr>
            <a:r>
              <a:rPr sz="2000" b="0" i="0">
                <a:solidFill>
                  <a:srgbClr val="000000"/>
                </a:solidFill>
                <a:latin typeface="Times New Roman"/>
                <a:ea typeface="Times New Roman"/>
                <a:cs typeface="Times New Roman"/>
              </a:rPr>
              <a:t>Planners and hiring managers</a:t>
            </a:r>
          </a:p>
        </p:txBody>
      </p:sp>
      <p:sp>
        <p:nvSpPr>
          <p:cNvPr id="29" name="shape-331">
            <a:extLst xmlns:a="http://schemas.openxmlformats.org/drawingml/2006/main">
              <a:ext uri="{FF2B5EF4-FFF2-40B4-BE49-F238E27FC236}">
                <a16:creationId xmlns:a16="http://schemas.microsoft.com/office/drawing/2014/main" id="{FC804FDE-947F-4888-9FF7-8357A187CDFF}"/>
              </a:ext>
            </a:extLst>
          </p:cNvPr>
          <p:cNvSpPr>
            <a:spLocks xmlns:a="http://schemas.openxmlformats.org/drawingml/2006/main" noGrp="1"/>
          </p:cNvSpPr>
          <p:nvPr/>
        </p:nvSpPr>
        <p:spPr>
          <a:xfrm xmlns:a="http://schemas.openxmlformats.org/drawingml/2006/main">
            <a:off x="571500" y="3949700"/>
            <a:ext cx="558800" cy="558800"/>
          </a:xfrm>
          <a:prstGeom xmlns:a="http://schemas.openxmlformats.org/drawingml/2006/main" prst="ellipse">
            <a:avLst/>
          </a:prstGeom>
          <a:noFill xmlns:a="http://schemas.openxmlformats.org/drawingml/2006/main"/>
          <a:ln xmlns:a="http://schemas.openxmlformats.org/drawingml/2006/main" w="25400">
            <a:solidFill>
              <a:srgbClr val="0050A6"/>
            </a:solidFill>
            <a:prstDash val="solid"/>
          </a:ln>
        </p:spPr>
      </p:sp>
      <p:sp>
        <p:nvSpPr>
          <p:cNvPr id="30" name="text-333">
            <a:extLst xmlns:a="http://schemas.openxmlformats.org/drawingml/2006/main">
              <a:ext uri="{FF2B5EF4-FFF2-40B4-BE49-F238E27FC236}">
                <a16:creationId xmlns:a16="http://schemas.microsoft.com/office/drawing/2014/main" id="{37D2B832-8268-4825-BD0B-FC13CE360F25}"/>
              </a:ext>
            </a:extLst>
          </p:cNvPr>
          <p:cNvSpPr>
            <a:spLocks xmlns:a="http://schemas.openxmlformats.org/drawingml/2006/main" noGrp="1"/>
          </p:cNvSpPr>
          <p:nvPr/>
        </p:nvSpPr>
        <p:spPr>
          <a:xfrm xmlns:a="http://schemas.openxmlformats.org/drawingml/2006/main">
            <a:off x="698500" y="4051300"/>
            <a:ext cx="304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00" b="1" i="0">
                <a:solidFill>
                  <a:srgbClr val="0050A6"/>
                </a:solidFill>
                <a:latin typeface="Times New Roman"/>
                <a:ea typeface="Times New Roman"/>
                <a:cs typeface="Times New Roman"/>
              </a:defRPr>
            </a:defPPr>
          </a:lstStyle>
          <a:p xmlns:a="http://schemas.openxmlformats.org/drawingml/2006/main">
            <a:pPr algn="ctr">
              <a:defRPr sz="2200" b="1" i="0">
                <a:solidFill>
                  <a:srgbClr val="0050A6"/>
                </a:solidFill>
                <a:latin typeface="Times New Roman"/>
                <a:ea typeface="Times New Roman"/>
                <a:cs typeface="Times New Roman"/>
              </a:defRPr>
            </a:pPr>
            <a:r>
              <a:rPr sz="2200" b="1" i="0">
                <a:solidFill>
                  <a:srgbClr val="0050A6"/>
                </a:solidFill>
                <a:latin typeface="Times New Roman"/>
                <a:ea typeface="Times New Roman"/>
                <a:cs typeface="Times New Roman"/>
              </a:rPr>
              <a:t>2</a:t>
            </a:r>
          </a:p>
        </p:txBody>
      </p:sp>
      <p:sp>
        <p:nvSpPr>
          <p:cNvPr id="31" name="text-335">
            <a:extLst xmlns:a="http://schemas.openxmlformats.org/drawingml/2006/main">
              <a:ext uri="{FF2B5EF4-FFF2-40B4-BE49-F238E27FC236}">
                <a16:creationId xmlns:a16="http://schemas.microsoft.com/office/drawing/2014/main" id="{39B6C99F-585E-4907-9613-BDA909261976}"/>
              </a:ext>
            </a:extLst>
          </p:cNvPr>
          <p:cNvSpPr>
            <a:spLocks xmlns:a="http://schemas.openxmlformats.org/drawingml/2006/main" noGrp="1"/>
          </p:cNvSpPr>
          <p:nvPr/>
        </p:nvSpPr>
        <p:spPr>
          <a:xfrm xmlns:a="http://schemas.openxmlformats.org/drawingml/2006/main">
            <a:off x="1397000" y="3810000"/>
            <a:ext cx="4711700" cy="67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00" b="1" i="0">
                <a:solidFill>
                  <a:srgbClr val="0050A6"/>
                </a:solidFill>
                <a:latin typeface="Times New Roman"/>
                <a:ea typeface="Times New Roman"/>
                <a:cs typeface="Times New Roman"/>
              </a:defRPr>
            </a:defPPr>
          </a:lstStyle>
          <a:p xmlns:a="http://schemas.openxmlformats.org/drawingml/2006/main">
            <a:pPr algn="l">
              <a:defRPr sz="2300" b="1" i="0">
                <a:solidFill>
                  <a:srgbClr val="0050A6"/>
                </a:solidFill>
                <a:latin typeface="Times New Roman"/>
                <a:ea typeface="Times New Roman"/>
                <a:cs typeface="Times New Roman"/>
              </a:defRPr>
            </a:pPr>
            <a:r>
              <a:rPr sz="2300" b="1" i="0">
                <a:solidFill>
                  <a:srgbClr val="0050A6"/>
                </a:solidFill>
                <a:latin typeface="Times New Roman"/>
                <a:ea typeface="Times New Roman"/>
                <a:cs typeface="Times New Roman"/>
              </a:rPr>
              <a:t>EMPLOYEES</a:t>
            </a:r>
          </a:p>
        </p:txBody>
      </p:sp>
      <p:sp>
        <p:nvSpPr>
          <p:cNvPr id="32" name="text-337">
            <a:extLst xmlns:a="http://schemas.openxmlformats.org/drawingml/2006/main">
              <a:ext uri="{FF2B5EF4-FFF2-40B4-BE49-F238E27FC236}">
                <a16:creationId xmlns:a16="http://schemas.microsoft.com/office/drawing/2014/main" id="{877D5686-9A2B-4AF0-9D25-79E297A189C5}"/>
              </a:ext>
            </a:extLst>
          </p:cNvPr>
          <p:cNvSpPr>
            <a:spLocks xmlns:a="http://schemas.openxmlformats.org/drawingml/2006/main" noGrp="1"/>
          </p:cNvSpPr>
          <p:nvPr/>
        </p:nvSpPr>
        <p:spPr>
          <a:xfrm xmlns:a="http://schemas.openxmlformats.org/drawingml/2006/main">
            <a:off x="1397000" y="4470400"/>
            <a:ext cx="4673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000000"/>
                </a:solidFill>
                <a:latin typeface="Times New Roman"/>
                <a:ea typeface="Times New Roman"/>
                <a:cs typeface="Times New Roman"/>
              </a:defRPr>
            </a:defPPr>
          </a:lstStyle>
          <a:p xmlns:a="http://schemas.openxmlformats.org/drawingml/2006/main">
            <a:pPr algn="l">
              <a:defRPr sz="2000" b="0" i="0">
                <a:solidFill>
                  <a:srgbClr val="000000"/>
                </a:solidFill>
                <a:latin typeface="Times New Roman"/>
                <a:ea typeface="Times New Roman"/>
                <a:cs typeface="Times New Roman"/>
              </a:defRPr>
            </a:pPr>
            <a:r>
              <a:rPr sz="2000" b="0" i="0">
                <a:solidFill>
                  <a:srgbClr val="000000"/>
                </a:solidFill>
                <a:latin typeface="Times New Roman"/>
                <a:ea typeface="Times New Roman"/>
                <a:cs typeface="Times New Roman"/>
              </a:rPr>
              <a:t>Internal mobility and development</a:t>
            </a:r>
          </a:p>
        </p:txBody>
      </p:sp>
      <p:sp>
        <p:nvSpPr>
          <p:cNvPr id="33" name="shape-338">
            <a:extLst xmlns:a="http://schemas.openxmlformats.org/drawingml/2006/main">
              <a:ext uri="{FF2B5EF4-FFF2-40B4-BE49-F238E27FC236}">
                <a16:creationId xmlns:a16="http://schemas.microsoft.com/office/drawing/2014/main" id="{F3F8E9BB-D566-4714-807C-3CFA258C3060}"/>
              </a:ext>
            </a:extLst>
          </p:cNvPr>
          <p:cNvSpPr>
            <a:spLocks xmlns:a="http://schemas.openxmlformats.org/drawingml/2006/main" noGrp="1"/>
          </p:cNvSpPr>
          <p:nvPr/>
        </p:nvSpPr>
        <p:spPr>
          <a:xfrm xmlns:a="http://schemas.openxmlformats.org/drawingml/2006/main">
            <a:off x="571500" y="5346700"/>
            <a:ext cx="558800" cy="558800"/>
          </a:xfrm>
          <a:prstGeom xmlns:a="http://schemas.openxmlformats.org/drawingml/2006/main" prst="ellipse">
            <a:avLst/>
          </a:prstGeom>
          <a:noFill xmlns:a="http://schemas.openxmlformats.org/drawingml/2006/main"/>
          <a:ln xmlns:a="http://schemas.openxmlformats.org/drawingml/2006/main" w="25400">
            <a:solidFill>
              <a:srgbClr val="0050A6"/>
            </a:solidFill>
            <a:prstDash val="solid"/>
          </a:ln>
        </p:spPr>
      </p:sp>
      <p:sp>
        <p:nvSpPr>
          <p:cNvPr id="34" name="text-340">
            <a:extLst xmlns:a="http://schemas.openxmlformats.org/drawingml/2006/main">
              <a:ext uri="{FF2B5EF4-FFF2-40B4-BE49-F238E27FC236}">
                <a16:creationId xmlns:a16="http://schemas.microsoft.com/office/drawing/2014/main" id="{D1B21471-F17A-41B0-9266-D9E5B7683944}"/>
              </a:ext>
            </a:extLst>
          </p:cNvPr>
          <p:cNvSpPr>
            <a:spLocks xmlns:a="http://schemas.openxmlformats.org/drawingml/2006/main" noGrp="1"/>
          </p:cNvSpPr>
          <p:nvPr/>
        </p:nvSpPr>
        <p:spPr>
          <a:xfrm xmlns:a="http://schemas.openxmlformats.org/drawingml/2006/main">
            <a:off x="698500" y="5448300"/>
            <a:ext cx="304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00" b="1" i="0">
                <a:solidFill>
                  <a:srgbClr val="0050A6"/>
                </a:solidFill>
                <a:latin typeface="Times New Roman"/>
                <a:ea typeface="Times New Roman"/>
                <a:cs typeface="Times New Roman"/>
              </a:defRPr>
            </a:defPPr>
          </a:lstStyle>
          <a:p xmlns:a="http://schemas.openxmlformats.org/drawingml/2006/main">
            <a:pPr algn="ctr">
              <a:defRPr sz="2200" b="1" i="0">
                <a:solidFill>
                  <a:srgbClr val="0050A6"/>
                </a:solidFill>
                <a:latin typeface="Times New Roman"/>
                <a:ea typeface="Times New Roman"/>
                <a:cs typeface="Times New Roman"/>
              </a:defRPr>
            </a:pPr>
            <a:r>
              <a:rPr sz="2200" b="1" i="0">
                <a:solidFill>
                  <a:srgbClr val="0050A6"/>
                </a:solidFill>
                <a:latin typeface="Times New Roman"/>
                <a:ea typeface="Times New Roman"/>
                <a:cs typeface="Times New Roman"/>
              </a:rPr>
              <a:t>3</a:t>
            </a:r>
          </a:p>
        </p:txBody>
      </p:sp>
      <p:sp>
        <p:nvSpPr>
          <p:cNvPr id="35" name="text-342">
            <a:extLst xmlns:a="http://schemas.openxmlformats.org/drawingml/2006/main">
              <a:ext uri="{FF2B5EF4-FFF2-40B4-BE49-F238E27FC236}">
                <a16:creationId xmlns:a16="http://schemas.microsoft.com/office/drawing/2014/main" id="{BEE0CF0B-D873-449D-90FB-A7E33E89070B}"/>
              </a:ext>
            </a:extLst>
          </p:cNvPr>
          <p:cNvSpPr>
            <a:spLocks xmlns:a="http://schemas.openxmlformats.org/drawingml/2006/main" noGrp="1"/>
          </p:cNvSpPr>
          <p:nvPr/>
        </p:nvSpPr>
        <p:spPr>
          <a:xfrm xmlns:a="http://schemas.openxmlformats.org/drawingml/2006/main">
            <a:off x="1397000" y="5207000"/>
            <a:ext cx="4711700" cy="67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00" b="1" i="0">
                <a:solidFill>
                  <a:srgbClr val="0050A6"/>
                </a:solidFill>
                <a:latin typeface="Times New Roman"/>
                <a:ea typeface="Times New Roman"/>
                <a:cs typeface="Times New Roman"/>
              </a:defRPr>
            </a:defPPr>
          </a:lstStyle>
          <a:p xmlns:a="http://schemas.openxmlformats.org/drawingml/2006/main">
            <a:pPr algn="l">
              <a:defRPr sz="2300" b="1" i="0">
                <a:solidFill>
                  <a:srgbClr val="0050A6"/>
                </a:solidFill>
                <a:latin typeface="Times New Roman"/>
                <a:ea typeface="Times New Roman"/>
                <a:cs typeface="Times New Roman"/>
              </a:defRPr>
            </a:pPr>
            <a:r>
              <a:rPr sz="2300" b="1" i="0">
                <a:solidFill>
                  <a:srgbClr val="0050A6"/>
                </a:solidFill>
                <a:latin typeface="Times New Roman"/>
                <a:ea typeface="Times New Roman"/>
                <a:cs typeface="Times New Roman"/>
              </a:rPr>
              <a:t>CONTRACTORS</a:t>
            </a:r>
          </a:p>
        </p:txBody>
      </p:sp>
      <p:sp>
        <p:nvSpPr>
          <p:cNvPr id="36" name="text-344">
            <a:extLst xmlns:a="http://schemas.openxmlformats.org/drawingml/2006/main">
              <a:ext uri="{FF2B5EF4-FFF2-40B4-BE49-F238E27FC236}">
                <a16:creationId xmlns:a16="http://schemas.microsoft.com/office/drawing/2014/main" id="{9F64E0BA-55D4-427C-87A3-500CA43796C3}"/>
              </a:ext>
            </a:extLst>
          </p:cNvPr>
          <p:cNvSpPr>
            <a:spLocks xmlns:a="http://schemas.openxmlformats.org/drawingml/2006/main" noGrp="1"/>
          </p:cNvSpPr>
          <p:nvPr/>
        </p:nvSpPr>
        <p:spPr>
          <a:xfrm xmlns:a="http://schemas.openxmlformats.org/drawingml/2006/main">
            <a:off x="1397000" y="5867400"/>
            <a:ext cx="4673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000000"/>
                </a:solidFill>
                <a:latin typeface="Times New Roman"/>
                <a:ea typeface="Times New Roman"/>
                <a:cs typeface="Times New Roman"/>
              </a:defRPr>
            </a:defPPr>
          </a:lstStyle>
          <a:p xmlns:a="http://schemas.openxmlformats.org/drawingml/2006/main">
            <a:pPr algn="l">
              <a:defRPr sz="2000" b="0" i="0">
                <a:solidFill>
                  <a:srgbClr val="000000"/>
                </a:solidFill>
                <a:latin typeface="Times New Roman"/>
                <a:ea typeface="Times New Roman"/>
                <a:cs typeface="Times New Roman"/>
              </a:defRPr>
            </a:pPr>
            <a:r>
              <a:rPr sz="2000" b="0" i="0">
                <a:solidFill>
                  <a:srgbClr val="000000"/>
                </a:solidFill>
                <a:latin typeface="Times New Roman"/>
                <a:ea typeface="Times New Roman"/>
                <a:cs typeface="Times New Roman"/>
              </a:rPr>
              <a:t>Visible skills and conversion interest</a:t>
            </a:r>
          </a:p>
        </p:txBody>
      </p:sp>
      <p:sp>
        <p:nvSpPr>
          <p:cNvPr id="37" name="shape-345">
            <a:extLst xmlns:a="http://schemas.openxmlformats.org/drawingml/2006/main">
              <a:ext uri="{FF2B5EF4-FFF2-40B4-BE49-F238E27FC236}">
                <a16:creationId xmlns:a16="http://schemas.microsoft.com/office/drawing/2014/main" id="{0BBEADBE-1544-4FB9-819B-DD7DE28C9491}"/>
              </a:ext>
            </a:extLst>
          </p:cNvPr>
          <p:cNvSpPr>
            <a:spLocks xmlns:a="http://schemas.openxmlformats.org/drawingml/2006/main" noGrp="1"/>
          </p:cNvSpPr>
          <p:nvPr/>
        </p:nvSpPr>
        <p:spPr>
          <a:xfrm xmlns:a="http://schemas.openxmlformats.org/drawingml/2006/main">
            <a:off x="571500" y="6743700"/>
            <a:ext cx="558800" cy="558800"/>
          </a:xfrm>
          <a:prstGeom xmlns:a="http://schemas.openxmlformats.org/drawingml/2006/main" prst="ellipse">
            <a:avLst/>
          </a:prstGeom>
          <a:noFill xmlns:a="http://schemas.openxmlformats.org/drawingml/2006/main"/>
          <a:ln xmlns:a="http://schemas.openxmlformats.org/drawingml/2006/main" w="25400">
            <a:solidFill>
              <a:srgbClr val="0050A6"/>
            </a:solidFill>
            <a:prstDash val="solid"/>
          </a:ln>
        </p:spPr>
      </p:sp>
      <p:sp>
        <p:nvSpPr>
          <p:cNvPr id="38" name="text-347">
            <a:extLst xmlns:a="http://schemas.openxmlformats.org/drawingml/2006/main">
              <a:ext uri="{FF2B5EF4-FFF2-40B4-BE49-F238E27FC236}">
                <a16:creationId xmlns:a16="http://schemas.microsoft.com/office/drawing/2014/main" id="{945F2C51-C65E-442C-84CE-EB140D6EB53A}"/>
              </a:ext>
            </a:extLst>
          </p:cNvPr>
          <p:cNvSpPr>
            <a:spLocks xmlns:a="http://schemas.openxmlformats.org/drawingml/2006/main" noGrp="1"/>
          </p:cNvSpPr>
          <p:nvPr/>
        </p:nvSpPr>
        <p:spPr>
          <a:xfrm xmlns:a="http://schemas.openxmlformats.org/drawingml/2006/main">
            <a:off x="698500" y="6845300"/>
            <a:ext cx="304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00" b="1" i="0">
                <a:solidFill>
                  <a:srgbClr val="0050A6"/>
                </a:solidFill>
                <a:latin typeface="Times New Roman"/>
                <a:ea typeface="Times New Roman"/>
                <a:cs typeface="Times New Roman"/>
              </a:defRPr>
            </a:defPPr>
          </a:lstStyle>
          <a:p xmlns:a="http://schemas.openxmlformats.org/drawingml/2006/main">
            <a:pPr algn="ctr">
              <a:defRPr sz="2200" b="1" i="0">
                <a:solidFill>
                  <a:srgbClr val="0050A6"/>
                </a:solidFill>
                <a:latin typeface="Times New Roman"/>
                <a:ea typeface="Times New Roman"/>
                <a:cs typeface="Times New Roman"/>
              </a:defRPr>
            </a:pPr>
            <a:r>
              <a:rPr sz="2200" b="1" i="0">
                <a:solidFill>
                  <a:srgbClr val="0050A6"/>
                </a:solidFill>
                <a:latin typeface="Times New Roman"/>
                <a:ea typeface="Times New Roman"/>
                <a:cs typeface="Times New Roman"/>
              </a:rPr>
              <a:t>4</a:t>
            </a:r>
          </a:p>
        </p:txBody>
      </p:sp>
      <p:sp>
        <p:nvSpPr>
          <p:cNvPr id="39" name="text-349">
            <a:extLst xmlns:a="http://schemas.openxmlformats.org/drawingml/2006/main">
              <a:ext uri="{FF2B5EF4-FFF2-40B4-BE49-F238E27FC236}">
                <a16:creationId xmlns:a16="http://schemas.microsoft.com/office/drawing/2014/main" id="{B79B9FD1-0674-432E-A4FA-02675BE00CD5}"/>
              </a:ext>
            </a:extLst>
          </p:cNvPr>
          <p:cNvSpPr>
            <a:spLocks xmlns:a="http://schemas.openxmlformats.org/drawingml/2006/main" noGrp="1"/>
          </p:cNvSpPr>
          <p:nvPr/>
        </p:nvSpPr>
        <p:spPr>
          <a:xfrm xmlns:a="http://schemas.openxmlformats.org/drawingml/2006/main">
            <a:off x="1397000" y="6604000"/>
            <a:ext cx="4711700" cy="67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00" b="1" i="0">
                <a:solidFill>
                  <a:srgbClr val="0050A6"/>
                </a:solidFill>
                <a:latin typeface="Times New Roman"/>
                <a:ea typeface="Times New Roman"/>
                <a:cs typeface="Times New Roman"/>
              </a:defRPr>
            </a:defPPr>
          </a:lstStyle>
          <a:p xmlns:a="http://schemas.openxmlformats.org/drawingml/2006/main">
            <a:pPr algn="l">
              <a:defRPr sz="2300" b="1" i="0">
                <a:solidFill>
                  <a:srgbClr val="0050A6"/>
                </a:solidFill>
                <a:latin typeface="Times New Roman"/>
                <a:ea typeface="Times New Roman"/>
                <a:cs typeface="Times New Roman"/>
              </a:defRPr>
            </a:pPr>
            <a:r>
              <a:rPr sz="2300" b="1" i="0">
                <a:solidFill>
                  <a:srgbClr val="0050A6"/>
                </a:solidFill>
                <a:latin typeface="Times New Roman"/>
                <a:ea typeface="Times New Roman"/>
                <a:cs typeface="Times New Roman"/>
              </a:rPr>
              <a:t>STAFFING AND INDUSTRY</a:t>
            </a:r>
          </a:p>
        </p:txBody>
      </p:sp>
      <p:sp>
        <p:nvSpPr>
          <p:cNvPr id="40" name="text-351">
            <a:extLst xmlns:a="http://schemas.openxmlformats.org/drawingml/2006/main">
              <a:ext uri="{FF2B5EF4-FFF2-40B4-BE49-F238E27FC236}">
                <a16:creationId xmlns:a16="http://schemas.microsoft.com/office/drawing/2014/main" id="{CA4E54BE-6E6B-499E-8F4C-B3BDCA9B7CC4}"/>
              </a:ext>
            </a:extLst>
          </p:cNvPr>
          <p:cNvSpPr>
            <a:spLocks xmlns:a="http://schemas.openxmlformats.org/drawingml/2006/main" noGrp="1"/>
          </p:cNvSpPr>
          <p:nvPr/>
        </p:nvSpPr>
        <p:spPr>
          <a:xfrm xmlns:a="http://schemas.openxmlformats.org/drawingml/2006/main">
            <a:off x="1397000" y="7264400"/>
            <a:ext cx="4673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000000"/>
                </a:solidFill>
                <a:latin typeface="Times New Roman"/>
                <a:ea typeface="Times New Roman"/>
                <a:cs typeface="Times New Roman"/>
              </a:defRPr>
            </a:defPPr>
          </a:lstStyle>
          <a:p xmlns:a="http://schemas.openxmlformats.org/drawingml/2006/main">
            <a:pPr algn="l">
              <a:defRPr sz="2000" b="0" i="0">
                <a:solidFill>
                  <a:srgbClr val="000000"/>
                </a:solidFill>
                <a:latin typeface="Times New Roman"/>
                <a:ea typeface="Times New Roman"/>
                <a:cs typeface="Times New Roman"/>
              </a:defRPr>
            </a:pPr>
            <a:r>
              <a:rPr sz="2000" b="0" i="0">
                <a:solidFill>
                  <a:srgbClr val="000000"/>
                </a:solidFill>
                <a:latin typeface="Times New Roman"/>
                <a:ea typeface="Times New Roman"/>
                <a:cs typeface="Times New Roman"/>
              </a:rPr>
              <a:t>Project demand and flexible capacity</a:t>
            </a:r>
          </a:p>
        </p:txBody>
      </p:sp>
      <p:sp>
        <p:nvSpPr>
          <p:cNvPr id="41" name="shape-352">
            <a:extLst xmlns:a="http://schemas.openxmlformats.org/drawingml/2006/main">
              <a:ext uri="{FF2B5EF4-FFF2-40B4-BE49-F238E27FC236}">
                <a16:creationId xmlns:a16="http://schemas.microsoft.com/office/drawing/2014/main" id="{DF1CC5E2-D630-437C-9D58-DAA835E9946E}"/>
              </a:ext>
            </a:extLst>
          </p:cNvPr>
          <p:cNvSpPr>
            <a:spLocks xmlns:a="http://schemas.openxmlformats.org/drawingml/2006/main" noGrp="1"/>
          </p:cNvSpPr>
          <p:nvPr/>
        </p:nvSpPr>
        <p:spPr>
          <a:xfrm xmlns:a="http://schemas.openxmlformats.org/drawingml/2006/main">
            <a:off x="571500" y="8140700"/>
            <a:ext cx="558800" cy="558800"/>
          </a:xfrm>
          <a:prstGeom xmlns:a="http://schemas.openxmlformats.org/drawingml/2006/main" prst="ellipse">
            <a:avLst/>
          </a:prstGeom>
          <a:noFill xmlns:a="http://schemas.openxmlformats.org/drawingml/2006/main"/>
          <a:ln xmlns:a="http://schemas.openxmlformats.org/drawingml/2006/main" w="25400">
            <a:solidFill>
              <a:srgbClr val="0050A6"/>
            </a:solidFill>
            <a:prstDash val="solid"/>
          </a:ln>
        </p:spPr>
      </p:sp>
      <p:sp>
        <p:nvSpPr>
          <p:cNvPr id="42" name="text-354">
            <a:extLst xmlns:a="http://schemas.openxmlformats.org/drawingml/2006/main">
              <a:ext uri="{FF2B5EF4-FFF2-40B4-BE49-F238E27FC236}">
                <a16:creationId xmlns:a16="http://schemas.microsoft.com/office/drawing/2014/main" id="{96E2E2C6-541A-4563-8035-6EAE63EA026C}"/>
              </a:ext>
            </a:extLst>
          </p:cNvPr>
          <p:cNvSpPr>
            <a:spLocks xmlns:a="http://schemas.openxmlformats.org/drawingml/2006/main" noGrp="1"/>
          </p:cNvSpPr>
          <p:nvPr/>
        </p:nvSpPr>
        <p:spPr>
          <a:xfrm xmlns:a="http://schemas.openxmlformats.org/drawingml/2006/main">
            <a:off x="698500" y="8242300"/>
            <a:ext cx="304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00" b="1" i="0">
                <a:solidFill>
                  <a:srgbClr val="0050A6"/>
                </a:solidFill>
                <a:latin typeface="Times New Roman"/>
                <a:ea typeface="Times New Roman"/>
                <a:cs typeface="Times New Roman"/>
              </a:defRPr>
            </a:defPPr>
          </a:lstStyle>
          <a:p xmlns:a="http://schemas.openxmlformats.org/drawingml/2006/main">
            <a:pPr algn="ctr">
              <a:defRPr sz="2200" b="1" i="0">
                <a:solidFill>
                  <a:srgbClr val="0050A6"/>
                </a:solidFill>
                <a:latin typeface="Times New Roman"/>
                <a:ea typeface="Times New Roman"/>
                <a:cs typeface="Times New Roman"/>
              </a:defRPr>
            </a:pPr>
            <a:r>
              <a:rPr sz="2200" b="1" i="0">
                <a:solidFill>
                  <a:srgbClr val="0050A6"/>
                </a:solidFill>
                <a:latin typeface="Times New Roman"/>
                <a:ea typeface="Times New Roman"/>
                <a:cs typeface="Times New Roman"/>
              </a:rPr>
              <a:t>5</a:t>
            </a:r>
          </a:p>
        </p:txBody>
      </p:sp>
      <p:sp>
        <p:nvSpPr>
          <p:cNvPr id="43" name="text-356">
            <a:extLst xmlns:a="http://schemas.openxmlformats.org/drawingml/2006/main">
              <a:ext uri="{FF2B5EF4-FFF2-40B4-BE49-F238E27FC236}">
                <a16:creationId xmlns:a16="http://schemas.microsoft.com/office/drawing/2014/main" id="{10795CD4-9AB7-4D9A-BEC6-A4268FD3DDF2}"/>
              </a:ext>
            </a:extLst>
          </p:cNvPr>
          <p:cNvSpPr>
            <a:spLocks xmlns:a="http://schemas.openxmlformats.org/drawingml/2006/main" noGrp="1"/>
          </p:cNvSpPr>
          <p:nvPr/>
        </p:nvSpPr>
        <p:spPr>
          <a:xfrm xmlns:a="http://schemas.openxmlformats.org/drawingml/2006/main">
            <a:off x="1397000" y="8001000"/>
            <a:ext cx="4711700" cy="67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00" b="1" i="0">
                <a:solidFill>
                  <a:srgbClr val="0050A6"/>
                </a:solidFill>
                <a:latin typeface="Times New Roman"/>
                <a:ea typeface="Times New Roman"/>
                <a:cs typeface="Times New Roman"/>
              </a:defRPr>
            </a:defPPr>
          </a:lstStyle>
          <a:p xmlns:a="http://schemas.openxmlformats.org/drawingml/2006/main">
            <a:pPr algn="l">
              <a:defRPr sz="2300" b="1" i="0">
                <a:solidFill>
                  <a:srgbClr val="0050A6"/>
                </a:solidFill>
                <a:latin typeface="Times New Roman"/>
                <a:ea typeface="Times New Roman"/>
                <a:cs typeface="Times New Roman"/>
              </a:defRPr>
            </a:pPr>
            <a:r>
              <a:rPr sz="2300" b="1" i="0">
                <a:solidFill>
                  <a:srgbClr val="0050A6"/>
                </a:solidFill>
                <a:latin typeface="Times New Roman"/>
                <a:ea typeface="Times New Roman"/>
                <a:cs typeface="Times New Roman"/>
              </a:rPr>
              <a:t>GROWING ENTERPRISES</a:t>
            </a:r>
          </a:p>
        </p:txBody>
      </p:sp>
      <p:sp>
        <p:nvSpPr>
          <p:cNvPr id="44" name="text-358">
            <a:extLst xmlns:a="http://schemas.openxmlformats.org/drawingml/2006/main">
              <a:ext uri="{FF2B5EF4-FFF2-40B4-BE49-F238E27FC236}">
                <a16:creationId xmlns:a16="http://schemas.microsoft.com/office/drawing/2014/main" id="{C8FC0F32-4BE9-43B8-98A9-9350C98EA965}"/>
              </a:ext>
            </a:extLst>
          </p:cNvPr>
          <p:cNvSpPr>
            <a:spLocks xmlns:a="http://schemas.openxmlformats.org/drawingml/2006/main" noGrp="1"/>
          </p:cNvSpPr>
          <p:nvPr/>
        </p:nvSpPr>
        <p:spPr>
          <a:xfrm xmlns:a="http://schemas.openxmlformats.org/drawingml/2006/main">
            <a:off x="1397000" y="8661400"/>
            <a:ext cx="4673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000000"/>
                </a:solidFill>
                <a:latin typeface="Times New Roman"/>
                <a:ea typeface="Times New Roman"/>
                <a:cs typeface="Times New Roman"/>
              </a:defRPr>
            </a:defPPr>
          </a:lstStyle>
          <a:p xmlns:a="http://schemas.openxmlformats.org/drawingml/2006/main">
            <a:pPr algn="l">
              <a:defRPr sz="2000" b="0" i="0">
                <a:solidFill>
                  <a:srgbClr val="000000"/>
                </a:solidFill>
                <a:latin typeface="Times New Roman"/>
                <a:ea typeface="Times New Roman"/>
                <a:cs typeface="Times New Roman"/>
              </a:defRPr>
            </a:pPr>
            <a:r>
              <a:rPr sz="2000" b="0" i="0">
                <a:solidFill>
                  <a:srgbClr val="000000"/>
                </a:solidFill>
                <a:latin typeface="Times New Roman"/>
                <a:ea typeface="Times New Roman"/>
                <a:cs typeface="Times New Roman"/>
              </a:rPr>
              <a:t>Consistent workforce decision records</a:t>
            </a:r>
          </a:p>
        </p:txBody>
      </p:sp>
      <p:sp>
        <p:nvSpPr>
          <p:cNvPr id="45" name="shape-359">
            <a:extLst xmlns:a="http://schemas.openxmlformats.org/drawingml/2006/main">
              <a:ext uri="{FF2B5EF4-FFF2-40B4-BE49-F238E27FC236}">
                <a16:creationId xmlns:a16="http://schemas.microsoft.com/office/drawing/2014/main" id="{CAEED2D3-51E8-40A1-B671-A9428737B53C}"/>
              </a:ext>
            </a:extLst>
          </p:cNvPr>
          <p:cNvSpPr>
            <a:spLocks xmlns:a="http://schemas.openxmlformats.org/drawingml/2006/main" noGrp="1"/>
          </p:cNvSpPr>
          <p:nvPr/>
        </p:nvSpPr>
        <p:spPr>
          <a:xfrm xmlns:a="http://schemas.openxmlformats.org/drawingml/2006/main">
            <a:off x="6654800" y="2552700"/>
            <a:ext cx="558800" cy="558800"/>
          </a:xfrm>
          <a:prstGeom xmlns:a="http://schemas.openxmlformats.org/drawingml/2006/main" prst="ellipse">
            <a:avLst/>
          </a:prstGeom>
          <a:noFill xmlns:a="http://schemas.openxmlformats.org/drawingml/2006/main"/>
          <a:ln xmlns:a="http://schemas.openxmlformats.org/drawingml/2006/main" w="25400">
            <a:solidFill>
              <a:srgbClr val="008C25"/>
            </a:solidFill>
            <a:prstDash val="solid"/>
          </a:ln>
        </p:spPr>
      </p:sp>
      <p:sp>
        <p:nvSpPr>
          <p:cNvPr id="46" name="text-361">
            <a:extLst xmlns:a="http://schemas.openxmlformats.org/drawingml/2006/main">
              <a:ext uri="{FF2B5EF4-FFF2-40B4-BE49-F238E27FC236}">
                <a16:creationId xmlns:a16="http://schemas.microsoft.com/office/drawing/2014/main" id="{FCC7D444-61AF-484C-AC86-EA605A51B3D1}"/>
              </a:ext>
            </a:extLst>
          </p:cNvPr>
          <p:cNvSpPr>
            <a:spLocks xmlns:a="http://schemas.openxmlformats.org/drawingml/2006/main" noGrp="1"/>
          </p:cNvSpPr>
          <p:nvPr/>
        </p:nvSpPr>
        <p:spPr>
          <a:xfrm xmlns:a="http://schemas.openxmlformats.org/drawingml/2006/main">
            <a:off x="6781800" y="2654300"/>
            <a:ext cx="304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00" b="1" i="0">
                <a:solidFill>
                  <a:srgbClr val="008C25"/>
                </a:solidFill>
                <a:latin typeface="Times New Roman"/>
                <a:ea typeface="Times New Roman"/>
                <a:cs typeface="Times New Roman"/>
              </a:defRPr>
            </a:defPPr>
          </a:lstStyle>
          <a:p xmlns:a="http://schemas.openxmlformats.org/drawingml/2006/main">
            <a:pPr algn="ctr">
              <a:defRPr sz="2200" b="1" i="0">
                <a:solidFill>
                  <a:srgbClr val="008C25"/>
                </a:solidFill>
                <a:latin typeface="Times New Roman"/>
                <a:ea typeface="Times New Roman"/>
                <a:cs typeface="Times New Roman"/>
              </a:defRPr>
            </a:pPr>
            <a:r>
              <a:rPr sz="2200" b="1" i="0">
                <a:solidFill>
                  <a:srgbClr val="008C25"/>
                </a:solidFill>
                <a:latin typeface="Times New Roman"/>
                <a:ea typeface="Times New Roman"/>
                <a:cs typeface="Times New Roman"/>
              </a:rPr>
              <a:t>1</a:t>
            </a:r>
          </a:p>
        </p:txBody>
      </p:sp>
      <p:sp>
        <p:nvSpPr>
          <p:cNvPr id="47" name="text-363">
            <a:extLst xmlns:a="http://schemas.openxmlformats.org/drawingml/2006/main">
              <a:ext uri="{FF2B5EF4-FFF2-40B4-BE49-F238E27FC236}">
                <a16:creationId xmlns:a16="http://schemas.microsoft.com/office/drawing/2014/main" id="{A81A0887-DA9A-4F6A-AF3D-EFF5DA6CC23A}"/>
              </a:ext>
            </a:extLst>
          </p:cNvPr>
          <p:cNvSpPr>
            <a:spLocks xmlns:a="http://schemas.openxmlformats.org/drawingml/2006/main" noGrp="1"/>
          </p:cNvSpPr>
          <p:nvPr/>
        </p:nvSpPr>
        <p:spPr>
          <a:xfrm xmlns:a="http://schemas.openxmlformats.org/drawingml/2006/main">
            <a:off x="7480300" y="2413000"/>
            <a:ext cx="4711700" cy="67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00" b="1" i="0">
                <a:solidFill>
                  <a:srgbClr val="008C25"/>
                </a:solidFill>
                <a:latin typeface="Times New Roman"/>
                <a:ea typeface="Times New Roman"/>
                <a:cs typeface="Times New Roman"/>
              </a:defRPr>
            </a:defPPr>
          </a:lstStyle>
          <a:p xmlns:a="http://schemas.openxmlformats.org/drawingml/2006/main">
            <a:pPr algn="l">
              <a:defRPr sz="2300" b="1" i="0">
                <a:solidFill>
                  <a:srgbClr val="008C25"/>
                </a:solidFill>
                <a:latin typeface="Times New Roman"/>
                <a:ea typeface="Times New Roman"/>
                <a:cs typeface="Times New Roman"/>
              </a:defRPr>
            </a:pPr>
            <a:r>
              <a:rPr sz="2300" b="1" i="0">
                <a:solidFill>
                  <a:srgbClr val="008C25"/>
                </a:solidFill>
                <a:latin typeface="Times New Roman"/>
                <a:ea typeface="Times New Roman"/>
                <a:cs typeface="Times New Roman"/>
              </a:rPr>
              <a:t>INTERNAL MOBILITY</a:t>
            </a:r>
          </a:p>
        </p:txBody>
      </p:sp>
      <p:sp>
        <p:nvSpPr>
          <p:cNvPr id="48" name="text-365">
            <a:extLst xmlns:a="http://schemas.openxmlformats.org/drawingml/2006/main">
              <a:ext uri="{FF2B5EF4-FFF2-40B4-BE49-F238E27FC236}">
                <a16:creationId xmlns:a16="http://schemas.microsoft.com/office/drawing/2014/main" id="{74E01DEF-C5D3-4F80-8DB1-3DB5EA674BE7}"/>
              </a:ext>
            </a:extLst>
          </p:cNvPr>
          <p:cNvSpPr>
            <a:spLocks xmlns:a="http://schemas.openxmlformats.org/drawingml/2006/main" noGrp="1"/>
          </p:cNvSpPr>
          <p:nvPr/>
        </p:nvSpPr>
        <p:spPr>
          <a:xfrm xmlns:a="http://schemas.openxmlformats.org/drawingml/2006/main">
            <a:off x="7480300" y="3073400"/>
            <a:ext cx="4673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000000"/>
                </a:solidFill>
                <a:latin typeface="Times New Roman"/>
                <a:ea typeface="Times New Roman"/>
                <a:cs typeface="Times New Roman"/>
              </a:defRPr>
            </a:defPPr>
          </a:lstStyle>
          <a:p xmlns:a="http://schemas.openxmlformats.org/drawingml/2006/main">
            <a:pPr algn="l">
              <a:defRPr sz="2000" b="0" i="0">
                <a:solidFill>
                  <a:srgbClr val="000000"/>
                </a:solidFill>
                <a:latin typeface="Times New Roman"/>
                <a:ea typeface="Times New Roman"/>
                <a:cs typeface="Times New Roman"/>
              </a:defRPr>
            </a:pPr>
            <a:r>
              <a:rPr sz="2000" b="0" i="0">
                <a:solidFill>
                  <a:srgbClr val="000000"/>
                </a:solidFill>
                <a:latin typeface="Times New Roman"/>
                <a:ea typeface="Times New Roman"/>
                <a:cs typeface="Times New Roman"/>
              </a:rPr>
              <a:t>Show skills and development gaps.</a:t>
            </a:r>
          </a:p>
        </p:txBody>
      </p:sp>
      <p:sp>
        <p:nvSpPr>
          <p:cNvPr id="49" name="shape-366">
            <a:extLst xmlns:a="http://schemas.openxmlformats.org/drawingml/2006/main">
              <a:ext uri="{FF2B5EF4-FFF2-40B4-BE49-F238E27FC236}">
                <a16:creationId xmlns:a16="http://schemas.microsoft.com/office/drawing/2014/main" id="{3832B6BE-CFA9-4A4E-A484-73473AE0451E}"/>
              </a:ext>
            </a:extLst>
          </p:cNvPr>
          <p:cNvSpPr>
            <a:spLocks xmlns:a="http://schemas.openxmlformats.org/drawingml/2006/main" noGrp="1"/>
          </p:cNvSpPr>
          <p:nvPr/>
        </p:nvSpPr>
        <p:spPr>
          <a:xfrm xmlns:a="http://schemas.openxmlformats.org/drawingml/2006/main">
            <a:off x="6654800" y="3949700"/>
            <a:ext cx="558800" cy="558800"/>
          </a:xfrm>
          <a:prstGeom xmlns:a="http://schemas.openxmlformats.org/drawingml/2006/main" prst="ellipse">
            <a:avLst/>
          </a:prstGeom>
          <a:noFill xmlns:a="http://schemas.openxmlformats.org/drawingml/2006/main"/>
          <a:ln xmlns:a="http://schemas.openxmlformats.org/drawingml/2006/main" w="25400">
            <a:solidFill>
              <a:srgbClr val="008C25"/>
            </a:solidFill>
            <a:prstDash val="solid"/>
          </a:ln>
        </p:spPr>
      </p:sp>
      <p:sp>
        <p:nvSpPr>
          <p:cNvPr id="50" name="text-368">
            <a:extLst xmlns:a="http://schemas.openxmlformats.org/drawingml/2006/main">
              <a:ext uri="{FF2B5EF4-FFF2-40B4-BE49-F238E27FC236}">
                <a16:creationId xmlns:a16="http://schemas.microsoft.com/office/drawing/2014/main" id="{EBF3D245-CE6F-4901-BCC5-E47645AAEC94}"/>
              </a:ext>
            </a:extLst>
          </p:cNvPr>
          <p:cNvSpPr>
            <a:spLocks xmlns:a="http://schemas.openxmlformats.org/drawingml/2006/main" noGrp="1"/>
          </p:cNvSpPr>
          <p:nvPr/>
        </p:nvSpPr>
        <p:spPr>
          <a:xfrm xmlns:a="http://schemas.openxmlformats.org/drawingml/2006/main">
            <a:off x="6781800" y="4051300"/>
            <a:ext cx="304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00" b="1" i="0">
                <a:solidFill>
                  <a:srgbClr val="008C25"/>
                </a:solidFill>
                <a:latin typeface="Times New Roman"/>
                <a:ea typeface="Times New Roman"/>
                <a:cs typeface="Times New Roman"/>
              </a:defRPr>
            </a:defPPr>
          </a:lstStyle>
          <a:p xmlns:a="http://schemas.openxmlformats.org/drawingml/2006/main">
            <a:pPr algn="ctr">
              <a:defRPr sz="2200" b="1" i="0">
                <a:solidFill>
                  <a:srgbClr val="008C25"/>
                </a:solidFill>
                <a:latin typeface="Times New Roman"/>
                <a:ea typeface="Times New Roman"/>
                <a:cs typeface="Times New Roman"/>
              </a:defRPr>
            </a:pPr>
            <a:r>
              <a:rPr sz="2200" b="1" i="0">
                <a:solidFill>
                  <a:srgbClr val="008C25"/>
                </a:solidFill>
                <a:latin typeface="Times New Roman"/>
                <a:ea typeface="Times New Roman"/>
                <a:cs typeface="Times New Roman"/>
              </a:rPr>
              <a:t>2</a:t>
            </a:r>
          </a:p>
        </p:txBody>
      </p:sp>
      <p:sp>
        <p:nvSpPr>
          <p:cNvPr id="51" name="text-370">
            <a:extLst xmlns:a="http://schemas.openxmlformats.org/drawingml/2006/main">
              <a:ext uri="{FF2B5EF4-FFF2-40B4-BE49-F238E27FC236}">
                <a16:creationId xmlns:a16="http://schemas.microsoft.com/office/drawing/2014/main" id="{E7DFBAEA-2FFE-4099-A3E4-3337DD3865BA}"/>
              </a:ext>
            </a:extLst>
          </p:cNvPr>
          <p:cNvSpPr>
            <a:spLocks xmlns:a="http://schemas.openxmlformats.org/drawingml/2006/main" noGrp="1"/>
          </p:cNvSpPr>
          <p:nvPr/>
        </p:nvSpPr>
        <p:spPr>
          <a:xfrm xmlns:a="http://schemas.openxmlformats.org/drawingml/2006/main">
            <a:off x="7480300" y="3810000"/>
            <a:ext cx="4711700" cy="67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00" b="1" i="0">
                <a:solidFill>
                  <a:srgbClr val="008C25"/>
                </a:solidFill>
                <a:latin typeface="Times New Roman"/>
                <a:ea typeface="Times New Roman"/>
                <a:cs typeface="Times New Roman"/>
              </a:defRPr>
            </a:defPPr>
          </a:lstStyle>
          <a:p xmlns:a="http://schemas.openxmlformats.org/drawingml/2006/main">
            <a:pPr algn="l">
              <a:defRPr sz="2300" b="1" i="0">
                <a:solidFill>
                  <a:srgbClr val="008C25"/>
                </a:solidFill>
                <a:latin typeface="Times New Roman"/>
                <a:ea typeface="Times New Roman"/>
                <a:cs typeface="Times New Roman"/>
              </a:defRPr>
            </a:pPr>
            <a:r>
              <a:rPr sz="2300" b="1" i="0">
                <a:solidFill>
                  <a:srgbClr val="008C25"/>
                </a:solidFill>
                <a:latin typeface="Times New Roman"/>
                <a:ea typeface="Times New Roman"/>
                <a:cs typeface="Times New Roman"/>
              </a:rPr>
              <a:t>CONTRACTOR OPPORTUNITY</a:t>
            </a:r>
          </a:p>
        </p:txBody>
      </p:sp>
      <p:sp>
        <p:nvSpPr>
          <p:cNvPr id="52" name="text-372">
            <a:extLst xmlns:a="http://schemas.openxmlformats.org/drawingml/2006/main">
              <a:ext uri="{FF2B5EF4-FFF2-40B4-BE49-F238E27FC236}">
                <a16:creationId xmlns:a16="http://schemas.microsoft.com/office/drawing/2014/main" id="{E0267BBE-90DD-45CC-9C05-21B371FF2886}"/>
              </a:ext>
            </a:extLst>
          </p:cNvPr>
          <p:cNvSpPr>
            <a:spLocks xmlns:a="http://schemas.openxmlformats.org/drawingml/2006/main" noGrp="1"/>
          </p:cNvSpPr>
          <p:nvPr/>
        </p:nvSpPr>
        <p:spPr>
          <a:xfrm xmlns:a="http://schemas.openxmlformats.org/drawingml/2006/main">
            <a:off x="7480300" y="4470400"/>
            <a:ext cx="4673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000000"/>
                </a:solidFill>
                <a:latin typeface="Times New Roman"/>
                <a:ea typeface="Times New Roman"/>
                <a:cs typeface="Times New Roman"/>
              </a:defRPr>
            </a:defPPr>
          </a:lstStyle>
          <a:p xmlns:a="http://schemas.openxmlformats.org/drawingml/2006/main">
            <a:pPr algn="l">
              <a:defRPr sz="2000" b="0" i="0">
                <a:solidFill>
                  <a:srgbClr val="000000"/>
                </a:solidFill>
                <a:latin typeface="Times New Roman"/>
                <a:ea typeface="Times New Roman"/>
                <a:cs typeface="Times New Roman"/>
              </a:defRPr>
            </a:pPr>
            <a:r>
              <a:rPr sz="2000" b="0" i="0">
                <a:solidFill>
                  <a:srgbClr val="000000"/>
                </a:solidFill>
                <a:latin typeface="Times New Roman"/>
                <a:ea typeface="Times New Roman"/>
                <a:cs typeface="Times New Roman"/>
              </a:rPr>
              <a:t>Review engagement and conversion interest.</a:t>
            </a:r>
          </a:p>
        </p:txBody>
      </p:sp>
      <p:sp>
        <p:nvSpPr>
          <p:cNvPr id="53" name="shape-373">
            <a:extLst xmlns:a="http://schemas.openxmlformats.org/drawingml/2006/main">
              <a:ext uri="{FF2B5EF4-FFF2-40B4-BE49-F238E27FC236}">
                <a16:creationId xmlns:a16="http://schemas.microsoft.com/office/drawing/2014/main" id="{693A6AA4-0BF3-4D5A-8060-B93BF2B635DC}"/>
              </a:ext>
            </a:extLst>
          </p:cNvPr>
          <p:cNvSpPr>
            <a:spLocks xmlns:a="http://schemas.openxmlformats.org/drawingml/2006/main" noGrp="1"/>
          </p:cNvSpPr>
          <p:nvPr/>
        </p:nvSpPr>
        <p:spPr>
          <a:xfrm xmlns:a="http://schemas.openxmlformats.org/drawingml/2006/main">
            <a:off x="6654800" y="5346700"/>
            <a:ext cx="558800" cy="558800"/>
          </a:xfrm>
          <a:prstGeom xmlns:a="http://schemas.openxmlformats.org/drawingml/2006/main" prst="ellipse">
            <a:avLst/>
          </a:prstGeom>
          <a:noFill xmlns:a="http://schemas.openxmlformats.org/drawingml/2006/main"/>
          <a:ln xmlns:a="http://schemas.openxmlformats.org/drawingml/2006/main" w="25400">
            <a:solidFill>
              <a:srgbClr val="008C25"/>
            </a:solidFill>
            <a:prstDash val="solid"/>
          </a:ln>
        </p:spPr>
      </p:sp>
      <p:sp>
        <p:nvSpPr>
          <p:cNvPr id="54" name="text-375">
            <a:extLst xmlns:a="http://schemas.openxmlformats.org/drawingml/2006/main">
              <a:ext uri="{FF2B5EF4-FFF2-40B4-BE49-F238E27FC236}">
                <a16:creationId xmlns:a16="http://schemas.microsoft.com/office/drawing/2014/main" id="{5EEF1619-51F5-41F9-A22E-C5C6DED2B46B}"/>
              </a:ext>
            </a:extLst>
          </p:cNvPr>
          <p:cNvSpPr>
            <a:spLocks xmlns:a="http://schemas.openxmlformats.org/drawingml/2006/main" noGrp="1"/>
          </p:cNvSpPr>
          <p:nvPr/>
        </p:nvSpPr>
        <p:spPr>
          <a:xfrm xmlns:a="http://schemas.openxmlformats.org/drawingml/2006/main">
            <a:off x="6781800" y="5448300"/>
            <a:ext cx="304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00" b="1" i="0">
                <a:solidFill>
                  <a:srgbClr val="008C25"/>
                </a:solidFill>
                <a:latin typeface="Times New Roman"/>
                <a:ea typeface="Times New Roman"/>
                <a:cs typeface="Times New Roman"/>
              </a:defRPr>
            </a:defPPr>
          </a:lstStyle>
          <a:p xmlns:a="http://schemas.openxmlformats.org/drawingml/2006/main">
            <a:pPr algn="ctr">
              <a:defRPr sz="2200" b="1" i="0">
                <a:solidFill>
                  <a:srgbClr val="008C25"/>
                </a:solidFill>
                <a:latin typeface="Times New Roman"/>
                <a:ea typeface="Times New Roman"/>
                <a:cs typeface="Times New Roman"/>
              </a:defRPr>
            </a:pPr>
            <a:r>
              <a:rPr sz="2200" b="1" i="0">
                <a:solidFill>
                  <a:srgbClr val="008C25"/>
                </a:solidFill>
                <a:latin typeface="Times New Roman"/>
                <a:ea typeface="Times New Roman"/>
                <a:cs typeface="Times New Roman"/>
              </a:rPr>
              <a:t>3</a:t>
            </a:r>
          </a:p>
        </p:txBody>
      </p:sp>
      <p:sp>
        <p:nvSpPr>
          <p:cNvPr id="55" name="text-377">
            <a:extLst xmlns:a="http://schemas.openxmlformats.org/drawingml/2006/main">
              <a:ext uri="{FF2B5EF4-FFF2-40B4-BE49-F238E27FC236}">
                <a16:creationId xmlns:a16="http://schemas.microsoft.com/office/drawing/2014/main" id="{AE3DA338-F4C1-4B79-858C-174FBD029BF8}"/>
              </a:ext>
            </a:extLst>
          </p:cNvPr>
          <p:cNvSpPr>
            <a:spLocks xmlns:a="http://schemas.openxmlformats.org/drawingml/2006/main" noGrp="1"/>
          </p:cNvSpPr>
          <p:nvPr/>
        </p:nvSpPr>
        <p:spPr>
          <a:xfrm xmlns:a="http://schemas.openxmlformats.org/drawingml/2006/main">
            <a:off x="7480300" y="5207000"/>
            <a:ext cx="4711700" cy="67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00" b="1" i="0">
                <a:solidFill>
                  <a:srgbClr val="008C25"/>
                </a:solidFill>
                <a:latin typeface="Times New Roman"/>
                <a:ea typeface="Times New Roman"/>
                <a:cs typeface="Times New Roman"/>
              </a:defRPr>
            </a:defPPr>
          </a:lstStyle>
          <a:p xmlns:a="http://schemas.openxmlformats.org/drawingml/2006/main">
            <a:pPr algn="l">
              <a:defRPr sz="2300" b="1" i="0">
                <a:solidFill>
                  <a:srgbClr val="008C25"/>
                </a:solidFill>
                <a:latin typeface="Times New Roman"/>
                <a:ea typeface="Times New Roman"/>
                <a:cs typeface="Times New Roman"/>
              </a:defRPr>
            </a:pPr>
            <a:r>
              <a:rPr sz="2300" b="1" i="0">
                <a:solidFill>
                  <a:srgbClr val="008C25"/>
                </a:solidFill>
                <a:latin typeface="Times New Roman"/>
                <a:ea typeface="Times New Roman"/>
                <a:cs typeface="Times New Roman"/>
              </a:rPr>
              <a:t>GEOGRAPHIC ACCESS</a:t>
            </a:r>
          </a:p>
        </p:txBody>
      </p:sp>
      <p:sp>
        <p:nvSpPr>
          <p:cNvPr id="56" name="text-379">
            <a:extLst xmlns:a="http://schemas.openxmlformats.org/drawingml/2006/main">
              <a:ext uri="{FF2B5EF4-FFF2-40B4-BE49-F238E27FC236}">
                <a16:creationId xmlns:a16="http://schemas.microsoft.com/office/drawing/2014/main" id="{62DC78F2-9530-48F7-B4E0-74544EA86BC6}"/>
              </a:ext>
            </a:extLst>
          </p:cNvPr>
          <p:cNvSpPr>
            <a:spLocks xmlns:a="http://schemas.openxmlformats.org/drawingml/2006/main" noGrp="1"/>
          </p:cNvSpPr>
          <p:nvPr/>
        </p:nvSpPr>
        <p:spPr>
          <a:xfrm xmlns:a="http://schemas.openxmlformats.org/drawingml/2006/main">
            <a:off x="7480300" y="5867400"/>
            <a:ext cx="4673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000000"/>
                </a:solidFill>
                <a:latin typeface="Times New Roman"/>
                <a:ea typeface="Times New Roman"/>
                <a:cs typeface="Times New Roman"/>
              </a:defRPr>
            </a:defPPr>
          </a:lstStyle>
          <a:p xmlns:a="http://schemas.openxmlformats.org/drawingml/2006/main">
            <a:pPr algn="l">
              <a:defRPr sz="2000" b="0" i="0">
                <a:solidFill>
                  <a:srgbClr val="000000"/>
                </a:solidFill>
                <a:latin typeface="Times New Roman"/>
                <a:ea typeface="Times New Roman"/>
                <a:cs typeface="Times New Roman"/>
              </a:defRPr>
            </a:pPr>
            <a:r>
              <a:rPr sz="2000" b="0" i="0">
                <a:solidFill>
                  <a:srgbClr val="000000"/>
                </a:solidFill>
                <a:latin typeface="Times New Roman"/>
                <a:ea typeface="Times New Roman"/>
                <a:cs typeface="Times New Roman"/>
              </a:rPr>
              <a:t>Compare remote work and eligibility.</a:t>
            </a:r>
          </a:p>
        </p:txBody>
      </p:sp>
      <p:sp>
        <p:nvSpPr>
          <p:cNvPr id="57" name="shape-380">
            <a:extLst xmlns:a="http://schemas.openxmlformats.org/drawingml/2006/main">
              <a:ext uri="{FF2B5EF4-FFF2-40B4-BE49-F238E27FC236}">
                <a16:creationId xmlns:a16="http://schemas.microsoft.com/office/drawing/2014/main" id="{AD84303E-0F9B-478C-A526-0031C17699D4}"/>
              </a:ext>
            </a:extLst>
          </p:cNvPr>
          <p:cNvSpPr>
            <a:spLocks xmlns:a="http://schemas.openxmlformats.org/drawingml/2006/main" noGrp="1"/>
          </p:cNvSpPr>
          <p:nvPr/>
        </p:nvSpPr>
        <p:spPr>
          <a:xfrm xmlns:a="http://schemas.openxmlformats.org/drawingml/2006/main">
            <a:off x="6654800" y="6743700"/>
            <a:ext cx="558800" cy="558800"/>
          </a:xfrm>
          <a:prstGeom xmlns:a="http://schemas.openxmlformats.org/drawingml/2006/main" prst="ellipse">
            <a:avLst/>
          </a:prstGeom>
          <a:noFill xmlns:a="http://schemas.openxmlformats.org/drawingml/2006/main"/>
          <a:ln xmlns:a="http://schemas.openxmlformats.org/drawingml/2006/main" w="25400">
            <a:solidFill>
              <a:srgbClr val="008C25"/>
            </a:solidFill>
            <a:prstDash val="solid"/>
          </a:ln>
        </p:spPr>
      </p:sp>
      <p:sp>
        <p:nvSpPr>
          <p:cNvPr id="58" name="text-382">
            <a:extLst xmlns:a="http://schemas.openxmlformats.org/drawingml/2006/main">
              <a:ext uri="{FF2B5EF4-FFF2-40B4-BE49-F238E27FC236}">
                <a16:creationId xmlns:a16="http://schemas.microsoft.com/office/drawing/2014/main" id="{F4F28468-2496-4919-A354-79B5FB55667E}"/>
              </a:ext>
            </a:extLst>
          </p:cNvPr>
          <p:cNvSpPr>
            <a:spLocks xmlns:a="http://schemas.openxmlformats.org/drawingml/2006/main" noGrp="1"/>
          </p:cNvSpPr>
          <p:nvPr/>
        </p:nvSpPr>
        <p:spPr>
          <a:xfrm xmlns:a="http://schemas.openxmlformats.org/drawingml/2006/main">
            <a:off x="6781800" y="6845300"/>
            <a:ext cx="304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00" b="1" i="0">
                <a:solidFill>
                  <a:srgbClr val="008C25"/>
                </a:solidFill>
                <a:latin typeface="Times New Roman"/>
                <a:ea typeface="Times New Roman"/>
                <a:cs typeface="Times New Roman"/>
              </a:defRPr>
            </a:defPPr>
          </a:lstStyle>
          <a:p xmlns:a="http://schemas.openxmlformats.org/drawingml/2006/main">
            <a:pPr algn="ctr">
              <a:defRPr sz="2200" b="1" i="0">
                <a:solidFill>
                  <a:srgbClr val="008C25"/>
                </a:solidFill>
                <a:latin typeface="Times New Roman"/>
                <a:ea typeface="Times New Roman"/>
                <a:cs typeface="Times New Roman"/>
              </a:defRPr>
            </a:pPr>
            <a:r>
              <a:rPr sz="2200" b="1" i="0">
                <a:solidFill>
                  <a:srgbClr val="008C25"/>
                </a:solidFill>
                <a:latin typeface="Times New Roman"/>
                <a:ea typeface="Times New Roman"/>
                <a:cs typeface="Times New Roman"/>
              </a:rPr>
              <a:t>4</a:t>
            </a:r>
          </a:p>
        </p:txBody>
      </p:sp>
      <p:sp>
        <p:nvSpPr>
          <p:cNvPr id="59" name="text-384">
            <a:extLst xmlns:a="http://schemas.openxmlformats.org/drawingml/2006/main">
              <a:ext uri="{FF2B5EF4-FFF2-40B4-BE49-F238E27FC236}">
                <a16:creationId xmlns:a16="http://schemas.microsoft.com/office/drawing/2014/main" id="{743D7F30-00C3-40D3-B32E-2EC41E9C4978}"/>
              </a:ext>
            </a:extLst>
          </p:cNvPr>
          <p:cNvSpPr>
            <a:spLocks xmlns:a="http://schemas.openxmlformats.org/drawingml/2006/main" noGrp="1"/>
          </p:cNvSpPr>
          <p:nvPr/>
        </p:nvSpPr>
        <p:spPr>
          <a:xfrm xmlns:a="http://schemas.openxmlformats.org/drawingml/2006/main">
            <a:off x="7480300" y="6604000"/>
            <a:ext cx="4711700" cy="67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00" b="1" i="0">
                <a:solidFill>
                  <a:srgbClr val="008C25"/>
                </a:solidFill>
                <a:latin typeface="Times New Roman"/>
                <a:ea typeface="Times New Roman"/>
                <a:cs typeface="Times New Roman"/>
              </a:defRPr>
            </a:defPPr>
          </a:lstStyle>
          <a:p xmlns:a="http://schemas.openxmlformats.org/drawingml/2006/main">
            <a:pPr algn="l">
              <a:defRPr sz="2300" b="1" i="0">
                <a:solidFill>
                  <a:srgbClr val="008C25"/>
                </a:solidFill>
                <a:latin typeface="Times New Roman"/>
                <a:ea typeface="Times New Roman"/>
                <a:cs typeface="Times New Roman"/>
              </a:defRPr>
            </a:pPr>
            <a:r>
              <a:rPr sz="2300" b="1" i="0">
                <a:solidFill>
                  <a:srgbClr val="008C25"/>
                </a:solidFill>
                <a:latin typeface="Times New Roman"/>
                <a:ea typeface="Times New Roman"/>
                <a:cs typeface="Times New Roman"/>
              </a:rPr>
              <a:t>CAPACITY UTILIZATION</a:t>
            </a:r>
          </a:p>
        </p:txBody>
      </p:sp>
      <p:sp>
        <p:nvSpPr>
          <p:cNvPr id="60" name="text-386">
            <a:extLst xmlns:a="http://schemas.openxmlformats.org/drawingml/2006/main">
              <a:ext uri="{FF2B5EF4-FFF2-40B4-BE49-F238E27FC236}">
                <a16:creationId xmlns:a16="http://schemas.microsoft.com/office/drawing/2014/main" id="{E4ACE164-616F-4DAA-AE5B-1C3ECF663BBC}"/>
              </a:ext>
            </a:extLst>
          </p:cNvPr>
          <p:cNvSpPr>
            <a:spLocks xmlns:a="http://schemas.openxmlformats.org/drawingml/2006/main" noGrp="1"/>
          </p:cNvSpPr>
          <p:nvPr/>
        </p:nvSpPr>
        <p:spPr>
          <a:xfrm xmlns:a="http://schemas.openxmlformats.org/drawingml/2006/main">
            <a:off x="7480300" y="7264400"/>
            <a:ext cx="4673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000000"/>
                </a:solidFill>
                <a:latin typeface="Times New Roman"/>
                <a:ea typeface="Times New Roman"/>
                <a:cs typeface="Times New Roman"/>
              </a:defRPr>
            </a:defPPr>
          </a:lstStyle>
          <a:p xmlns:a="http://schemas.openxmlformats.org/drawingml/2006/main">
            <a:pPr algn="l">
              <a:defRPr sz="2000" b="0" i="0">
                <a:solidFill>
                  <a:srgbClr val="000000"/>
                </a:solidFill>
                <a:latin typeface="Times New Roman"/>
                <a:ea typeface="Times New Roman"/>
                <a:cs typeface="Times New Roman"/>
              </a:defRPr>
            </a:pPr>
            <a:r>
              <a:rPr sz="2000" b="0" i="0">
                <a:solidFill>
                  <a:srgbClr val="000000"/>
                </a:solidFill>
                <a:latin typeface="Times New Roman"/>
                <a:ea typeface="Times New Roman"/>
                <a:cs typeface="Times New Roman"/>
              </a:rPr>
              <a:t>Reveal competing commitments.</a:t>
            </a:r>
          </a:p>
        </p:txBody>
      </p:sp>
      <p:sp>
        <p:nvSpPr>
          <p:cNvPr id="61" name="shape-387">
            <a:extLst xmlns:a="http://schemas.openxmlformats.org/drawingml/2006/main">
              <a:ext uri="{FF2B5EF4-FFF2-40B4-BE49-F238E27FC236}">
                <a16:creationId xmlns:a16="http://schemas.microsoft.com/office/drawing/2014/main" id="{34FF3798-5DED-45E2-99E7-573CC6CB6ED3}"/>
              </a:ext>
            </a:extLst>
          </p:cNvPr>
          <p:cNvSpPr>
            <a:spLocks xmlns:a="http://schemas.openxmlformats.org/drawingml/2006/main" noGrp="1"/>
          </p:cNvSpPr>
          <p:nvPr/>
        </p:nvSpPr>
        <p:spPr>
          <a:xfrm xmlns:a="http://schemas.openxmlformats.org/drawingml/2006/main">
            <a:off x="6654800" y="8140700"/>
            <a:ext cx="558800" cy="558800"/>
          </a:xfrm>
          <a:prstGeom xmlns:a="http://schemas.openxmlformats.org/drawingml/2006/main" prst="ellipse">
            <a:avLst/>
          </a:prstGeom>
          <a:noFill xmlns:a="http://schemas.openxmlformats.org/drawingml/2006/main"/>
          <a:ln xmlns:a="http://schemas.openxmlformats.org/drawingml/2006/main" w="25400">
            <a:solidFill>
              <a:srgbClr val="008C25"/>
            </a:solidFill>
            <a:prstDash val="solid"/>
          </a:ln>
        </p:spPr>
      </p:sp>
      <p:sp>
        <p:nvSpPr>
          <p:cNvPr id="62" name="text-389">
            <a:extLst xmlns:a="http://schemas.openxmlformats.org/drawingml/2006/main">
              <a:ext uri="{FF2B5EF4-FFF2-40B4-BE49-F238E27FC236}">
                <a16:creationId xmlns:a16="http://schemas.microsoft.com/office/drawing/2014/main" id="{339C22BD-09A3-4B4D-97B9-7354BDBAA216}"/>
              </a:ext>
            </a:extLst>
          </p:cNvPr>
          <p:cNvSpPr>
            <a:spLocks xmlns:a="http://schemas.openxmlformats.org/drawingml/2006/main" noGrp="1"/>
          </p:cNvSpPr>
          <p:nvPr/>
        </p:nvSpPr>
        <p:spPr>
          <a:xfrm xmlns:a="http://schemas.openxmlformats.org/drawingml/2006/main">
            <a:off x="6781800" y="8242300"/>
            <a:ext cx="304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00" b="1" i="0">
                <a:solidFill>
                  <a:srgbClr val="008C25"/>
                </a:solidFill>
                <a:latin typeface="Times New Roman"/>
                <a:ea typeface="Times New Roman"/>
                <a:cs typeface="Times New Roman"/>
              </a:defRPr>
            </a:defPPr>
          </a:lstStyle>
          <a:p xmlns:a="http://schemas.openxmlformats.org/drawingml/2006/main">
            <a:pPr algn="ctr">
              <a:defRPr sz="2200" b="1" i="0">
                <a:solidFill>
                  <a:srgbClr val="008C25"/>
                </a:solidFill>
                <a:latin typeface="Times New Roman"/>
                <a:ea typeface="Times New Roman"/>
                <a:cs typeface="Times New Roman"/>
              </a:defRPr>
            </a:pPr>
            <a:r>
              <a:rPr sz="2200" b="1" i="0">
                <a:solidFill>
                  <a:srgbClr val="008C25"/>
                </a:solidFill>
                <a:latin typeface="Times New Roman"/>
                <a:ea typeface="Times New Roman"/>
                <a:cs typeface="Times New Roman"/>
              </a:rPr>
              <a:t>5</a:t>
            </a:r>
          </a:p>
        </p:txBody>
      </p:sp>
      <p:sp>
        <p:nvSpPr>
          <p:cNvPr id="63" name="text-391">
            <a:extLst xmlns:a="http://schemas.openxmlformats.org/drawingml/2006/main">
              <a:ext uri="{FF2B5EF4-FFF2-40B4-BE49-F238E27FC236}">
                <a16:creationId xmlns:a16="http://schemas.microsoft.com/office/drawing/2014/main" id="{DCB95675-3019-4743-BFF9-48612E2EECD6}"/>
              </a:ext>
            </a:extLst>
          </p:cNvPr>
          <p:cNvSpPr>
            <a:spLocks xmlns:a="http://schemas.openxmlformats.org/drawingml/2006/main" noGrp="1"/>
          </p:cNvSpPr>
          <p:nvPr/>
        </p:nvSpPr>
        <p:spPr>
          <a:xfrm xmlns:a="http://schemas.openxmlformats.org/drawingml/2006/main">
            <a:off x="7480300" y="8001000"/>
            <a:ext cx="4711700" cy="67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00" b="1" i="0">
                <a:solidFill>
                  <a:srgbClr val="008C25"/>
                </a:solidFill>
                <a:latin typeface="Times New Roman"/>
                <a:ea typeface="Times New Roman"/>
                <a:cs typeface="Times New Roman"/>
              </a:defRPr>
            </a:defPPr>
          </a:lstStyle>
          <a:p xmlns:a="http://schemas.openxmlformats.org/drawingml/2006/main">
            <a:pPr algn="l">
              <a:defRPr sz="2300" b="1" i="0">
                <a:solidFill>
                  <a:srgbClr val="008C25"/>
                </a:solidFill>
                <a:latin typeface="Times New Roman"/>
                <a:ea typeface="Times New Roman"/>
                <a:cs typeface="Times New Roman"/>
              </a:defRPr>
            </a:pPr>
            <a:r>
              <a:rPr sz="2300" b="1" i="0">
                <a:solidFill>
                  <a:srgbClr val="008C25"/>
                </a:solidFill>
                <a:latin typeface="Times New Roman"/>
                <a:ea typeface="Times New Roman"/>
                <a:cs typeface="Times New Roman"/>
              </a:rPr>
              <a:t>HUMAN ACCOUNTABILITY</a:t>
            </a:r>
          </a:p>
        </p:txBody>
      </p:sp>
      <p:sp>
        <p:nvSpPr>
          <p:cNvPr id="64" name="text-393">
            <a:extLst xmlns:a="http://schemas.openxmlformats.org/drawingml/2006/main">
              <a:ext uri="{FF2B5EF4-FFF2-40B4-BE49-F238E27FC236}">
                <a16:creationId xmlns:a16="http://schemas.microsoft.com/office/drawing/2014/main" id="{7F4592E0-1432-48D6-8CA2-260C24A0D60F}"/>
              </a:ext>
            </a:extLst>
          </p:cNvPr>
          <p:cNvSpPr>
            <a:spLocks xmlns:a="http://schemas.openxmlformats.org/drawingml/2006/main" noGrp="1"/>
          </p:cNvSpPr>
          <p:nvPr/>
        </p:nvSpPr>
        <p:spPr>
          <a:xfrm xmlns:a="http://schemas.openxmlformats.org/drawingml/2006/main">
            <a:off x="7480300" y="8661400"/>
            <a:ext cx="4673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000000"/>
                </a:solidFill>
                <a:latin typeface="Times New Roman"/>
                <a:ea typeface="Times New Roman"/>
                <a:cs typeface="Times New Roman"/>
              </a:defRPr>
            </a:defPPr>
          </a:lstStyle>
          <a:p xmlns:a="http://schemas.openxmlformats.org/drawingml/2006/main">
            <a:pPr algn="l">
              <a:defRPr sz="2000" b="0" i="0">
                <a:solidFill>
                  <a:srgbClr val="000000"/>
                </a:solidFill>
                <a:latin typeface="Times New Roman"/>
                <a:ea typeface="Times New Roman"/>
                <a:cs typeface="Times New Roman"/>
              </a:defRPr>
            </a:pPr>
            <a:r>
              <a:rPr sz="2000" b="0" i="0">
                <a:solidFill>
                  <a:srgbClr val="000000"/>
                </a:solidFill>
                <a:latin typeface="Times New Roman"/>
                <a:ea typeface="Times New Roman"/>
                <a:cs typeface="Times New Roman"/>
              </a:rPr>
              <a:t>Record rationale and source corrections.</a:t>
            </a:r>
          </a:p>
        </p:txBody>
      </p:sp>
      <p:sp>
        <p:nvSpPr>
          <p:cNvPr id="65" name="shape-394">
            <a:extLst xmlns:a="http://schemas.openxmlformats.org/drawingml/2006/main">
              <a:ext uri="{FF2B5EF4-FFF2-40B4-BE49-F238E27FC236}">
                <a16:creationId xmlns:a16="http://schemas.microsoft.com/office/drawing/2014/main" id="{EEED9AD3-4A6B-4899-9C83-03BAF62CB7FA}"/>
              </a:ext>
            </a:extLst>
          </p:cNvPr>
          <p:cNvSpPr>
            <a:spLocks xmlns:a="http://schemas.openxmlformats.org/drawingml/2006/main" noGrp="1"/>
          </p:cNvSpPr>
          <p:nvPr/>
        </p:nvSpPr>
        <p:spPr>
          <a:xfrm xmlns:a="http://schemas.openxmlformats.org/drawingml/2006/main">
            <a:off x="12661900" y="2552700"/>
            <a:ext cx="558800" cy="558800"/>
          </a:xfrm>
          <a:prstGeom xmlns:a="http://schemas.openxmlformats.org/drawingml/2006/main" prst="ellipse">
            <a:avLst/>
          </a:prstGeom>
          <a:noFill xmlns:a="http://schemas.openxmlformats.org/drawingml/2006/main"/>
          <a:ln xmlns:a="http://schemas.openxmlformats.org/drawingml/2006/main" w="25400">
            <a:solidFill>
              <a:srgbClr val="835000"/>
            </a:solidFill>
            <a:prstDash val="solid"/>
          </a:ln>
        </p:spPr>
      </p:sp>
      <p:sp>
        <p:nvSpPr>
          <p:cNvPr id="66" name="text-396">
            <a:extLst xmlns:a="http://schemas.openxmlformats.org/drawingml/2006/main">
              <a:ext uri="{FF2B5EF4-FFF2-40B4-BE49-F238E27FC236}">
                <a16:creationId xmlns:a16="http://schemas.microsoft.com/office/drawing/2014/main" id="{AD7783EC-84E6-41BF-A47B-1D3E44DF25F5}"/>
              </a:ext>
            </a:extLst>
          </p:cNvPr>
          <p:cNvSpPr>
            <a:spLocks xmlns:a="http://schemas.openxmlformats.org/drawingml/2006/main" noGrp="1"/>
          </p:cNvSpPr>
          <p:nvPr/>
        </p:nvSpPr>
        <p:spPr>
          <a:xfrm xmlns:a="http://schemas.openxmlformats.org/drawingml/2006/main">
            <a:off x="12788900" y="2654300"/>
            <a:ext cx="304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00" b="1" i="0">
                <a:solidFill>
                  <a:srgbClr val="835000"/>
                </a:solidFill>
                <a:latin typeface="Times New Roman"/>
                <a:ea typeface="Times New Roman"/>
                <a:cs typeface="Times New Roman"/>
              </a:defRPr>
            </a:defPPr>
          </a:lstStyle>
          <a:p xmlns:a="http://schemas.openxmlformats.org/drawingml/2006/main">
            <a:pPr algn="ctr">
              <a:defRPr sz="2200" b="1" i="0">
                <a:solidFill>
                  <a:srgbClr val="835000"/>
                </a:solidFill>
                <a:latin typeface="Times New Roman"/>
                <a:ea typeface="Times New Roman"/>
                <a:cs typeface="Times New Roman"/>
              </a:defRPr>
            </a:pPr>
            <a:r>
              <a:rPr sz="2200" b="1" i="0">
                <a:solidFill>
                  <a:srgbClr val="835000"/>
                </a:solidFill>
                <a:latin typeface="Times New Roman"/>
                <a:ea typeface="Times New Roman"/>
                <a:cs typeface="Times New Roman"/>
              </a:rPr>
              <a:t>1</a:t>
            </a:r>
          </a:p>
        </p:txBody>
      </p:sp>
      <p:sp>
        <p:nvSpPr>
          <p:cNvPr id="67" name="text-398">
            <a:extLst xmlns:a="http://schemas.openxmlformats.org/drawingml/2006/main">
              <a:ext uri="{FF2B5EF4-FFF2-40B4-BE49-F238E27FC236}">
                <a16:creationId xmlns:a16="http://schemas.microsoft.com/office/drawing/2014/main" id="{77648383-0829-420F-8D7A-DB05B128CEDD}"/>
              </a:ext>
            </a:extLst>
          </p:cNvPr>
          <p:cNvSpPr>
            <a:spLocks xmlns:a="http://schemas.openxmlformats.org/drawingml/2006/main" noGrp="1"/>
          </p:cNvSpPr>
          <p:nvPr/>
        </p:nvSpPr>
        <p:spPr>
          <a:xfrm xmlns:a="http://schemas.openxmlformats.org/drawingml/2006/main">
            <a:off x="13487400" y="2413000"/>
            <a:ext cx="4343400" cy="67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00" b="1" i="0">
                <a:solidFill>
                  <a:srgbClr val="835000"/>
                </a:solidFill>
                <a:latin typeface="Times New Roman"/>
                <a:ea typeface="Times New Roman"/>
                <a:cs typeface="Times New Roman"/>
              </a:defRPr>
            </a:defPPr>
          </a:lstStyle>
          <a:p xmlns:a="http://schemas.openxmlformats.org/drawingml/2006/main">
            <a:pPr algn="l">
              <a:defRPr sz="2300" b="1" i="0">
                <a:solidFill>
                  <a:srgbClr val="835000"/>
                </a:solidFill>
                <a:latin typeface="Times New Roman"/>
                <a:ea typeface="Times New Roman"/>
                <a:cs typeface="Times New Roman"/>
              </a:defRPr>
            </a:pPr>
            <a:r>
              <a:rPr sz="2300" b="1" i="0">
                <a:solidFill>
                  <a:srgbClr val="835000"/>
                </a:solidFill>
                <a:latin typeface="Times New Roman"/>
                <a:ea typeface="Times New Roman"/>
                <a:cs typeface="Times New Roman"/>
              </a:rPr>
              <a:t>TIME TO FILL</a:t>
            </a:r>
          </a:p>
        </p:txBody>
      </p:sp>
      <p:sp>
        <p:nvSpPr>
          <p:cNvPr id="68" name="text-400">
            <a:extLst xmlns:a="http://schemas.openxmlformats.org/drawingml/2006/main">
              <a:ext uri="{FF2B5EF4-FFF2-40B4-BE49-F238E27FC236}">
                <a16:creationId xmlns:a16="http://schemas.microsoft.com/office/drawing/2014/main" id="{7E3CF626-22C1-4EDE-9629-3583E9B3C39C}"/>
              </a:ext>
            </a:extLst>
          </p:cNvPr>
          <p:cNvSpPr>
            <a:spLocks xmlns:a="http://schemas.openxmlformats.org/drawingml/2006/main" noGrp="1"/>
          </p:cNvSpPr>
          <p:nvPr/>
        </p:nvSpPr>
        <p:spPr>
          <a:xfrm xmlns:a="http://schemas.openxmlformats.org/drawingml/2006/main">
            <a:off x="13487400" y="3073400"/>
            <a:ext cx="43053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000000"/>
                </a:solidFill>
                <a:latin typeface="Times New Roman"/>
                <a:ea typeface="Times New Roman"/>
                <a:cs typeface="Times New Roman"/>
              </a:defRPr>
            </a:defPPr>
          </a:lstStyle>
          <a:p xmlns:a="http://schemas.openxmlformats.org/drawingml/2006/main">
            <a:pPr algn="l">
              <a:defRPr sz="2000" b="0" i="0">
                <a:solidFill>
                  <a:srgbClr val="000000"/>
                </a:solidFill>
                <a:latin typeface="Times New Roman"/>
                <a:ea typeface="Times New Roman"/>
                <a:cs typeface="Times New Roman"/>
              </a:defRPr>
            </a:pPr>
            <a:r>
              <a:rPr sz="2000" b="0" i="0">
                <a:solidFill>
                  <a:srgbClr val="000000"/>
                </a:solidFill>
                <a:latin typeface="Times New Roman"/>
                <a:ea typeface="Times New Roman"/>
                <a:cs typeface="Times New Roman"/>
              </a:rPr>
              <a:t>Recorded opening-to-hire duration</a:t>
            </a:r>
          </a:p>
        </p:txBody>
      </p:sp>
      <p:sp>
        <p:nvSpPr>
          <p:cNvPr id="69" name="shape-401">
            <a:extLst xmlns:a="http://schemas.openxmlformats.org/drawingml/2006/main">
              <a:ext uri="{FF2B5EF4-FFF2-40B4-BE49-F238E27FC236}">
                <a16:creationId xmlns:a16="http://schemas.microsoft.com/office/drawing/2014/main" id="{E93B7A5B-D2C0-49B2-8B99-B5098126BBA9}"/>
              </a:ext>
            </a:extLst>
          </p:cNvPr>
          <p:cNvSpPr>
            <a:spLocks xmlns:a="http://schemas.openxmlformats.org/drawingml/2006/main" noGrp="1"/>
          </p:cNvSpPr>
          <p:nvPr/>
        </p:nvSpPr>
        <p:spPr>
          <a:xfrm xmlns:a="http://schemas.openxmlformats.org/drawingml/2006/main">
            <a:off x="12661900" y="3949700"/>
            <a:ext cx="558800" cy="558800"/>
          </a:xfrm>
          <a:prstGeom xmlns:a="http://schemas.openxmlformats.org/drawingml/2006/main" prst="ellipse">
            <a:avLst/>
          </a:prstGeom>
          <a:noFill xmlns:a="http://schemas.openxmlformats.org/drawingml/2006/main"/>
          <a:ln xmlns:a="http://schemas.openxmlformats.org/drawingml/2006/main" w="25400">
            <a:solidFill>
              <a:srgbClr val="835000"/>
            </a:solidFill>
            <a:prstDash val="solid"/>
          </a:ln>
        </p:spPr>
      </p:sp>
      <p:sp>
        <p:nvSpPr>
          <p:cNvPr id="70" name="text-403">
            <a:extLst xmlns:a="http://schemas.openxmlformats.org/drawingml/2006/main">
              <a:ext uri="{FF2B5EF4-FFF2-40B4-BE49-F238E27FC236}">
                <a16:creationId xmlns:a16="http://schemas.microsoft.com/office/drawing/2014/main" id="{2F638695-B4D7-4F70-A339-3A331838DC82}"/>
              </a:ext>
            </a:extLst>
          </p:cNvPr>
          <p:cNvSpPr>
            <a:spLocks xmlns:a="http://schemas.openxmlformats.org/drawingml/2006/main" noGrp="1"/>
          </p:cNvSpPr>
          <p:nvPr/>
        </p:nvSpPr>
        <p:spPr>
          <a:xfrm xmlns:a="http://schemas.openxmlformats.org/drawingml/2006/main">
            <a:off x="12788900" y="4051300"/>
            <a:ext cx="304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00" b="1" i="0">
                <a:solidFill>
                  <a:srgbClr val="835000"/>
                </a:solidFill>
                <a:latin typeface="Times New Roman"/>
                <a:ea typeface="Times New Roman"/>
                <a:cs typeface="Times New Roman"/>
              </a:defRPr>
            </a:defPPr>
          </a:lstStyle>
          <a:p xmlns:a="http://schemas.openxmlformats.org/drawingml/2006/main">
            <a:pPr algn="ctr">
              <a:defRPr sz="2200" b="1" i="0">
                <a:solidFill>
                  <a:srgbClr val="835000"/>
                </a:solidFill>
                <a:latin typeface="Times New Roman"/>
                <a:ea typeface="Times New Roman"/>
                <a:cs typeface="Times New Roman"/>
              </a:defRPr>
            </a:pPr>
            <a:r>
              <a:rPr sz="2200" b="1" i="0">
                <a:solidFill>
                  <a:srgbClr val="835000"/>
                </a:solidFill>
                <a:latin typeface="Times New Roman"/>
                <a:ea typeface="Times New Roman"/>
                <a:cs typeface="Times New Roman"/>
              </a:rPr>
              <a:t>2</a:t>
            </a:r>
          </a:p>
        </p:txBody>
      </p:sp>
      <p:sp>
        <p:nvSpPr>
          <p:cNvPr id="71" name="text-405">
            <a:extLst xmlns:a="http://schemas.openxmlformats.org/drawingml/2006/main">
              <a:ext uri="{FF2B5EF4-FFF2-40B4-BE49-F238E27FC236}">
                <a16:creationId xmlns:a16="http://schemas.microsoft.com/office/drawing/2014/main" id="{39CD1EBA-DD59-47F1-A4F2-DCA391214CD8}"/>
              </a:ext>
            </a:extLst>
          </p:cNvPr>
          <p:cNvSpPr>
            <a:spLocks xmlns:a="http://schemas.openxmlformats.org/drawingml/2006/main" noGrp="1"/>
          </p:cNvSpPr>
          <p:nvPr/>
        </p:nvSpPr>
        <p:spPr>
          <a:xfrm xmlns:a="http://schemas.openxmlformats.org/drawingml/2006/main">
            <a:off x="13487400" y="3810000"/>
            <a:ext cx="4343400" cy="67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00" b="1" i="0">
                <a:solidFill>
                  <a:srgbClr val="835000"/>
                </a:solidFill>
                <a:latin typeface="Times New Roman"/>
                <a:ea typeface="Times New Roman"/>
                <a:cs typeface="Times New Roman"/>
              </a:defRPr>
            </a:defPPr>
          </a:lstStyle>
          <a:p xmlns:a="http://schemas.openxmlformats.org/drawingml/2006/main">
            <a:pPr algn="l">
              <a:defRPr sz="2300" b="1" i="0">
                <a:solidFill>
                  <a:srgbClr val="835000"/>
                </a:solidFill>
                <a:latin typeface="Times New Roman"/>
                <a:ea typeface="Times New Roman"/>
                <a:cs typeface="Times New Roman"/>
              </a:defRPr>
            </a:pPr>
            <a:r>
              <a:rPr sz="2300" b="1" i="0">
                <a:solidFill>
                  <a:srgbClr val="835000"/>
                </a:solidFill>
                <a:latin typeface="Times New Roman"/>
                <a:ea typeface="Times New Roman"/>
                <a:cs typeface="Times New Roman"/>
              </a:rPr>
              <a:t>INTERNAL FILL SHARE</a:t>
            </a:r>
          </a:p>
        </p:txBody>
      </p:sp>
      <p:sp>
        <p:nvSpPr>
          <p:cNvPr id="72" name="text-407">
            <a:extLst xmlns:a="http://schemas.openxmlformats.org/drawingml/2006/main">
              <a:ext uri="{FF2B5EF4-FFF2-40B4-BE49-F238E27FC236}">
                <a16:creationId xmlns:a16="http://schemas.microsoft.com/office/drawing/2014/main" id="{39BDB9AD-4693-4A47-BE80-5BF47091CAC1}"/>
              </a:ext>
            </a:extLst>
          </p:cNvPr>
          <p:cNvSpPr>
            <a:spLocks xmlns:a="http://schemas.openxmlformats.org/drawingml/2006/main" noGrp="1"/>
          </p:cNvSpPr>
          <p:nvPr/>
        </p:nvSpPr>
        <p:spPr>
          <a:xfrm xmlns:a="http://schemas.openxmlformats.org/drawingml/2006/main">
            <a:off x="13487400" y="4470400"/>
            <a:ext cx="43053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000000"/>
                </a:solidFill>
                <a:latin typeface="Times New Roman"/>
                <a:ea typeface="Times New Roman"/>
                <a:cs typeface="Times New Roman"/>
              </a:defRPr>
            </a:defPPr>
          </a:lstStyle>
          <a:p xmlns:a="http://schemas.openxmlformats.org/drawingml/2006/main">
            <a:pPr algn="l">
              <a:defRPr sz="2000" b="0" i="0">
                <a:solidFill>
                  <a:srgbClr val="000000"/>
                </a:solidFill>
                <a:latin typeface="Times New Roman"/>
                <a:ea typeface="Times New Roman"/>
                <a:cs typeface="Times New Roman"/>
              </a:defRPr>
            </a:pPr>
            <a:r>
              <a:rPr sz="2000" b="0" i="0">
                <a:solidFill>
                  <a:srgbClr val="000000"/>
                </a:solidFill>
                <a:latin typeface="Times New Roman"/>
                <a:ea typeface="Times New Roman"/>
                <a:cs typeface="Times New Roman"/>
              </a:rPr>
              <a:t>Internal placements ÷ filled positions</a:t>
            </a:r>
          </a:p>
        </p:txBody>
      </p:sp>
      <p:sp>
        <p:nvSpPr>
          <p:cNvPr id="73" name="shape-408">
            <a:extLst xmlns:a="http://schemas.openxmlformats.org/drawingml/2006/main">
              <a:ext uri="{FF2B5EF4-FFF2-40B4-BE49-F238E27FC236}">
                <a16:creationId xmlns:a16="http://schemas.microsoft.com/office/drawing/2014/main" id="{6303B38B-8517-448E-BD35-D4D7B8825D51}"/>
              </a:ext>
            </a:extLst>
          </p:cNvPr>
          <p:cNvSpPr>
            <a:spLocks xmlns:a="http://schemas.openxmlformats.org/drawingml/2006/main" noGrp="1"/>
          </p:cNvSpPr>
          <p:nvPr/>
        </p:nvSpPr>
        <p:spPr>
          <a:xfrm xmlns:a="http://schemas.openxmlformats.org/drawingml/2006/main">
            <a:off x="12661900" y="5346700"/>
            <a:ext cx="558800" cy="558800"/>
          </a:xfrm>
          <a:prstGeom xmlns:a="http://schemas.openxmlformats.org/drawingml/2006/main" prst="ellipse">
            <a:avLst/>
          </a:prstGeom>
          <a:noFill xmlns:a="http://schemas.openxmlformats.org/drawingml/2006/main"/>
          <a:ln xmlns:a="http://schemas.openxmlformats.org/drawingml/2006/main" w="25400">
            <a:solidFill>
              <a:srgbClr val="835000"/>
            </a:solidFill>
            <a:prstDash val="solid"/>
          </a:ln>
        </p:spPr>
      </p:sp>
      <p:sp>
        <p:nvSpPr>
          <p:cNvPr id="74" name="text-410">
            <a:extLst xmlns:a="http://schemas.openxmlformats.org/drawingml/2006/main">
              <a:ext uri="{FF2B5EF4-FFF2-40B4-BE49-F238E27FC236}">
                <a16:creationId xmlns:a16="http://schemas.microsoft.com/office/drawing/2014/main" id="{1C12ADAB-A2F9-481C-8CD0-1A61CD5478D8}"/>
              </a:ext>
            </a:extLst>
          </p:cNvPr>
          <p:cNvSpPr>
            <a:spLocks xmlns:a="http://schemas.openxmlformats.org/drawingml/2006/main" noGrp="1"/>
          </p:cNvSpPr>
          <p:nvPr/>
        </p:nvSpPr>
        <p:spPr>
          <a:xfrm xmlns:a="http://schemas.openxmlformats.org/drawingml/2006/main">
            <a:off x="12788900" y="5448300"/>
            <a:ext cx="304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00" b="1" i="0">
                <a:solidFill>
                  <a:srgbClr val="835000"/>
                </a:solidFill>
                <a:latin typeface="Times New Roman"/>
                <a:ea typeface="Times New Roman"/>
                <a:cs typeface="Times New Roman"/>
              </a:defRPr>
            </a:defPPr>
          </a:lstStyle>
          <a:p xmlns:a="http://schemas.openxmlformats.org/drawingml/2006/main">
            <a:pPr algn="ctr">
              <a:defRPr sz="2200" b="1" i="0">
                <a:solidFill>
                  <a:srgbClr val="835000"/>
                </a:solidFill>
                <a:latin typeface="Times New Roman"/>
                <a:ea typeface="Times New Roman"/>
                <a:cs typeface="Times New Roman"/>
              </a:defRPr>
            </a:pPr>
            <a:r>
              <a:rPr sz="2200" b="1" i="0">
                <a:solidFill>
                  <a:srgbClr val="835000"/>
                </a:solidFill>
                <a:latin typeface="Times New Roman"/>
                <a:ea typeface="Times New Roman"/>
                <a:cs typeface="Times New Roman"/>
              </a:rPr>
              <a:t>3</a:t>
            </a:r>
          </a:p>
        </p:txBody>
      </p:sp>
      <p:sp>
        <p:nvSpPr>
          <p:cNvPr id="75" name="text-412">
            <a:extLst xmlns:a="http://schemas.openxmlformats.org/drawingml/2006/main">
              <a:ext uri="{FF2B5EF4-FFF2-40B4-BE49-F238E27FC236}">
                <a16:creationId xmlns:a16="http://schemas.microsoft.com/office/drawing/2014/main" id="{0D8CF130-7E43-4D76-9C05-4FEDE43CEFD9}"/>
              </a:ext>
            </a:extLst>
          </p:cNvPr>
          <p:cNvSpPr>
            <a:spLocks xmlns:a="http://schemas.openxmlformats.org/drawingml/2006/main" noGrp="1"/>
          </p:cNvSpPr>
          <p:nvPr/>
        </p:nvSpPr>
        <p:spPr>
          <a:xfrm xmlns:a="http://schemas.openxmlformats.org/drawingml/2006/main">
            <a:off x="13487400" y="5207000"/>
            <a:ext cx="4343400" cy="67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00" b="1" i="0">
                <a:solidFill>
                  <a:srgbClr val="835000"/>
                </a:solidFill>
                <a:latin typeface="Times New Roman"/>
                <a:ea typeface="Times New Roman"/>
                <a:cs typeface="Times New Roman"/>
              </a:defRPr>
            </a:defPPr>
          </a:lstStyle>
          <a:p xmlns:a="http://schemas.openxmlformats.org/drawingml/2006/main">
            <a:pPr algn="l">
              <a:defRPr sz="2300" b="1" i="0">
                <a:solidFill>
                  <a:srgbClr val="835000"/>
                </a:solidFill>
                <a:latin typeface="Times New Roman"/>
                <a:ea typeface="Times New Roman"/>
                <a:cs typeface="Times New Roman"/>
              </a:defRPr>
            </a:pPr>
            <a:r>
              <a:rPr sz="2300" b="1" i="0">
                <a:solidFill>
                  <a:srgbClr val="835000"/>
                </a:solidFill>
                <a:latin typeface="Times New Roman"/>
                <a:ea typeface="Times New Roman"/>
                <a:cs typeface="Times New Roman"/>
              </a:rPr>
              <a:t>REALIZED COST</a:t>
            </a:r>
          </a:p>
        </p:txBody>
      </p:sp>
      <p:sp>
        <p:nvSpPr>
          <p:cNvPr id="76" name="text-414">
            <a:extLst xmlns:a="http://schemas.openxmlformats.org/drawingml/2006/main">
              <a:ext uri="{FF2B5EF4-FFF2-40B4-BE49-F238E27FC236}">
                <a16:creationId xmlns:a16="http://schemas.microsoft.com/office/drawing/2014/main" id="{8B1D39E2-6249-46DF-B6CF-0495879D6CFB}"/>
              </a:ext>
            </a:extLst>
          </p:cNvPr>
          <p:cNvSpPr>
            <a:spLocks xmlns:a="http://schemas.openxmlformats.org/drawingml/2006/main" noGrp="1"/>
          </p:cNvSpPr>
          <p:nvPr/>
        </p:nvSpPr>
        <p:spPr>
          <a:xfrm xmlns:a="http://schemas.openxmlformats.org/drawingml/2006/main">
            <a:off x="13487400" y="5867400"/>
            <a:ext cx="43053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000000"/>
                </a:solidFill>
                <a:latin typeface="Times New Roman"/>
                <a:ea typeface="Times New Roman"/>
                <a:cs typeface="Times New Roman"/>
              </a:defRPr>
            </a:defPPr>
          </a:lstStyle>
          <a:p xmlns:a="http://schemas.openxmlformats.org/drawingml/2006/main">
            <a:pPr algn="l">
              <a:defRPr sz="2000" b="0" i="0">
                <a:solidFill>
                  <a:srgbClr val="000000"/>
                </a:solidFill>
                <a:latin typeface="Times New Roman"/>
                <a:ea typeface="Times New Roman"/>
                <a:cs typeface="Times New Roman"/>
              </a:defRPr>
            </a:pPr>
            <a:r>
              <a:rPr sz="2000" b="0" i="0">
                <a:solidFill>
                  <a:srgbClr val="000000"/>
                </a:solidFill>
                <a:latin typeface="Times New Roman"/>
                <a:ea typeface="Times New Roman"/>
                <a:cs typeface="Times New Roman"/>
              </a:rPr>
              <a:t>Actual spend against the baseline</a:t>
            </a:r>
          </a:p>
        </p:txBody>
      </p:sp>
      <p:sp>
        <p:nvSpPr>
          <p:cNvPr id="77" name="shape-415">
            <a:extLst xmlns:a="http://schemas.openxmlformats.org/drawingml/2006/main">
              <a:ext uri="{FF2B5EF4-FFF2-40B4-BE49-F238E27FC236}">
                <a16:creationId xmlns:a16="http://schemas.microsoft.com/office/drawing/2014/main" id="{CC644CF3-091B-4EAF-BCF6-FE7A8E0404C3}"/>
              </a:ext>
            </a:extLst>
          </p:cNvPr>
          <p:cNvSpPr>
            <a:spLocks xmlns:a="http://schemas.openxmlformats.org/drawingml/2006/main" noGrp="1"/>
          </p:cNvSpPr>
          <p:nvPr/>
        </p:nvSpPr>
        <p:spPr>
          <a:xfrm xmlns:a="http://schemas.openxmlformats.org/drawingml/2006/main">
            <a:off x="12661900" y="6743700"/>
            <a:ext cx="558800" cy="558800"/>
          </a:xfrm>
          <a:prstGeom xmlns:a="http://schemas.openxmlformats.org/drawingml/2006/main" prst="ellipse">
            <a:avLst/>
          </a:prstGeom>
          <a:noFill xmlns:a="http://schemas.openxmlformats.org/drawingml/2006/main"/>
          <a:ln xmlns:a="http://schemas.openxmlformats.org/drawingml/2006/main" w="25400">
            <a:solidFill>
              <a:srgbClr val="835000"/>
            </a:solidFill>
            <a:prstDash val="solid"/>
          </a:ln>
        </p:spPr>
      </p:sp>
      <p:sp>
        <p:nvSpPr>
          <p:cNvPr id="78" name="text-417">
            <a:extLst xmlns:a="http://schemas.openxmlformats.org/drawingml/2006/main">
              <a:ext uri="{FF2B5EF4-FFF2-40B4-BE49-F238E27FC236}">
                <a16:creationId xmlns:a16="http://schemas.microsoft.com/office/drawing/2014/main" id="{272942F6-2794-4E52-A391-83894FDF9344}"/>
              </a:ext>
            </a:extLst>
          </p:cNvPr>
          <p:cNvSpPr>
            <a:spLocks xmlns:a="http://schemas.openxmlformats.org/drawingml/2006/main" noGrp="1"/>
          </p:cNvSpPr>
          <p:nvPr/>
        </p:nvSpPr>
        <p:spPr>
          <a:xfrm xmlns:a="http://schemas.openxmlformats.org/drawingml/2006/main">
            <a:off x="12788900" y="6845300"/>
            <a:ext cx="304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00" b="1" i="0">
                <a:solidFill>
                  <a:srgbClr val="835000"/>
                </a:solidFill>
                <a:latin typeface="Times New Roman"/>
                <a:ea typeface="Times New Roman"/>
                <a:cs typeface="Times New Roman"/>
              </a:defRPr>
            </a:defPPr>
          </a:lstStyle>
          <a:p xmlns:a="http://schemas.openxmlformats.org/drawingml/2006/main">
            <a:pPr algn="ctr">
              <a:defRPr sz="2200" b="1" i="0">
                <a:solidFill>
                  <a:srgbClr val="835000"/>
                </a:solidFill>
                <a:latin typeface="Times New Roman"/>
                <a:ea typeface="Times New Roman"/>
                <a:cs typeface="Times New Roman"/>
              </a:defRPr>
            </a:pPr>
            <a:r>
              <a:rPr sz="2200" b="1" i="0">
                <a:solidFill>
                  <a:srgbClr val="835000"/>
                </a:solidFill>
                <a:latin typeface="Times New Roman"/>
                <a:ea typeface="Times New Roman"/>
                <a:cs typeface="Times New Roman"/>
              </a:rPr>
              <a:t>4</a:t>
            </a:r>
          </a:p>
        </p:txBody>
      </p:sp>
      <p:sp>
        <p:nvSpPr>
          <p:cNvPr id="79" name="text-419">
            <a:extLst xmlns:a="http://schemas.openxmlformats.org/drawingml/2006/main">
              <a:ext uri="{FF2B5EF4-FFF2-40B4-BE49-F238E27FC236}">
                <a16:creationId xmlns:a16="http://schemas.microsoft.com/office/drawing/2014/main" id="{4390B200-BCF6-4497-BDD9-B0B7AEE160E0}"/>
              </a:ext>
            </a:extLst>
          </p:cNvPr>
          <p:cNvSpPr>
            <a:spLocks xmlns:a="http://schemas.openxmlformats.org/drawingml/2006/main" noGrp="1"/>
          </p:cNvSpPr>
          <p:nvPr/>
        </p:nvSpPr>
        <p:spPr>
          <a:xfrm xmlns:a="http://schemas.openxmlformats.org/drawingml/2006/main">
            <a:off x="13487400" y="6604000"/>
            <a:ext cx="4343400" cy="67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00" b="1" i="0">
                <a:solidFill>
                  <a:srgbClr val="835000"/>
                </a:solidFill>
                <a:latin typeface="Times New Roman"/>
                <a:ea typeface="Times New Roman"/>
                <a:cs typeface="Times New Roman"/>
              </a:defRPr>
            </a:defPPr>
          </a:lstStyle>
          <a:p xmlns:a="http://schemas.openxmlformats.org/drawingml/2006/main">
            <a:pPr algn="l">
              <a:defRPr sz="2300" b="1" i="0">
                <a:solidFill>
                  <a:srgbClr val="835000"/>
                </a:solidFill>
                <a:latin typeface="Times New Roman"/>
                <a:ea typeface="Times New Roman"/>
                <a:cs typeface="Times New Roman"/>
              </a:defRPr>
            </a:pPr>
            <a:r>
              <a:rPr sz="2300" b="1" i="0">
                <a:solidFill>
                  <a:srgbClr val="835000"/>
                </a:solidFill>
                <a:latin typeface="Times New Roman"/>
                <a:ea typeface="Times New Roman"/>
                <a:cs typeface="Times New Roman"/>
              </a:rPr>
              <a:t>LEARNING OUTCOMES</a:t>
            </a:r>
          </a:p>
        </p:txBody>
      </p:sp>
      <p:sp>
        <p:nvSpPr>
          <p:cNvPr id="80" name="text-421">
            <a:extLst xmlns:a="http://schemas.openxmlformats.org/drawingml/2006/main">
              <a:ext uri="{FF2B5EF4-FFF2-40B4-BE49-F238E27FC236}">
                <a16:creationId xmlns:a16="http://schemas.microsoft.com/office/drawing/2014/main" id="{3A90DA52-6A41-4327-A0C6-25B7737ECA48}"/>
              </a:ext>
            </a:extLst>
          </p:cNvPr>
          <p:cNvSpPr>
            <a:spLocks xmlns:a="http://schemas.openxmlformats.org/drawingml/2006/main" noGrp="1"/>
          </p:cNvSpPr>
          <p:nvPr/>
        </p:nvSpPr>
        <p:spPr>
          <a:xfrm xmlns:a="http://schemas.openxmlformats.org/drawingml/2006/main">
            <a:off x="13487400" y="7264400"/>
            <a:ext cx="43053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000000"/>
                </a:solidFill>
                <a:latin typeface="Times New Roman"/>
                <a:ea typeface="Times New Roman"/>
                <a:cs typeface="Times New Roman"/>
              </a:defRPr>
            </a:defPPr>
          </a:lstStyle>
          <a:p xmlns:a="http://schemas.openxmlformats.org/drawingml/2006/main">
            <a:pPr algn="l">
              <a:defRPr sz="2000" b="0" i="0">
                <a:solidFill>
                  <a:srgbClr val="000000"/>
                </a:solidFill>
                <a:latin typeface="Times New Roman"/>
                <a:ea typeface="Times New Roman"/>
                <a:cs typeface="Times New Roman"/>
              </a:defRPr>
            </a:pPr>
            <a:r>
              <a:rPr sz="2000" b="0" i="0">
                <a:solidFill>
                  <a:srgbClr val="000000"/>
                </a:solidFill>
                <a:latin typeface="Times New Roman"/>
                <a:ea typeface="Times New Roman"/>
                <a:cs typeface="Times New Roman"/>
              </a:rPr>
              <a:t>Completion and reassessed skills</a:t>
            </a:r>
          </a:p>
        </p:txBody>
      </p:sp>
      <p:sp>
        <p:nvSpPr>
          <p:cNvPr id="81" name="shape-422">
            <a:extLst xmlns:a="http://schemas.openxmlformats.org/drawingml/2006/main">
              <a:ext uri="{FF2B5EF4-FFF2-40B4-BE49-F238E27FC236}">
                <a16:creationId xmlns:a16="http://schemas.microsoft.com/office/drawing/2014/main" id="{84354AD2-659B-4094-AEAA-0224C7286D42}"/>
              </a:ext>
            </a:extLst>
          </p:cNvPr>
          <p:cNvSpPr>
            <a:spLocks xmlns:a="http://schemas.openxmlformats.org/drawingml/2006/main" noGrp="1"/>
          </p:cNvSpPr>
          <p:nvPr/>
        </p:nvSpPr>
        <p:spPr>
          <a:xfrm xmlns:a="http://schemas.openxmlformats.org/drawingml/2006/main">
            <a:off x="12661900" y="8140700"/>
            <a:ext cx="558800" cy="558800"/>
          </a:xfrm>
          <a:prstGeom xmlns:a="http://schemas.openxmlformats.org/drawingml/2006/main" prst="ellipse">
            <a:avLst/>
          </a:prstGeom>
          <a:noFill xmlns:a="http://schemas.openxmlformats.org/drawingml/2006/main"/>
          <a:ln xmlns:a="http://schemas.openxmlformats.org/drawingml/2006/main" w="25400">
            <a:solidFill>
              <a:srgbClr val="835000"/>
            </a:solidFill>
            <a:prstDash val="solid"/>
          </a:ln>
        </p:spPr>
      </p:sp>
      <p:sp>
        <p:nvSpPr>
          <p:cNvPr id="82" name="text-424">
            <a:extLst xmlns:a="http://schemas.openxmlformats.org/drawingml/2006/main">
              <a:ext uri="{FF2B5EF4-FFF2-40B4-BE49-F238E27FC236}">
                <a16:creationId xmlns:a16="http://schemas.microsoft.com/office/drawing/2014/main" id="{4FE9BDDA-C758-4AF3-8687-87847ED05BF1}"/>
              </a:ext>
            </a:extLst>
          </p:cNvPr>
          <p:cNvSpPr>
            <a:spLocks xmlns:a="http://schemas.openxmlformats.org/drawingml/2006/main" noGrp="1"/>
          </p:cNvSpPr>
          <p:nvPr/>
        </p:nvSpPr>
        <p:spPr>
          <a:xfrm xmlns:a="http://schemas.openxmlformats.org/drawingml/2006/main">
            <a:off x="12788900" y="8242300"/>
            <a:ext cx="3048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200" b="1" i="0">
                <a:solidFill>
                  <a:srgbClr val="835000"/>
                </a:solidFill>
                <a:latin typeface="Times New Roman"/>
                <a:ea typeface="Times New Roman"/>
                <a:cs typeface="Times New Roman"/>
              </a:defRPr>
            </a:defPPr>
          </a:lstStyle>
          <a:p xmlns:a="http://schemas.openxmlformats.org/drawingml/2006/main">
            <a:pPr algn="ctr">
              <a:defRPr sz="2200" b="1" i="0">
                <a:solidFill>
                  <a:srgbClr val="835000"/>
                </a:solidFill>
                <a:latin typeface="Times New Roman"/>
                <a:ea typeface="Times New Roman"/>
                <a:cs typeface="Times New Roman"/>
              </a:defRPr>
            </a:pPr>
            <a:r>
              <a:rPr sz="2200" b="1" i="0">
                <a:solidFill>
                  <a:srgbClr val="835000"/>
                </a:solidFill>
                <a:latin typeface="Times New Roman"/>
                <a:ea typeface="Times New Roman"/>
                <a:cs typeface="Times New Roman"/>
              </a:rPr>
              <a:t>5</a:t>
            </a:r>
          </a:p>
        </p:txBody>
      </p:sp>
      <p:sp>
        <p:nvSpPr>
          <p:cNvPr id="83" name="text-426">
            <a:extLst xmlns:a="http://schemas.openxmlformats.org/drawingml/2006/main">
              <a:ext uri="{FF2B5EF4-FFF2-40B4-BE49-F238E27FC236}">
                <a16:creationId xmlns:a16="http://schemas.microsoft.com/office/drawing/2014/main" id="{E8D224E8-31AE-4C0A-816C-F645D25431B8}"/>
              </a:ext>
            </a:extLst>
          </p:cNvPr>
          <p:cNvSpPr>
            <a:spLocks xmlns:a="http://schemas.openxmlformats.org/drawingml/2006/main" noGrp="1"/>
          </p:cNvSpPr>
          <p:nvPr/>
        </p:nvSpPr>
        <p:spPr>
          <a:xfrm xmlns:a="http://schemas.openxmlformats.org/drawingml/2006/main">
            <a:off x="13487400" y="8001000"/>
            <a:ext cx="4343400" cy="67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00" b="1" i="0">
                <a:solidFill>
                  <a:srgbClr val="835000"/>
                </a:solidFill>
                <a:latin typeface="Times New Roman"/>
                <a:ea typeface="Times New Roman"/>
                <a:cs typeface="Times New Roman"/>
              </a:defRPr>
            </a:defPPr>
          </a:lstStyle>
          <a:p xmlns:a="http://schemas.openxmlformats.org/drawingml/2006/main">
            <a:pPr algn="l">
              <a:defRPr sz="2300" b="1" i="0">
                <a:solidFill>
                  <a:srgbClr val="835000"/>
                </a:solidFill>
                <a:latin typeface="Times New Roman"/>
                <a:ea typeface="Times New Roman"/>
                <a:cs typeface="Times New Roman"/>
              </a:defRPr>
            </a:pPr>
            <a:r>
              <a:rPr sz="2300" b="1" i="0">
                <a:solidFill>
                  <a:srgbClr val="835000"/>
                </a:solidFill>
                <a:latin typeface="Times New Roman"/>
                <a:ea typeface="Times New Roman"/>
                <a:cs typeface="Times New Roman"/>
              </a:rPr>
              <a:t>FAIR ACCESS</a:t>
            </a:r>
          </a:p>
        </p:txBody>
      </p:sp>
      <p:sp>
        <p:nvSpPr>
          <p:cNvPr id="84" name="text-428">
            <a:extLst xmlns:a="http://schemas.openxmlformats.org/drawingml/2006/main">
              <a:ext uri="{FF2B5EF4-FFF2-40B4-BE49-F238E27FC236}">
                <a16:creationId xmlns:a16="http://schemas.microsoft.com/office/drawing/2014/main" id="{8116EF48-8DC6-4BE1-91AD-EFE2CD3BAC17}"/>
              </a:ext>
            </a:extLst>
          </p:cNvPr>
          <p:cNvSpPr>
            <a:spLocks xmlns:a="http://schemas.openxmlformats.org/drawingml/2006/main" noGrp="1"/>
          </p:cNvSpPr>
          <p:nvPr/>
        </p:nvSpPr>
        <p:spPr>
          <a:xfrm xmlns:a="http://schemas.openxmlformats.org/drawingml/2006/main">
            <a:off x="13487400" y="8661400"/>
            <a:ext cx="43053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00" b="0" i="0">
                <a:solidFill>
                  <a:srgbClr val="000000"/>
                </a:solidFill>
                <a:latin typeface="Times New Roman"/>
                <a:ea typeface="Times New Roman"/>
                <a:cs typeface="Times New Roman"/>
              </a:defRPr>
            </a:defPPr>
          </a:lstStyle>
          <a:p xmlns:a="http://schemas.openxmlformats.org/drawingml/2006/main">
            <a:pPr algn="l">
              <a:defRPr sz="2000" b="0" i="0">
                <a:solidFill>
                  <a:srgbClr val="000000"/>
                </a:solidFill>
                <a:latin typeface="Times New Roman"/>
                <a:ea typeface="Times New Roman"/>
                <a:cs typeface="Times New Roman"/>
              </a:defRPr>
            </a:pPr>
            <a:r>
              <a:rPr sz="2000" b="0" i="0">
                <a:solidFill>
                  <a:srgbClr val="000000"/>
                </a:solidFill>
                <a:latin typeface="Times New Roman"/>
                <a:ea typeface="Times New Roman"/>
                <a:cs typeface="Times New Roman"/>
              </a:rPr>
              <a:t>Review outcomes and correction requests</a:t>
            </a:r>
          </a:p>
        </p:txBody>
      </p:sp>
    </p:spTree>
    <p:extLst>
      <p:ext uri="{BB962C8B-B14F-4D97-AF65-F5344CB8AC3E}">
        <p14:creationId xmlns:p14="http://schemas.microsoft.com/office/powerpoint/2010/main" val="104773683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shape-429">
            <a:extLst xmlns:a="http://schemas.openxmlformats.org/drawingml/2006/main">
              <a:ext uri="{FF2B5EF4-FFF2-40B4-BE49-F238E27FC236}">
                <a16:creationId xmlns:a16="http://schemas.microsoft.com/office/drawing/2014/main" id="{332A4906-833E-4DD8-812B-9408159524B1}"/>
              </a:ext>
            </a:extLst>
          </p:cNvPr>
          <p:cNvSpPr>
            <a:spLocks xmlns:a="http://schemas.openxmlformats.org/drawingml/2006/main" noGrp="1"/>
          </p:cNvSpPr>
          <p:nvPr/>
        </p:nvSpPr>
        <p:spPr>
          <a:xfrm xmlns:a="http://schemas.openxmlformats.org/drawingml/2006/main">
            <a:off x="127000" y="114300"/>
            <a:ext cx="1524000" cy="990600"/>
          </a:xfrm>
          <a:prstGeom xmlns:a="http://schemas.openxmlformats.org/drawingml/2006/main" prst="ellipse">
            <a:avLst/>
          </a:prstGeom>
          <a:noFill xmlns:a="http://schemas.openxmlformats.org/drawingml/2006/main"/>
          <a:ln xmlns:a="http://schemas.openxmlformats.org/drawingml/2006/main" w="30480">
            <a:solidFill>
              <a:srgbClr val="8064A2"/>
            </a:solidFill>
            <a:prstDash val="solid"/>
          </a:ln>
        </p:spPr>
      </p:sp>
      <p:sp>
        <p:nvSpPr>
          <p:cNvPr id="2" name="text-431">
            <a:extLst xmlns:a="http://schemas.openxmlformats.org/drawingml/2006/main">
              <a:ext uri="{FF2B5EF4-FFF2-40B4-BE49-F238E27FC236}">
                <a16:creationId xmlns:a16="http://schemas.microsoft.com/office/drawing/2014/main" id="{CD356F2C-A720-4329-B8F6-93CEC75EEE2C}"/>
              </a:ext>
            </a:extLst>
          </p:cNvPr>
          <p:cNvSpPr>
            <a:spLocks xmlns:a="http://schemas.openxmlformats.org/drawingml/2006/main" noGrp="1"/>
          </p:cNvSpPr>
          <p:nvPr/>
        </p:nvSpPr>
        <p:spPr>
          <a:xfrm xmlns:a="http://schemas.openxmlformats.org/drawingml/2006/main">
            <a:off x="190500" y="381000"/>
            <a:ext cx="1397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300" b="1" i="0">
                <a:solidFill>
                  <a:srgbClr val="000000"/>
                </a:solidFill>
                <a:latin typeface="Times New Roman"/>
                <a:ea typeface="Times New Roman"/>
                <a:cs typeface="Times New Roman"/>
              </a:defRPr>
            </a:defPPr>
          </a:lstStyle>
          <a:p xmlns:a="http://schemas.openxmlformats.org/drawingml/2006/main">
            <a:pPr algn="ctr">
              <a:defRPr sz="1300" b="1" i="0">
                <a:solidFill>
                  <a:srgbClr val="000000"/>
                </a:solidFill>
                <a:latin typeface="Times New Roman"/>
                <a:ea typeface="Times New Roman"/>
                <a:cs typeface="Times New Roman"/>
              </a:defRPr>
            </a:pPr>
            <a:r>
              <a:rPr sz="1300" b="1" i="0">
                <a:solidFill>
                  <a:srgbClr val="000000"/>
                </a:solidFill>
                <a:latin typeface="Times New Roman"/>
                <a:ea typeface="Times New Roman"/>
                <a:cs typeface="Times New Roman"/>
              </a:rPr>
              <a:t>WORKFORCE</a:t>
            </a:r>
          </a:p>
          <a:p xmlns:a="http://schemas.openxmlformats.org/drawingml/2006/main">
            <a:pPr algn="ctr">
              <a:defRPr sz="1300" b="1" i="0">
                <a:solidFill>
                  <a:srgbClr val="000000"/>
                </a:solidFill>
                <a:latin typeface="Times New Roman"/>
                <a:ea typeface="Times New Roman"/>
                <a:cs typeface="Times New Roman"/>
              </a:defRPr>
            </a:pPr>
            <a:r>
              <a:rPr sz="1300" b="1" i="0">
                <a:solidFill>
                  <a:srgbClr val="000000"/>
                </a:solidFill>
                <a:latin typeface="Times New Roman"/>
                <a:ea typeface="Times New Roman"/>
                <a:cs typeface="Times New Roman"/>
              </a:rPr>
              <a:t>ADVISORY</a:t>
            </a:r>
          </a:p>
        </p:txBody>
      </p:sp>
      <p:sp>
        <p:nvSpPr>
          <p:cNvPr id="3" name="slide-title">
            <a:extLst xmlns:a="http://schemas.openxmlformats.org/drawingml/2006/main">
              <a:ext uri="{FF2B5EF4-FFF2-40B4-BE49-F238E27FC236}">
                <a16:creationId xmlns:a16="http://schemas.microsoft.com/office/drawing/2014/main" id="{33454872-5A23-47B2-87B2-272CE896FE7A}"/>
              </a:ext>
            </a:extLst>
          </p:cNvPr>
          <p:cNvSpPr>
            <a:spLocks xmlns:a="http://schemas.openxmlformats.org/drawingml/2006/main" noGrp="1"/>
          </p:cNvSpPr>
          <p:nvPr/>
        </p:nvSpPr>
        <p:spPr>
          <a:xfrm xmlns:a="http://schemas.openxmlformats.org/drawingml/2006/main">
            <a:off x="1905000" y="152400"/>
            <a:ext cx="13335000" cy="850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4300" b="1" i="0">
                <a:solidFill>
                  <a:srgbClr val="000000"/>
                </a:solidFill>
                <a:latin typeface="Times New Roman"/>
                <a:ea typeface="Times New Roman"/>
                <a:cs typeface="Times New Roman"/>
              </a:defRPr>
            </a:defPPr>
          </a:lstStyle>
          <a:p xmlns:a="http://schemas.openxmlformats.org/drawingml/2006/main">
            <a:pPr algn="ctr">
              <a:defRPr sz="4300" b="1" i="0">
                <a:solidFill>
                  <a:srgbClr val="000000"/>
                </a:solidFill>
                <a:latin typeface="Times New Roman"/>
                <a:ea typeface="Times New Roman"/>
                <a:cs typeface="Times New Roman"/>
              </a:defRPr>
            </a:pPr>
            <a:r>
              <a:rPr sz="4300" b="1" i="0">
                <a:solidFill>
                  <a:srgbClr val="000000"/>
                </a:solidFill>
                <a:latin typeface="Times New Roman"/>
                <a:ea typeface="Times New Roman"/>
                <a:cs typeface="Times New Roman"/>
              </a:rPr>
              <a:t>RESEARCH AND REFERENCES</a:t>
            </a:r>
          </a:p>
        </p:txBody>
      </p:sp>
      <p:sp>
        <p:nvSpPr>
          <p:cNvPr id="4" name="text-434">
            <a:extLst xmlns:a="http://schemas.openxmlformats.org/drawingml/2006/main">
              <a:ext uri="{FF2B5EF4-FFF2-40B4-BE49-F238E27FC236}">
                <a16:creationId xmlns:a16="http://schemas.microsoft.com/office/drawing/2014/main" id="{D4808612-32BD-442D-AD7F-805DA4F438C6}"/>
              </a:ext>
            </a:extLst>
          </p:cNvPr>
          <p:cNvSpPr>
            <a:spLocks xmlns:a="http://schemas.openxmlformats.org/drawingml/2006/main" noGrp="1"/>
          </p:cNvSpPr>
          <p:nvPr/>
        </p:nvSpPr>
        <p:spPr>
          <a:xfrm xmlns:a="http://schemas.openxmlformats.org/drawingml/2006/main">
            <a:off x="15557500" y="215900"/>
            <a:ext cx="2476500" cy="850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700" b="1" i="0">
                <a:solidFill>
                  <a:srgbClr val="214E83"/>
                </a:solidFill>
                <a:latin typeface="Garamond"/>
                <a:ea typeface="Garamond"/>
                <a:cs typeface="Garamond"/>
              </a:defRPr>
            </a:defPPr>
          </a:lstStyle>
          <a:p xmlns:a="http://schemas.openxmlformats.org/drawingml/2006/main">
            <a:pPr algn="ctr">
              <a:defRPr sz="2700" b="1" i="0">
                <a:solidFill>
                  <a:srgbClr val="214E83"/>
                </a:solidFill>
                <a:latin typeface="Garamond"/>
                <a:ea typeface="Garamond"/>
                <a:cs typeface="Garamond"/>
              </a:defRPr>
            </a:pPr>
            <a:r>
              <a:rPr sz="2700" b="1" i="0">
                <a:solidFill>
                  <a:srgbClr val="214E83"/>
                </a:solidFill>
                <a:latin typeface="Garamond"/>
                <a:ea typeface="Garamond"/>
                <a:cs typeface="Garamond"/>
              </a:rPr>
              <a:t>KERNEL</a:t>
            </a:r>
          </a:p>
          <a:p xmlns:a="http://schemas.openxmlformats.org/drawingml/2006/main">
            <a:pPr algn="ctr">
              <a:defRPr sz="2700" b="1" i="0">
                <a:solidFill>
                  <a:srgbClr val="214E83"/>
                </a:solidFill>
                <a:latin typeface="Garamond"/>
                <a:ea typeface="Garamond"/>
                <a:cs typeface="Garamond"/>
              </a:defRPr>
            </a:pPr>
            <a:r>
              <a:rPr sz="2700" b="1" i="0">
                <a:solidFill>
                  <a:srgbClr val="214E83"/>
                </a:solidFill>
                <a:latin typeface="Garamond"/>
                <a:ea typeface="Garamond"/>
                <a:cs typeface="Garamond"/>
              </a:rPr>
              <a:t>PRIME’26</a:t>
            </a:r>
          </a:p>
        </p:txBody>
      </p:sp>
      <p:sp>
        <p:nvSpPr>
          <p:cNvPr id="5" name="shape-435">
            <a:extLst xmlns:a="http://schemas.openxmlformats.org/drawingml/2006/main">
              <a:ext uri="{FF2B5EF4-FFF2-40B4-BE49-F238E27FC236}">
                <a16:creationId xmlns:a16="http://schemas.microsoft.com/office/drawing/2014/main" id="{BAFE2250-7541-46A2-87B1-114F7E78C841}"/>
              </a:ext>
            </a:extLst>
          </p:cNvPr>
          <p:cNvSpPr>
            <a:spLocks xmlns:a="http://schemas.openxmlformats.org/drawingml/2006/main" noGrp="1"/>
          </p:cNvSpPr>
          <p:nvPr/>
        </p:nvSpPr>
        <p:spPr>
          <a:xfrm xmlns:a="http://schemas.openxmlformats.org/drawingml/2006/main">
            <a:off x="0" y="9690100"/>
            <a:ext cx="18288000" cy="596900"/>
          </a:xfrm>
          <a:prstGeom xmlns:a="http://schemas.openxmlformats.org/drawingml/2006/main" prst="rect">
            <a:avLst/>
          </a:prstGeom>
          <a:solidFill xmlns:a="http://schemas.openxmlformats.org/drawingml/2006/main">
            <a:srgbClr val="0071BC"/>
          </a:solidFill>
          <a:ln xmlns:a="http://schemas.openxmlformats.org/drawingml/2006/main" w="0">
            <a:noFill/>
            <a:prstDash val="solid"/>
          </a:ln>
        </p:spPr>
      </p:sp>
      <p:sp>
        <p:nvSpPr>
          <p:cNvPr id="6" name="text-437">
            <a:extLst xmlns:a="http://schemas.openxmlformats.org/drawingml/2006/main">
              <a:ext uri="{FF2B5EF4-FFF2-40B4-BE49-F238E27FC236}">
                <a16:creationId xmlns:a16="http://schemas.microsoft.com/office/drawing/2014/main" id="{B09A9302-F886-46C1-9B05-20104A68FE5A}"/>
              </a:ext>
            </a:extLst>
          </p:cNvPr>
          <p:cNvSpPr>
            <a:spLocks xmlns:a="http://schemas.openxmlformats.org/drawingml/2006/main" noGrp="1"/>
          </p:cNvSpPr>
          <p:nvPr/>
        </p:nvSpPr>
        <p:spPr>
          <a:xfrm xmlns:a="http://schemas.openxmlformats.org/drawingml/2006/main">
            <a:off x="17081500" y="9893300"/>
            <a:ext cx="571500" cy="25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00" b="1" i="0">
                <a:solidFill>
                  <a:srgbClr val="FFFFFF"/>
                </a:solidFill>
                <a:latin typeface="Times New Roman"/>
                <a:ea typeface="Times New Roman"/>
                <a:cs typeface="Times New Roman"/>
              </a:defRPr>
            </a:defPPr>
          </a:lstStyle>
          <a:p xmlns:a="http://schemas.openxmlformats.org/drawingml/2006/main">
            <a:pPr algn="ctr">
              <a:defRPr sz="1600" b="1" i="0">
                <a:solidFill>
                  <a:srgbClr val="FFFFFF"/>
                </a:solidFill>
                <a:latin typeface="Times New Roman"/>
                <a:ea typeface="Times New Roman"/>
                <a:cs typeface="Times New Roman"/>
              </a:defRPr>
            </a:pPr>
            <a:r>
              <a:rPr sz="1600" b="1" i="0">
                <a:solidFill>
                  <a:srgbClr val="FFFFFF"/>
                </a:solidFill>
                <a:latin typeface="Times New Roman"/>
                <a:ea typeface="Times New Roman"/>
                <a:cs typeface="Times New Roman"/>
              </a:rPr>
              <a:t>7</a:t>
            </a:r>
          </a:p>
        </p:txBody>
      </p:sp>
      <p:sp>
        <p:nvSpPr>
          <p:cNvPr id="7" name="text-439">
            <a:extLst xmlns:a="http://schemas.openxmlformats.org/drawingml/2006/main">
              <a:ext uri="{FF2B5EF4-FFF2-40B4-BE49-F238E27FC236}">
                <a16:creationId xmlns:a16="http://schemas.microsoft.com/office/drawing/2014/main" id="{CCB4227C-65B7-4C71-B8C9-906B4EE2062B}"/>
              </a:ext>
            </a:extLst>
          </p:cNvPr>
          <p:cNvSpPr>
            <a:spLocks xmlns:a="http://schemas.openxmlformats.org/drawingml/2006/main" noGrp="1"/>
          </p:cNvSpPr>
          <p:nvPr/>
        </p:nvSpPr>
        <p:spPr>
          <a:xfrm xmlns:a="http://schemas.openxmlformats.org/drawingml/2006/main">
            <a:off x="203200" y="1333500"/>
            <a:ext cx="4826000" cy="40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i="0" u="sng">
                <a:solidFill>
                  <a:srgbClr val="214E83"/>
                </a:solidFill>
                <a:latin typeface="Times New Roman"/>
                <a:ea typeface="Times New Roman"/>
                <a:cs typeface="Times New Roman"/>
              </a:defRPr>
            </a:defPPr>
          </a:lstStyle>
          <a:p xmlns:a="http://schemas.openxmlformats.org/drawingml/2006/main">
            <a:pPr algn="l">
              <a:defRPr sz="2700" b="1" i="0" u="sng">
                <a:solidFill>
                  <a:srgbClr val="214E83"/>
                </a:solidFill>
                <a:latin typeface="Times New Roman"/>
                <a:ea typeface="Times New Roman"/>
                <a:cs typeface="Times New Roman"/>
              </a:defRPr>
            </a:pPr>
            <a:r>
              <a:rPr sz="2700" b="1" i="0" u="sng">
                <a:solidFill>
                  <a:srgbClr val="214E83"/>
                </a:solidFill>
                <a:latin typeface="Times New Roman"/>
                <a:ea typeface="Times New Roman"/>
                <a:cs typeface="Times New Roman"/>
              </a:rPr>
              <a:t>REFERENCES</a:t>
            </a:r>
          </a:p>
        </p:txBody>
      </p:sp>
      <p:sp>
        <p:nvSpPr>
          <p:cNvPr id="8" name="text-441">
            <a:extLst xmlns:a="http://schemas.openxmlformats.org/drawingml/2006/main">
              <a:ext uri="{FF2B5EF4-FFF2-40B4-BE49-F238E27FC236}">
                <a16:creationId xmlns:a16="http://schemas.microsoft.com/office/drawing/2014/main" id="{780769C7-7160-4715-B25E-CE33C1544B38}"/>
              </a:ext>
            </a:extLst>
          </p:cNvPr>
          <p:cNvSpPr>
            <a:spLocks xmlns:a="http://schemas.openxmlformats.org/drawingml/2006/main" noGrp="1"/>
          </p:cNvSpPr>
          <p:nvPr/>
        </p:nvSpPr>
        <p:spPr>
          <a:xfrm xmlns:a="http://schemas.openxmlformats.org/drawingml/2006/main">
            <a:off x="5613400" y="1422400"/>
            <a:ext cx="12357100" cy="469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i="0" u="sng">
                <a:solidFill>
                  <a:srgbClr val="214E83"/>
                </a:solidFill>
                <a:latin typeface="Times New Roman"/>
                <a:ea typeface="Times New Roman"/>
                <a:cs typeface="Times New Roman"/>
              </a:defRPr>
            </a:defPPr>
          </a:lstStyle>
          <a:p xmlns:a="http://schemas.openxmlformats.org/drawingml/2006/main">
            <a:pPr algn="l">
              <a:defRPr sz="2700" b="1" i="0" u="sng">
                <a:solidFill>
                  <a:srgbClr val="214E83"/>
                </a:solidFill>
                <a:latin typeface="Times New Roman"/>
                <a:ea typeface="Times New Roman"/>
                <a:cs typeface="Times New Roman"/>
              </a:defRPr>
            </a:pPr>
            <a:r>
              <a:rPr sz="2700" b="1" i="0" u="sng">
                <a:solidFill>
                  <a:srgbClr val="214E83"/>
                </a:solidFill>
                <a:latin typeface="Times New Roman"/>
                <a:ea typeface="Times New Roman"/>
                <a:cs typeface="Times New Roman"/>
              </a:rPr>
              <a:t>COMPARISON OF WORKFORCE SYSTEM ROLES</a:t>
            </a:r>
          </a:p>
        </p:txBody>
      </p:sp>
      <p:sp>
        <p:nvSpPr>
          <p:cNvPr id="9" name="text-443">
            <a:extLst xmlns:a="http://schemas.openxmlformats.org/drawingml/2006/main">
              <a:ext uri="{FF2B5EF4-FFF2-40B4-BE49-F238E27FC236}">
                <a16:creationId xmlns:a16="http://schemas.microsoft.com/office/drawing/2014/main" id="{24BE105B-1E8A-498B-9A28-7A89BDC8CC5F}"/>
              </a:ext>
            </a:extLst>
          </p:cNvPr>
          <p:cNvSpPr>
            <a:spLocks xmlns:a="http://schemas.openxmlformats.org/drawingml/2006/main" noGrp="1"/>
          </p:cNvSpPr>
          <p:nvPr/>
        </p:nvSpPr>
        <p:spPr>
          <a:xfrm xmlns:a="http://schemas.openxmlformats.org/drawingml/2006/main">
            <a:off x="190500" y="1917700"/>
            <a:ext cx="4914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i="0">
                <a:solidFill>
                  <a:srgbClr val="000000"/>
                </a:solidFill>
                <a:latin typeface="Times New Roman"/>
                <a:ea typeface="Times New Roman"/>
                <a:cs typeface="Times New Roman"/>
              </a:defRPr>
            </a:defPPr>
          </a:lstStyle>
          <a:p xmlns:a="http://schemas.openxmlformats.org/drawingml/2006/main">
            <a:pPr algn="l">
              <a:defRPr sz="2100" b="1" i="0">
                <a:solidFill>
                  <a:srgbClr val="000000"/>
                </a:solidFill>
                <a:latin typeface="Times New Roman"/>
                <a:ea typeface="Times New Roman"/>
                <a:cs typeface="Times New Roman"/>
              </a:defRPr>
            </a:pPr>
            <a:r>
              <a:rPr sz="2100" b="1" i="0">
                <a:solidFill>
                  <a:srgbClr val="000000"/>
                </a:solidFill>
                <a:latin typeface="Times New Roman"/>
                <a:ea typeface="Times New Roman"/>
                <a:cs typeface="Times New Roman"/>
              </a:rPr>
              <a:t>OCCUPATIONAL FOUNDATION</a:t>
            </a:r>
          </a:p>
        </p:txBody>
      </p:sp>
      <p:sp>
        <p:nvSpPr>
          <p:cNvPr id="10" name="text-445">
            <a:extLst xmlns:a="http://schemas.openxmlformats.org/drawingml/2006/main">
              <a:ext uri="{FF2B5EF4-FFF2-40B4-BE49-F238E27FC236}">
                <a16:creationId xmlns:a16="http://schemas.microsoft.com/office/drawing/2014/main" id="{2CA35AF9-1C2B-4740-85B0-D80BA24B1ACC}"/>
              </a:ext>
            </a:extLst>
          </p:cNvPr>
          <p:cNvSpPr>
            <a:spLocks xmlns:a="http://schemas.openxmlformats.org/drawingml/2006/main" noGrp="1"/>
          </p:cNvSpPr>
          <p:nvPr/>
        </p:nvSpPr>
        <p:spPr>
          <a:xfrm xmlns:a="http://schemas.openxmlformats.org/drawingml/2006/main">
            <a:off x="317500" y="2349500"/>
            <a:ext cx="4724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i="0">
                <a:solidFill>
                  <a:srgbClr val="000000"/>
                </a:solidFill>
                <a:latin typeface="Times New Roman"/>
                <a:ea typeface="Times New Roman"/>
                <a:cs typeface="Times New Roman"/>
              </a:defRPr>
            </a:defPPr>
          </a:lstStyle>
          <a:p xmlns:a="http://schemas.openxmlformats.org/drawingml/2006/main">
            <a:pPr algn="l">
              <a:defRPr sz="2100" b="0" i="0">
                <a:solidFill>
                  <a:srgbClr val="000000"/>
                </a:solidFill>
                <a:latin typeface="Times New Roman"/>
                <a:ea typeface="Times New Roman"/>
                <a:cs typeface="Times New Roman"/>
              </a:defRPr>
            </a:pPr>
            <a:r>
              <a:rPr sz="2100" b="0" i="0">
                <a:solidFill>
                  <a:srgbClr val="000000"/>
                </a:solidFill>
                <a:latin typeface="Times New Roman"/>
                <a:ea typeface="Times New Roman"/>
                <a:cs typeface="Times New Roman"/>
              </a:rPr>
              <a:t>O*NET 31.0 roles, skills and tasks</a:t>
            </a:r>
          </a:p>
        </p:txBody>
      </p:sp>
      <p:sp>
        <p:nvSpPr>
          <p:cNvPr id="11" name="text-447">
            <a:extLst xmlns:a="http://schemas.openxmlformats.org/drawingml/2006/main">
              <a:ext uri="{FF2B5EF4-FFF2-40B4-BE49-F238E27FC236}">
                <a16:creationId xmlns:a16="http://schemas.microsoft.com/office/drawing/2014/main" id="{FC0CC214-520A-4AC5-BA26-5E8202E1F8B4}"/>
              </a:ext>
            </a:extLst>
          </p:cNvPr>
          <p:cNvSpPr>
            <a:spLocks xmlns:a="http://schemas.openxmlformats.org/drawingml/2006/main" noGrp="1"/>
          </p:cNvSpPr>
          <p:nvPr/>
        </p:nvSpPr>
        <p:spPr>
          <a:xfrm xmlns:a="http://schemas.openxmlformats.org/drawingml/2006/main">
            <a:off x="317500" y="2933700"/>
            <a:ext cx="4749800" cy="368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00" b="1" i="0" u="sng">
                <a:solidFill>
                  <a:srgbClr val="005CB9"/>
                </a:solidFill>
                <a:latin typeface="Times New Roman"/>
                <a:ea typeface="Times New Roman"/>
                <a:cs typeface="Times New Roman"/>
              </a:defRPr>
            </a:defPPr>
          </a:lstStyle>
          <a:p xmlns:a="http://schemas.openxmlformats.org/drawingml/2006/main">
            <a:pPr algn="l">
              <a:defRPr sz="1900" b="1" i="0" u="sng">
                <a:solidFill>
                  <a:srgbClr val="005CB9"/>
                </a:solidFill>
                <a:latin typeface="Times New Roman"/>
                <a:ea typeface="Times New Roman"/>
                <a:cs typeface="Times New Roman"/>
              </a:defRPr>
            </a:pPr>
            <a:r>
              <a:rPr sz="1900" b="1" i="0" u="sng">
                <a:solidFill>
                  <a:srgbClr val="005CB9"/>
                </a:solidFill>
                <a:latin typeface="Times New Roman"/>
                <a:ea typeface="Times New Roman"/>
                <a:cs typeface="Times New Roman"/>
                <a:hlinkClick xmlns:r="http://schemas.openxmlformats.org/officeDocument/2006/relationships" r:id="R9e0924db9dca4a98"/>
              </a:rPr>
              <a:t>onetcenter.org/database.html</a:t>
            </a:r>
          </a:p>
        </p:txBody>
      </p:sp>
      <p:sp>
        <p:nvSpPr>
          <p:cNvPr id="12" name="text-449">
            <a:extLst xmlns:a="http://schemas.openxmlformats.org/drawingml/2006/main">
              <a:ext uri="{FF2B5EF4-FFF2-40B4-BE49-F238E27FC236}">
                <a16:creationId xmlns:a16="http://schemas.microsoft.com/office/drawing/2014/main" id="{5265C564-AC9F-4677-AB0E-DAE80D30209C}"/>
              </a:ext>
            </a:extLst>
          </p:cNvPr>
          <p:cNvSpPr>
            <a:spLocks xmlns:a="http://schemas.openxmlformats.org/drawingml/2006/main" noGrp="1"/>
          </p:cNvSpPr>
          <p:nvPr/>
        </p:nvSpPr>
        <p:spPr>
          <a:xfrm xmlns:a="http://schemas.openxmlformats.org/drawingml/2006/main">
            <a:off x="190500" y="3340100"/>
            <a:ext cx="4914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i="0">
                <a:solidFill>
                  <a:srgbClr val="000000"/>
                </a:solidFill>
                <a:latin typeface="Times New Roman"/>
                <a:ea typeface="Times New Roman"/>
                <a:cs typeface="Times New Roman"/>
              </a:defRPr>
            </a:defPPr>
          </a:lstStyle>
          <a:p xmlns:a="http://schemas.openxmlformats.org/drawingml/2006/main">
            <a:pPr algn="l">
              <a:defRPr sz="2100" b="1" i="0">
                <a:solidFill>
                  <a:srgbClr val="000000"/>
                </a:solidFill>
                <a:latin typeface="Times New Roman"/>
                <a:ea typeface="Times New Roman"/>
                <a:cs typeface="Times New Roman"/>
              </a:defRPr>
            </a:pPr>
            <a:r>
              <a:rPr sz="2100" b="1" i="0">
                <a:solidFill>
                  <a:srgbClr val="000000"/>
                </a:solidFill>
                <a:latin typeface="Times New Roman"/>
                <a:ea typeface="Times New Roman"/>
                <a:cs typeface="Times New Roman"/>
              </a:rPr>
              <a:t>LEARNING CATALOGUE</a:t>
            </a:r>
          </a:p>
        </p:txBody>
      </p:sp>
      <p:sp>
        <p:nvSpPr>
          <p:cNvPr id="13" name="text-451">
            <a:extLst xmlns:a="http://schemas.openxmlformats.org/drawingml/2006/main">
              <a:ext uri="{FF2B5EF4-FFF2-40B4-BE49-F238E27FC236}">
                <a16:creationId xmlns:a16="http://schemas.microsoft.com/office/drawing/2014/main" id="{0CCAF100-DD68-43D5-ACE8-405CD399EE83}"/>
              </a:ext>
            </a:extLst>
          </p:cNvPr>
          <p:cNvSpPr>
            <a:spLocks xmlns:a="http://schemas.openxmlformats.org/drawingml/2006/main" noGrp="1"/>
          </p:cNvSpPr>
          <p:nvPr/>
        </p:nvSpPr>
        <p:spPr>
          <a:xfrm xmlns:a="http://schemas.openxmlformats.org/drawingml/2006/main">
            <a:off x="317500" y="3771900"/>
            <a:ext cx="4724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i="0">
                <a:solidFill>
                  <a:srgbClr val="000000"/>
                </a:solidFill>
                <a:latin typeface="Times New Roman"/>
                <a:ea typeface="Times New Roman"/>
                <a:cs typeface="Times New Roman"/>
              </a:defRPr>
            </a:defPPr>
          </a:lstStyle>
          <a:p xmlns:a="http://schemas.openxmlformats.org/drawingml/2006/main">
            <a:pPr algn="l">
              <a:defRPr sz="2100" b="0" i="0">
                <a:solidFill>
                  <a:srgbClr val="000000"/>
                </a:solidFill>
                <a:latin typeface="Times New Roman"/>
                <a:ea typeface="Times New Roman"/>
                <a:cs typeface="Times New Roman"/>
              </a:defRPr>
            </a:pPr>
            <a:r>
              <a:rPr sz="2100" b="0" i="0">
                <a:solidFill>
                  <a:srgbClr val="000000"/>
                </a:solidFill>
                <a:latin typeface="Times New Roman"/>
                <a:ea typeface="Times New Roman"/>
                <a:cs typeface="Times New Roman"/>
              </a:rPr>
              <a:t>Microsoft Learn module metadata</a:t>
            </a:r>
          </a:p>
        </p:txBody>
      </p:sp>
      <p:sp>
        <p:nvSpPr>
          <p:cNvPr id="14" name="text-453">
            <a:extLst xmlns:a="http://schemas.openxmlformats.org/drawingml/2006/main">
              <a:ext uri="{FF2B5EF4-FFF2-40B4-BE49-F238E27FC236}">
                <a16:creationId xmlns:a16="http://schemas.microsoft.com/office/drawing/2014/main" id="{78F73995-EFD7-4D36-8473-297902E54B3C}"/>
              </a:ext>
            </a:extLst>
          </p:cNvPr>
          <p:cNvSpPr>
            <a:spLocks xmlns:a="http://schemas.openxmlformats.org/drawingml/2006/main" noGrp="1"/>
          </p:cNvSpPr>
          <p:nvPr/>
        </p:nvSpPr>
        <p:spPr>
          <a:xfrm xmlns:a="http://schemas.openxmlformats.org/drawingml/2006/main">
            <a:off x="317500" y="4356100"/>
            <a:ext cx="4749800" cy="368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00" b="1" i="0" u="sng">
                <a:solidFill>
                  <a:srgbClr val="005CB9"/>
                </a:solidFill>
                <a:latin typeface="Times New Roman"/>
                <a:ea typeface="Times New Roman"/>
                <a:cs typeface="Times New Roman"/>
              </a:defRPr>
            </a:defPPr>
          </a:lstStyle>
          <a:p xmlns:a="http://schemas.openxmlformats.org/drawingml/2006/main">
            <a:pPr algn="l">
              <a:defRPr sz="1900" b="1" i="0" u="sng">
                <a:solidFill>
                  <a:srgbClr val="005CB9"/>
                </a:solidFill>
                <a:latin typeface="Times New Roman"/>
                <a:ea typeface="Times New Roman"/>
                <a:cs typeface="Times New Roman"/>
              </a:defRPr>
            </a:pPr>
            <a:r>
              <a:rPr sz="1900" b="1" i="0" u="sng">
                <a:solidFill>
                  <a:srgbClr val="005CB9"/>
                </a:solidFill>
                <a:latin typeface="Times New Roman"/>
                <a:ea typeface="Times New Roman"/>
                <a:cs typeface="Times New Roman"/>
                <a:hlinkClick xmlns:r="http://schemas.openxmlformats.org/officeDocument/2006/relationships" r:id="R2ac5f03f26d14b0a"/>
              </a:rPr>
              <a:t>learn.microsoft.com/training</a:t>
            </a:r>
          </a:p>
        </p:txBody>
      </p:sp>
      <p:sp>
        <p:nvSpPr>
          <p:cNvPr id="15" name="text-455">
            <a:extLst xmlns:a="http://schemas.openxmlformats.org/drawingml/2006/main">
              <a:ext uri="{FF2B5EF4-FFF2-40B4-BE49-F238E27FC236}">
                <a16:creationId xmlns:a16="http://schemas.microsoft.com/office/drawing/2014/main" id="{25DB3BF1-078E-407B-AFFA-7AD2D441FB95}"/>
              </a:ext>
            </a:extLst>
          </p:cNvPr>
          <p:cNvSpPr>
            <a:spLocks xmlns:a="http://schemas.openxmlformats.org/drawingml/2006/main" noGrp="1"/>
          </p:cNvSpPr>
          <p:nvPr/>
        </p:nvSpPr>
        <p:spPr>
          <a:xfrm xmlns:a="http://schemas.openxmlformats.org/drawingml/2006/main">
            <a:off x="190500" y="4762500"/>
            <a:ext cx="4914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i="0">
                <a:solidFill>
                  <a:srgbClr val="000000"/>
                </a:solidFill>
                <a:latin typeface="Times New Roman"/>
                <a:ea typeface="Times New Roman"/>
                <a:cs typeface="Times New Roman"/>
              </a:defRPr>
            </a:defPPr>
          </a:lstStyle>
          <a:p xmlns:a="http://schemas.openxmlformats.org/drawingml/2006/main">
            <a:pPr algn="l">
              <a:defRPr sz="2100" b="1" i="0">
                <a:solidFill>
                  <a:srgbClr val="000000"/>
                </a:solidFill>
                <a:latin typeface="Times New Roman"/>
                <a:ea typeface="Times New Roman"/>
                <a:cs typeface="Times New Roman"/>
              </a:defRPr>
            </a:pPr>
            <a:r>
              <a:rPr sz="2100" b="1" i="0">
                <a:solidFill>
                  <a:srgbClr val="000000"/>
                </a:solidFill>
                <a:latin typeface="Times New Roman"/>
                <a:ea typeface="Times New Roman"/>
                <a:cs typeface="Times New Roman"/>
              </a:rPr>
              <a:t>PUBLIC JOB OBSERVATIONS</a:t>
            </a:r>
          </a:p>
        </p:txBody>
      </p:sp>
      <p:sp>
        <p:nvSpPr>
          <p:cNvPr id="16" name="text-457">
            <a:extLst xmlns:a="http://schemas.openxmlformats.org/drawingml/2006/main">
              <a:ext uri="{FF2B5EF4-FFF2-40B4-BE49-F238E27FC236}">
                <a16:creationId xmlns:a16="http://schemas.microsoft.com/office/drawing/2014/main" id="{6DBD20E4-9F9E-4AD2-85FD-E8F7CE02A0FE}"/>
              </a:ext>
            </a:extLst>
          </p:cNvPr>
          <p:cNvSpPr>
            <a:spLocks xmlns:a="http://schemas.openxmlformats.org/drawingml/2006/main" noGrp="1"/>
          </p:cNvSpPr>
          <p:nvPr/>
        </p:nvSpPr>
        <p:spPr>
          <a:xfrm xmlns:a="http://schemas.openxmlformats.org/drawingml/2006/main">
            <a:off x="317500" y="5194300"/>
            <a:ext cx="4724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i="0">
                <a:solidFill>
                  <a:srgbClr val="000000"/>
                </a:solidFill>
                <a:latin typeface="Times New Roman"/>
                <a:ea typeface="Times New Roman"/>
                <a:cs typeface="Times New Roman"/>
              </a:defRPr>
            </a:defPPr>
          </a:lstStyle>
          <a:p xmlns:a="http://schemas.openxmlformats.org/drawingml/2006/main">
            <a:pPr algn="l">
              <a:defRPr sz="2100" b="0" i="0">
                <a:solidFill>
                  <a:srgbClr val="000000"/>
                </a:solidFill>
                <a:latin typeface="Times New Roman"/>
                <a:ea typeface="Times New Roman"/>
                <a:cs typeface="Times New Roman"/>
              </a:defRPr>
            </a:pPr>
            <a:r>
              <a:rPr sz="2100" b="0" i="0">
                <a:solidFill>
                  <a:srgbClr val="000000"/>
                </a:solidFill>
                <a:latin typeface="Times New Roman"/>
                <a:ea typeface="Times New Roman"/>
                <a:cs typeface="Times New Roman"/>
              </a:rPr>
              <a:t>Remotive public job API</a:t>
            </a:r>
          </a:p>
        </p:txBody>
      </p:sp>
      <p:sp>
        <p:nvSpPr>
          <p:cNvPr id="17" name="text-459">
            <a:extLst xmlns:a="http://schemas.openxmlformats.org/drawingml/2006/main">
              <a:ext uri="{FF2B5EF4-FFF2-40B4-BE49-F238E27FC236}">
                <a16:creationId xmlns:a16="http://schemas.microsoft.com/office/drawing/2014/main" id="{D1142A65-1B7C-41FF-925B-02356433BA73}"/>
              </a:ext>
            </a:extLst>
          </p:cNvPr>
          <p:cNvSpPr>
            <a:spLocks xmlns:a="http://schemas.openxmlformats.org/drawingml/2006/main" noGrp="1"/>
          </p:cNvSpPr>
          <p:nvPr/>
        </p:nvSpPr>
        <p:spPr>
          <a:xfrm xmlns:a="http://schemas.openxmlformats.org/drawingml/2006/main">
            <a:off x="317500" y="5778500"/>
            <a:ext cx="4749800" cy="368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00" b="1" i="0" u="sng">
                <a:solidFill>
                  <a:srgbClr val="005CB9"/>
                </a:solidFill>
                <a:latin typeface="Times New Roman"/>
                <a:ea typeface="Times New Roman"/>
                <a:cs typeface="Times New Roman"/>
              </a:defRPr>
            </a:defPPr>
          </a:lstStyle>
          <a:p xmlns:a="http://schemas.openxmlformats.org/drawingml/2006/main">
            <a:pPr algn="l">
              <a:defRPr sz="1600" b="1" i="0" u="sng">
                <a:solidFill>
                  <a:srgbClr val="005CB9"/>
                </a:solidFill>
                <a:latin typeface="Times New Roman"/>
                <a:ea typeface="Times New Roman"/>
                <a:cs typeface="Times New Roman"/>
              </a:defRPr>
            </a:pPr>
            <a:r>
              <a:rPr sz="1600" b="1" i="0" u="sng">
                <a:solidFill>
                  <a:srgbClr val="005CB9"/>
                </a:solidFill>
                <a:latin typeface="Times New Roman"/>
                <a:ea typeface="Times New Roman"/>
                <a:cs typeface="Times New Roman"/>
                <a:hlinkClick xmlns:r="http://schemas.openxmlformats.org/officeDocument/2006/relationships" r:id="R627e9e7680f84ee5"/>
              </a:rPr>
              <a:t>github.com/remotive-com/remote-jobs-api</a:t>
            </a:r>
          </a:p>
        </p:txBody>
      </p:sp>
      <p:sp>
        <p:nvSpPr>
          <p:cNvPr id="18" name="text-461">
            <a:extLst xmlns:a="http://schemas.openxmlformats.org/drawingml/2006/main">
              <a:ext uri="{FF2B5EF4-FFF2-40B4-BE49-F238E27FC236}">
                <a16:creationId xmlns:a16="http://schemas.microsoft.com/office/drawing/2014/main" id="{0B48330A-C445-409D-B4FD-19477774347D}"/>
              </a:ext>
            </a:extLst>
          </p:cNvPr>
          <p:cNvSpPr>
            <a:spLocks xmlns:a="http://schemas.openxmlformats.org/drawingml/2006/main" noGrp="1"/>
          </p:cNvSpPr>
          <p:nvPr/>
        </p:nvSpPr>
        <p:spPr>
          <a:xfrm xmlns:a="http://schemas.openxmlformats.org/drawingml/2006/main">
            <a:off x="190500" y="6184900"/>
            <a:ext cx="4914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i="0">
                <a:solidFill>
                  <a:srgbClr val="000000"/>
                </a:solidFill>
                <a:latin typeface="Times New Roman"/>
                <a:ea typeface="Times New Roman"/>
                <a:cs typeface="Times New Roman"/>
              </a:defRPr>
            </a:defPPr>
          </a:lstStyle>
          <a:p xmlns:a="http://schemas.openxmlformats.org/drawingml/2006/main">
            <a:pPr algn="l">
              <a:defRPr sz="2100" b="1" i="0">
                <a:solidFill>
                  <a:srgbClr val="000000"/>
                </a:solidFill>
                <a:latin typeface="Times New Roman"/>
                <a:ea typeface="Times New Roman"/>
                <a:cs typeface="Times New Roman"/>
              </a:defRPr>
            </a:pPr>
            <a:r>
              <a:rPr sz="2100" b="1" i="0">
                <a:solidFill>
                  <a:srgbClr val="000000"/>
                </a:solidFill>
                <a:latin typeface="Times New Roman"/>
                <a:ea typeface="Times New Roman"/>
                <a:cs typeface="Times New Roman"/>
              </a:rPr>
              <a:t>OPTIONAL MARKET CONNECTOR</a:t>
            </a:r>
          </a:p>
        </p:txBody>
      </p:sp>
      <p:sp>
        <p:nvSpPr>
          <p:cNvPr id="19" name="text-463">
            <a:extLst xmlns:a="http://schemas.openxmlformats.org/drawingml/2006/main">
              <a:ext uri="{FF2B5EF4-FFF2-40B4-BE49-F238E27FC236}">
                <a16:creationId xmlns:a16="http://schemas.microsoft.com/office/drawing/2014/main" id="{874C61CD-213D-4797-BBEE-C65DF3B34B02}"/>
              </a:ext>
            </a:extLst>
          </p:cNvPr>
          <p:cNvSpPr>
            <a:spLocks xmlns:a="http://schemas.openxmlformats.org/drawingml/2006/main" noGrp="1"/>
          </p:cNvSpPr>
          <p:nvPr/>
        </p:nvSpPr>
        <p:spPr>
          <a:xfrm xmlns:a="http://schemas.openxmlformats.org/drawingml/2006/main">
            <a:off x="317500" y="6616700"/>
            <a:ext cx="4724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i="0">
                <a:solidFill>
                  <a:srgbClr val="000000"/>
                </a:solidFill>
                <a:latin typeface="Times New Roman"/>
                <a:ea typeface="Times New Roman"/>
                <a:cs typeface="Times New Roman"/>
              </a:defRPr>
            </a:defPPr>
          </a:lstStyle>
          <a:p xmlns:a="http://schemas.openxmlformats.org/drawingml/2006/main">
            <a:pPr algn="l">
              <a:defRPr sz="2100" b="0" i="0">
                <a:solidFill>
                  <a:srgbClr val="000000"/>
                </a:solidFill>
                <a:latin typeface="Times New Roman"/>
                <a:ea typeface="Times New Roman"/>
                <a:cs typeface="Times New Roman"/>
              </a:defRPr>
            </a:pPr>
            <a:r>
              <a:rPr sz="2100" b="0" i="0">
                <a:solidFill>
                  <a:srgbClr val="000000"/>
                </a:solidFill>
                <a:latin typeface="Times New Roman"/>
                <a:ea typeface="Times New Roman"/>
                <a:cs typeface="Times New Roman"/>
              </a:rPr>
              <a:t>Adzuna job-search API</a:t>
            </a:r>
          </a:p>
        </p:txBody>
      </p:sp>
      <p:sp>
        <p:nvSpPr>
          <p:cNvPr id="20" name="text-465">
            <a:extLst xmlns:a="http://schemas.openxmlformats.org/drawingml/2006/main">
              <a:ext uri="{FF2B5EF4-FFF2-40B4-BE49-F238E27FC236}">
                <a16:creationId xmlns:a16="http://schemas.microsoft.com/office/drawing/2014/main" id="{025F8935-8D52-479C-A216-0F91A6956479}"/>
              </a:ext>
            </a:extLst>
          </p:cNvPr>
          <p:cNvSpPr>
            <a:spLocks xmlns:a="http://schemas.openxmlformats.org/drawingml/2006/main" noGrp="1"/>
          </p:cNvSpPr>
          <p:nvPr/>
        </p:nvSpPr>
        <p:spPr>
          <a:xfrm xmlns:a="http://schemas.openxmlformats.org/drawingml/2006/main">
            <a:off x="317500" y="7200900"/>
            <a:ext cx="4749800" cy="368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00" b="1" i="0" u="sng">
                <a:solidFill>
                  <a:srgbClr val="005CB9"/>
                </a:solidFill>
                <a:latin typeface="Times New Roman"/>
                <a:ea typeface="Times New Roman"/>
                <a:cs typeface="Times New Roman"/>
              </a:defRPr>
            </a:defPPr>
          </a:lstStyle>
          <a:p xmlns:a="http://schemas.openxmlformats.org/drawingml/2006/main">
            <a:pPr algn="l">
              <a:defRPr sz="1900" b="1" i="0" u="sng">
                <a:solidFill>
                  <a:srgbClr val="005CB9"/>
                </a:solidFill>
                <a:latin typeface="Times New Roman"/>
                <a:ea typeface="Times New Roman"/>
                <a:cs typeface="Times New Roman"/>
              </a:defRPr>
            </a:pPr>
            <a:r>
              <a:rPr sz="1900" b="1" i="0" u="sng">
                <a:solidFill>
                  <a:srgbClr val="005CB9"/>
                </a:solidFill>
                <a:latin typeface="Times New Roman"/>
                <a:ea typeface="Times New Roman"/>
                <a:cs typeface="Times New Roman"/>
                <a:hlinkClick xmlns:r="http://schemas.openxmlformats.org/officeDocument/2006/relationships" r:id="R65ac0611781f44d2"/>
              </a:rPr>
              <a:t>developer.adzuna.com/docs/search</a:t>
            </a:r>
          </a:p>
        </p:txBody>
      </p:sp>
      <p:sp>
        <p:nvSpPr>
          <p:cNvPr id="21" name="text-467">
            <a:extLst xmlns:a="http://schemas.openxmlformats.org/drawingml/2006/main">
              <a:ext uri="{FF2B5EF4-FFF2-40B4-BE49-F238E27FC236}">
                <a16:creationId xmlns:a16="http://schemas.microsoft.com/office/drawing/2014/main" id="{607205D2-E9E0-4975-9E2E-436BF4E57BF3}"/>
              </a:ext>
            </a:extLst>
          </p:cNvPr>
          <p:cNvSpPr>
            <a:spLocks xmlns:a="http://schemas.openxmlformats.org/drawingml/2006/main" noGrp="1"/>
          </p:cNvSpPr>
          <p:nvPr/>
        </p:nvSpPr>
        <p:spPr>
          <a:xfrm xmlns:a="http://schemas.openxmlformats.org/drawingml/2006/main">
            <a:off x="190500" y="7607300"/>
            <a:ext cx="4914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i="0">
                <a:solidFill>
                  <a:srgbClr val="000000"/>
                </a:solidFill>
                <a:latin typeface="Times New Roman"/>
                <a:ea typeface="Times New Roman"/>
                <a:cs typeface="Times New Roman"/>
              </a:defRPr>
            </a:defPPr>
          </a:lstStyle>
          <a:p xmlns:a="http://schemas.openxmlformats.org/drawingml/2006/main">
            <a:pPr algn="l">
              <a:defRPr sz="2100" b="1" i="0">
                <a:solidFill>
                  <a:srgbClr val="000000"/>
                </a:solidFill>
                <a:latin typeface="Times New Roman"/>
                <a:ea typeface="Times New Roman"/>
                <a:cs typeface="Times New Roman"/>
              </a:defRPr>
            </a:pPr>
            <a:r>
              <a:rPr sz="2100" b="1" i="0">
                <a:solidFill>
                  <a:srgbClr val="000000"/>
                </a:solidFill>
                <a:latin typeface="Times New Roman"/>
                <a:ea typeface="Times New Roman"/>
                <a:cs typeface="Times New Roman"/>
              </a:rPr>
              <a:t>PROJECT EVIDENCE</a:t>
            </a:r>
          </a:p>
        </p:txBody>
      </p:sp>
      <p:sp>
        <p:nvSpPr>
          <p:cNvPr id="22" name="text-469">
            <a:extLst xmlns:a="http://schemas.openxmlformats.org/drawingml/2006/main">
              <a:ext uri="{FF2B5EF4-FFF2-40B4-BE49-F238E27FC236}">
                <a16:creationId xmlns:a16="http://schemas.microsoft.com/office/drawing/2014/main" id="{D6406901-3831-4FED-BBD8-C4A272FDE253}"/>
              </a:ext>
            </a:extLst>
          </p:cNvPr>
          <p:cNvSpPr>
            <a:spLocks xmlns:a="http://schemas.openxmlformats.org/drawingml/2006/main" noGrp="1"/>
          </p:cNvSpPr>
          <p:nvPr/>
        </p:nvSpPr>
        <p:spPr>
          <a:xfrm xmlns:a="http://schemas.openxmlformats.org/drawingml/2006/main">
            <a:off x="317500" y="8039100"/>
            <a:ext cx="4724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i="0">
                <a:solidFill>
                  <a:srgbClr val="000000"/>
                </a:solidFill>
                <a:latin typeface="Times New Roman"/>
                <a:ea typeface="Times New Roman"/>
                <a:cs typeface="Times New Roman"/>
              </a:defRPr>
            </a:defPPr>
          </a:lstStyle>
          <a:p xmlns:a="http://schemas.openxmlformats.org/drawingml/2006/main">
            <a:pPr algn="l">
              <a:defRPr sz="2100" b="0" i="0">
                <a:solidFill>
                  <a:srgbClr val="000000"/>
                </a:solidFill>
                <a:latin typeface="Times New Roman"/>
                <a:ea typeface="Times New Roman"/>
                <a:cs typeface="Times New Roman"/>
              </a:defRPr>
            </a:pPr>
            <a:r>
              <a:rPr sz="2100" b="0" i="0">
                <a:solidFill>
                  <a:srgbClr val="000000"/>
                </a:solidFill>
                <a:latin typeface="Times New Roman"/>
                <a:ea typeface="Times New Roman"/>
                <a:cs typeface="Times New Roman"/>
              </a:rPr>
              <a:t>Source dates, hashes and workflow logic</a:t>
            </a:r>
          </a:p>
        </p:txBody>
      </p:sp>
      <p:sp>
        <p:nvSpPr>
          <p:cNvPr id="23" name="text-471">
            <a:extLst xmlns:a="http://schemas.openxmlformats.org/drawingml/2006/main">
              <a:ext uri="{FF2B5EF4-FFF2-40B4-BE49-F238E27FC236}">
                <a16:creationId xmlns:a16="http://schemas.microsoft.com/office/drawing/2014/main" id="{65EFC08D-51A6-40A0-AC0F-1528650526AC}"/>
              </a:ext>
            </a:extLst>
          </p:cNvPr>
          <p:cNvSpPr>
            <a:spLocks xmlns:a="http://schemas.openxmlformats.org/drawingml/2006/main" noGrp="1"/>
          </p:cNvSpPr>
          <p:nvPr/>
        </p:nvSpPr>
        <p:spPr>
          <a:xfrm xmlns:a="http://schemas.openxmlformats.org/drawingml/2006/main">
            <a:off x="317500" y="8623300"/>
            <a:ext cx="4749800" cy="368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00" b="1" i="0" u="sng">
                <a:solidFill>
                  <a:srgbClr val="005CB9"/>
                </a:solidFill>
                <a:latin typeface="Times New Roman"/>
                <a:ea typeface="Times New Roman"/>
                <a:cs typeface="Times New Roman"/>
              </a:defRPr>
            </a:defPPr>
          </a:lstStyle>
          <a:p xmlns:a="http://schemas.openxmlformats.org/drawingml/2006/main">
            <a:pPr algn="l">
              <a:defRPr sz="1900" b="1" i="0" u="sng">
                <a:solidFill>
                  <a:srgbClr val="005CB9"/>
                </a:solidFill>
                <a:latin typeface="Times New Roman"/>
                <a:ea typeface="Times New Roman"/>
                <a:cs typeface="Times New Roman"/>
              </a:defRPr>
            </a:pPr>
            <a:r>
              <a:rPr sz="1900" b="1" i="0" u="sng">
                <a:solidFill>
                  <a:srgbClr val="005CB9"/>
                </a:solidFill>
                <a:latin typeface="Times New Roman"/>
                <a:ea typeface="Times New Roman"/>
                <a:cs typeface="Times New Roman"/>
                <a:hlinkClick xmlns:r="http://schemas.openxmlformats.org/officeDocument/2006/relationships" r:id="R6279942df71942ee"/>
              </a:rPr>
              <a:t>O*NET attribution: CC BY 4.0</a:t>
            </a:r>
          </a:p>
        </p:txBody>
      </p:sp>
      <p:graphicFrame>
        <p:nvGraphicFramePr>
          <p:cNvPr id="24" name="">
            <a:extLst xmlns:a="http://schemas.openxmlformats.org/drawingml/2006/main">
              <a:ext uri="{FF2B5EF4-FFF2-40B4-BE49-F238E27FC236}">
                <a16:creationId xmlns:a16="http://schemas.microsoft.com/office/drawing/2014/main" id="{3BA8016A-755E-44F9-B470-4BA02C9ADD9E}"/>
              </a:ext>
            </a:extLst>
          </p:cNvPr>
          <p:cNvGraphicFramePr/>
          <p:nvPr/>
        </p:nvGraphicFramePr>
        <p:xfrm>
          <a:off xmlns:a="http://schemas.openxmlformats.org/drawingml/2006/main" x="5321300" y="2171700"/>
          <a:ext xmlns:a="http://schemas.openxmlformats.org/drawingml/2006/main" cx="12865100" cy="5905500"/>
        </p:xfrm>
        <a:graphic xmlns:a="http://schemas.openxmlformats.org/drawingml/2006/main">
          <a:graphicData uri="http://schemas.openxmlformats.org/drawingml/2006/table">
            <a:tbl>
              <a:tblPr/>
              <a:tblGrid>
                <a:gridCol w="2336800"/>
                <a:gridCol w="2273300"/>
                <a:gridCol w="2063750"/>
                <a:gridCol w="2063750"/>
                <a:gridCol w="2063750"/>
                <a:gridCol w="2063750"/>
              </a:tblGrid>
              <a:tr h="939800">
                <a:tc>
                  <a:txBody>
                    <a:bodyPr wrap="square" lIns="101600" tIns="101600" rIns="101600" bIns="101600">
                      <a:noAutofit/>
                    </a:bodyPr>
                    <a:lstStyle/>
                    <a:p>
                      <a:pPr algn="ctr"/>
                      <a:r>
                        <a:rPr sz="2000" b="1">
                          <a:solidFill>
                            <a:srgbClr val="000000"/>
                          </a:solidFill>
                          <a:latin typeface="Times New Roman"/>
                          <a:ea typeface="Times New Roman"/>
                          <a:cs typeface="Times New Roman"/>
                        </a:rPr>
                        <a:t>Capability</a:t>
                      </a:r>
                    </a:p>
                  </a:txBody>
                  <a:tcPr marL="91440" marR="91440" marT="45720" marB="45720" anchor="ctr">
                    <a:solidFill>
                      <a:srgbClr val="D7E9FA"/>
                    </a:solidFill>
                  </a:tcPr>
                </a:tc>
                <a:tc>
                  <a:txBody>
                    <a:bodyPr wrap="square" lIns="101600" tIns="101600" rIns="101600" bIns="101600">
                      <a:noAutofit/>
                    </a:bodyPr>
                    <a:lstStyle/>
                    <a:p>
                      <a:pPr algn="ctr"/>
                      <a:r>
                        <a:rPr sz="2000" b="1">
                          <a:solidFill>
                            <a:srgbClr val="000000"/>
                          </a:solidFill>
                          <a:latin typeface="Times New Roman"/>
                          <a:ea typeface="Times New Roman"/>
                          <a:cs typeface="Times New Roman"/>
                        </a:rPr>
                        <a:t>Workforce</a:t>
                      </a:r>
                    </a:p>
                    <a:p>
                      <a:pPr algn="ctr"/>
                      <a:r>
                        <a:rPr sz="2000" b="1">
                          <a:solidFill>
                            <a:srgbClr val="000000"/>
                          </a:solidFill>
                          <a:latin typeface="Times New Roman"/>
                          <a:ea typeface="Times New Roman"/>
                          <a:cs typeface="Times New Roman"/>
                        </a:rPr>
                        <a:t>Advisory</a:t>
                      </a:r>
                    </a:p>
                  </a:txBody>
                  <a:tcPr marL="91440" marR="91440" marT="45720" marB="45720" anchor="ctr">
                    <a:solidFill>
                      <a:srgbClr val="C8F7E4"/>
                    </a:solidFill>
                  </a:tcPr>
                </a:tc>
                <a:tc>
                  <a:txBody>
                    <a:bodyPr wrap="square" lIns="101600" tIns="101600" rIns="101600" bIns="101600">
                      <a:noAutofit/>
                    </a:bodyPr>
                    <a:lstStyle/>
                    <a:p>
                      <a:pPr algn="ctr"/>
                      <a:r>
                        <a:rPr sz="2000" b="1">
                          <a:solidFill>
                            <a:srgbClr val="000000"/>
                          </a:solidFill>
                          <a:latin typeface="Times New Roman"/>
                          <a:ea typeface="Times New Roman"/>
                          <a:cs typeface="Times New Roman"/>
                        </a:rPr>
                        <a:t>HRIS</a:t>
                      </a:r>
                    </a:p>
                  </a:txBody>
                  <a:tcPr marL="91440" marR="91440" marT="45720" marB="45720" anchor="ctr">
                    <a:solidFill>
                      <a:srgbClr val="E0F4FF"/>
                    </a:solidFill>
                  </a:tcPr>
                </a:tc>
                <a:tc>
                  <a:txBody>
                    <a:bodyPr wrap="square" lIns="101600" tIns="101600" rIns="101600" bIns="101600">
                      <a:noAutofit/>
                    </a:bodyPr>
                    <a:lstStyle/>
                    <a:p>
                      <a:pPr algn="ctr"/>
                      <a:r>
                        <a:rPr sz="2000" b="1">
                          <a:solidFill>
                            <a:srgbClr val="000000"/>
                          </a:solidFill>
                          <a:latin typeface="Times New Roman"/>
                          <a:ea typeface="Times New Roman"/>
                          <a:cs typeface="Times New Roman"/>
                        </a:rPr>
                        <a:t>ATS</a:t>
                      </a:r>
                    </a:p>
                  </a:txBody>
                  <a:tcPr marL="91440" marR="91440" marT="45720" marB="45720" anchor="ctr">
                    <a:solidFill>
                      <a:srgbClr val="F5F6DD"/>
                    </a:solidFill>
                  </a:tcPr>
                </a:tc>
                <a:tc>
                  <a:txBody>
                    <a:bodyPr wrap="square" lIns="101600" tIns="101600" rIns="101600" bIns="101600">
                      <a:noAutofit/>
                    </a:bodyPr>
                    <a:lstStyle/>
                    <a:p>
                      <a:pPr algn="ctr"/>
                      <a:r>
                        <a:rPr sz="2000" b="1">
                          <a:solidFill>
                            <a:srgbClr val="000000"/>
                          </a:solidFill>
                          <a:latin typeface="Times New Roman"/>
                          <a:ea typeface="Times New Roman"/>
                          <a:cs typeface="Times New Roman"/>
                        </a:rPr>
                        <a:t>VMS</a:t>
                      </a:r>
                    </a:p>
                  </a:txBody>
                  <a:tcPr marL="91440" marR="91440" marT="45720" marB="45720" anchor="ctr">
                    <a:solidFill>
                      <a:srgbClr val="FBE8E6"/>
                    </a:solidFill>
                  </a:tcPr>
                </a:tc>
                <a:tc>
                  <a:txBody>
                    <a:bodyPr wrap="square" lIns="101600" tIns="101600" rIns="101600" bIns="101600">
                      <a:noAutofit/>
                    </a:bodyPr>
                    <a:lstStyle/>
                    <a:p>
                      <a:pPr algn="ctr"/>
                      <a:r>
                        <a:rPr sz="2000" b="1">
                          <a:solidFill>
                            <a:srgbClr val="000000"/>
                          </a:solidFill>
                          <a:latin typeface="Times New Roman"/>
                          <a:ea typeface="Times New Roman"/>
                          <a:cs typeface="Times New Roman"/>
                        </a:rPr>
                        <a:t>Job boards</a:t>
                      </a:r>
                    </a:p>
                  </a:txBody>
                  <a:tcPr marL="91440" marR="91440" marT="45720" marB="45720" anchor="ctr">
                    <a:solidFill>
                      <a:srgbClr val="E9E5FA"/>
                    </a:solidFill>
                  </a:tcPr>
                </a:tc>
              </a:tr>
              <a:tr h="711200">
                <a:tc>
                  <a:txBody>
                    <a:bodyPr wrap="square" lIns="101600" tIns="101600" rIns="101600" bIns="101600">
                      <a:noAutofit/>
                    </a:bodyPr>
                    <a:lstStyle/>
                    <a:p>
                      <a:pPr algn="ctr"/>
                      <a:r>
                        <a:rPr sz="1800" b="1">
                          <a:solidFill>
                            <a:srgbClr val="000000"/>
                          </a:solidFill>
                          <a:latin typeface="Times New Roman"/>
                          <a:ea typeface="Times New Roman"/>
                          <a:cs typeface="Times New Roman"/>
                        </a:rPr>
                        <a:t>Primary purpose</a:t>
                      </a:r>
                    </a:p>
                  </a:txBody>
                  <a:tcPr marL="91440" marR="91440" marT="45720" marB="45720" anchor="ctr">
                    <a:solidFill>
                      <a:srgbClr val="EAF5FB"/>
                    </a:solidFill>
                  </a:tcPr>
                </a:tc>
                <a:tc>
                  <a:txBody>
                    <a:bodyPr wrap="square" lIns="101600" tIns="101600" rIns="101600" bIns="101600">
                      <a:noAutofit/>
                    </a:bodyPr>
                    <a:lstStyle/>
                    <a:p>
                      <a:pPr algn="ctr"/>
                      <a:r>
                        <a:rPr sz="1800" b="0">
                          <a:solidFill>
                            <a:srgbClr val="000000"/>
                          </a:solidFill>
                          <a:latin typeface="Times New Roman"/>
                          <a:ea typeface="Times New Roman"/>
                          <a:cs typeface="Times New Roman"/>
                        </a:rPr>
                        <a:t>Decision before</a:t>
                      </a:r>
                    </a:p>
                    <a:p>
                      <a:pPr algn="ctr"/>
                      <a:r>
                        <a:rPr sz="1800" b="0">
                          <a:solidFill>
                            <a:srgbClr val="000000"/>
                          </a:solidFill>
                          <a:latin typeface="Times New Roman"/>
                          <a:ea typeface="Times New Roman"/>
                          <a:cs typeface="Times New Roman"/>
                        </a:rPr>
                        <a:t>requisition</a:t>
                      </a:r>
                    </a:p>
                  </a:txBody>
                  <a:tcPr marL="91440" marR="91440" marT="45720" marB="45720" anchor="ctr">
                    <a:solidFill>
                      <a:srgbClr val="E2F9EB"/>
                    </a:solidFill>
                  </a:tcPr>
                </a:tc>
                <a:tc>
                  <a:txBody>
                    <a:bodyPr wrap="square" lIns="101600" tIns="101600" rIns="101600" bIns="101600">
                      <a:noAutofit/>
                    </a:bodyPr>
                    <a:lstStyle/>
                    <a:p>
                      <a:pPr algn="ctr"/>
                      <a:r>
                        <a:rPr sz="1800" b="0">
                          <a:solidFill>
                            <a:srgbClr val="000000"/>
                          </a:solidFill>
                          <a:latin typeface="Times New Roman"/>
                          <a:ea typeface="Times New Roman"/>
                          <a:cs typeface="Times New Roman"/>
                        </a:rPr>
                        <a:t>Employee</a:t>
                      </a:r>
                    </a:p>
                    <a:p>
                      <a:pPr algn="ctr"/>
                      <a:r>
                        <a:rPr sz="1800" b="0">
                          <a:solidFill>
                            <a:srgbClr val="000000"/>
                          </a:solidFill>
                          <a:latin typeface="Times New Roman"/>
                          <a:ea typeface="Times New Roman"/>
                          <a:cs typeface="Times New Roman"/>
                        </a:rPr>
                        <a:t>records</a:t>
                      </a:r>
                    </a:p>
                  </a:txBody>
                  <a:tcPr marL="91440" marR="91440" marT="45720" marB="45720" anchor="ctr">
                    <a:solidFill>
                      <a:srgbClr val="FFFFFF"/>
                    </a:solidFill>
                  </a:tcPr>
                </a:tc>
                <a:tc>
                  <a:txBody>
                    <a:bodyPr wrap="square" lIns="101600" tIns="101600" rIns="101600" bIns="101600">
                      <a:noAutofit/>
                    </a:bodyPr>
                    <a:lstStyle/>
                    <a:p>
                      <a:pPr algn="ctr"/>
                      <a:r>
                        <a:rPr sz="1800" b="0">
                          <a:solidFill>
                            <a:srgbClr val="000000"/>
                          </a:solidFill>
                          <a:latin typeface="Times New Roman"/>
                          <a:ea typeface="Times New Roman"/>
                          <a:cs typeface="Times New Roman"/>
                        </a:rPr>
                        <a:t>Recruitment</a:t>
                      </a:r>
                    </a:p>
                    <a:p>
                      <a:pPr algn="ctr"/>
                      <a:r>
                        <a:rPr sz="1800" b="0">
                          <a:solidFill>
                            <a:srgbClr val="000000"/>
                          </a:solidFill>
                          <a:latin typeface="Times New Roman"/>
                          <a:ea typeface="Times New Roman"/>
                          <a:cs typeface="Times New Roman"/>
                        </a:rPr>
                        <a:t>pipeline</a:t>
                      </a:r>
                    </a:p>
                  </a:txBody>
                  <a:tcPr marL="91440" marR="91440" marT="45720" marB="45720" anchor="ctr">
                    <a:solidFill>
                      <a:srgbClr val="FFFFFF"/>
                    </a:solidFill>
                  </a:tcPr>
                </a:tc>
                <a:tc>
                  <a:txBody>
                    <a:bodyPr wrap="square" lIns="101600" tIns="101600" rIns="101600" bIns="101600">
                      <a:noAutofit/>
                    </a:bodyPr>
                    <a:lstStyle/>
                    <a:p>
                      <a:pPr algn="ctr"/>
                      <a:r>
                        <a:rPr sz="1800" b="0">
                          <a:solidFill>
                            <a:srgbClr val="000000"/>
                          </a:solidFill>
                          <a:latin typeface="Times New Roman"/>
                          <a:ea typeface="Times New Roman"/>
                          <a:cs typeface="Times New Roman"/>
                        </a:rPr>
                        <a:t>Contingent</a:t>
                      </a:r>
                    </a:p>
                    <a:p>
                      <a:pPr algn="ctr"/>
                      <a:r>
                        <a:rPr sz="1800" b="0">
                          <a:solidFill>
                            <a:srgbClr val="000000"/>
                          </a:solidFill>
                          <a:latin typeface="Times New Roman"/>
                          <a:ea typeface="Times New Roman"/>
                          <a:cs typeface="Times New Roman"/>
                        </a:rPr>
                        <a:t>workforce</a:t>
                      </a:r>
                    </a:p>
                  </a:txBody>
                  <a:tcPr marL="91440" marR="91440" marT="45720" marB="45720" anchor="ctr">
                    <a:solidFill>
                      <a:srgbClr val="FFFFFF"/>
                    </a:solidFill>
                  </a:tcPr>
                </a:tc>
                <a:tc>
                  <a:txBody>
                    <a:bodyPr wrap="square" lIns="101600" tIns="101600" rIns="101600" bIns="101600">
                      <a:noAutofit/>
                    </a:bodyPr>
                    <a:lstStyle/>
                    <a:p>
                      <a:pPr algn="ctr"/>
                      <a:r>
                        <a:rPr sz="1800" b="0">
                          <a:solidFill>
                            <a:srgbClr val="000000"/>
                          </a:solidFill>
                          <a:latin typeface="Times New Roman"/>
                          <a:ea typeface="Times New Roman"/>
                          <a:cs typeface="Times New Roman"/>
                        </a:rPr>
                        <a:t>Advertised</a:t>
                      </a:r>
                    </a:p>
                    <a:p>
                      <a:pPr algn="ctr"/>
                      <a:r>
                        <a:rPr sz="1800" b="0">
                          <a:solidFill>
                            <a:srgbClr val="000000"/>
                          </a:solidFill>
                          <a:latin typeface="Times New Roman"/>
                          <a:ea typeface="Times New Roman"/>
                          <a:cs typeface="Times New Roman"/>
                        </a:rPr>
                        <a:t>vacancies</a:t>
                      </a:r>
                    </a:p>
                  </a:txBody>
                  <a:tcPr marL="91440" marR="91440" marT="45720" marB="45720" anchor="ctr">
                    <a:solidFill>
                      <a:srgbClr val="FFFFFF"/>
                    </a:solidFill>
                  </a:tcPr>
                </a:tc>
              </a:tr>
              <a:tr h="711200">
                <a:tc>
                  <a:txBody>
                    <a:bodyPr wrap="square" lIns="101600" tIns="101600" rIns="101600" bIns="101600">
                      <a:noAutofit/>
                    </a:bodyPr>
                    <a:lstStyle/>
                    <a:p>
                      <a:pPr algn="ctr"/>
                      <a:r>
                        <a:rPr sz="1800" b="1">
                          <a:solidFill>
                            <a:srgbClr val="000000"/>
                          </a:solidFill>
                          <a:latin typeface="Times New Roman"/>
                          <a:ea typeface="Times New Roman"/>
                          <a:cs typeface="Times New Roman"/>
                        </a:rPr>
                        <a:t>People evidence</a:t>
                      </a:r>
                    </a:p>
                  </a:txBody>
                  <a:tcPr marL="91440" marR="91440" marT="45720" marB="45720" anchor="ctr">
                    <a:solidFill>
                      <a:srgbClr val="EAF5FB"/>
                    </a:solidFill>
                  </a:tcPr>
                </a:tc>
                <a:tc>
                  <a:txBody>
                    <a:bodyPr wrap="square" lIns="101600" tIns="101600" rIns="101600" bIns="101600">
                      <a:noAutofit/>
                    </a:bodyPr>
                    <a:lstStyle/>
                    <a:p>
                      <a:pPr algn="ctr"/>
                      <a:r>
                        <a:rPr sz="1800" b="0">
                          <a:solidFill>
                            <a:srgbClr val="000000"/>
                          </a:solidFill>
                          <a:latin typeface="Times New Roman"/>
                          <a:ea typeface="Times New Roman"/>
                          <a:cs typeface="Times New Roman"/>
                        </a:rPr>
                        <a:t>Assessed imports</a:t>
                      </a:r>
                    </a:p>
                    <a:p>
                      <a:pPr algn="ctr"/>
                      <a:r>
                        <a:rPr sz="1800" b="0">
                          <a:solidFill>
                            <a:srgbClr val="000000"/>
                          </a:solidFill>
                          <a:latin typeface="Times New Roman"/>
                          <a:ea typeface="Times New Roman"/>
                          <a:cs typeface="Times New Roman"/>
                        </a:rPr>
                        <a:t>and claims separated</a:t>
                      </a:r>
                    </a:p>
                  </a:txBody>
                  <a:tcPr marL="91440" marR="91440" marT="45720" marB="45720" anchor="ctr">
                    <a:solidFill>
                      <a:srgbClr val="E2F9EB"/>
                    </a:solidFill>
                  </a:tcPr>
                </a:tc>
                <a:tc>
                  <a:txBody>
                    <a:bodyPr wrap="square" lIns="101600" tIns="101600" rIns="101600" bIns="101600">
                      <a:noAutofit/>
                    </a:bodyPr>
                    <a:lstStyle/>
                    <a:p>
                      <a:pPr algn="ctr"/>
                      <a:r>
                        <a:rPr sz="1800" b="0">
                          <a:solidFill>
                            <a:srgbClr val="000000"/>
                          </a:solidFill>
                          <a:latin typeface="Times New Roman"/>
                          <a:ea typeface="Times New Roman"/>
                          <a:cs typeface="Times New Roman"/>
                        </a:rPr>
                        <a:t>Employee</a:t>
                      </a:r>
                    </a:p>
                    <a:p>
                      <a:pPr algn="ctr"/>
                      <a:r>
                        <a:rPr sz="1800" b="0">
                          <a:solidFill>
                            <a:srgbClr val="000000"/>
                          </a:solidFill>
                          <a:latin typeface="Times New Roman"/>
                          <a:ea typeface="Times New Roman"/>
                          <a:cs typeface="Times New Roman"/>
                        </a:rPr>
                        <a:t>profile data</a:t>
                      </a:r>
                    </a:p>
                  </a:txBody>
                  <a:tcPr marL="91440" marR="91440" marT="45720" marB="45720" anchor="ctr">
                    <a:solidFill>
                      <a:srgbClr val="FFFFFF"/>
                    </a:solidFill>
                  </a:tcPr>
                </a:tc>
                <a:tc>
                  <a:txBody>
                    <a:bodyPr wrap="square" lIns="101600" tIns="101600" rIns="101600" bIns="101600">
                      <a:noAutofit/>
                    </a:bodyPr>
                    <a:lstStyle/>
                    <a:p>
                      <a:pPr algn="ctr"/>
                      <a:r>
                        <a:rPr sz="1800" b="0">
                          <a:solidFill>
                            <a:srgbClr val="000000"/>
                          </a:solidFill>
                          <a:latin typeface="Times New Roman"/>
                          <a:ea typeface="Times New Roman"/>
                          <a:cs typeface="Times New Roman"/>
                        </a:rPr>
                        <a:t>Candidate</a:t>
                      </a:r>
                    </a:p>
                    <a:p>
                      <a:pPr algn="ctr"/>
                      <a:r>
                        <a:rPr sz="1800" b="0">
                          <a:solidFill>
                            <a:srgbClr val="000000"/>
                          </a:solidFill>
                          <a:latin typeface="Times New Roman"/>
                          <a:ea typeface="Times New Roman"/>
                          <a:cs typeface="Times New Roman"/>
                        </a:rPr>
                        <a:t>records</a:t>
                      </a:r>
                    </a:p>
                  </a:txBody>
                  <a:tcPr marL="91440" marR="91440" marT="45720" marB="45720" anchor="ctr">
                    <a:solidFill>
                      <a:srgbClr val="FFFFFF"/>
                    </a:solidFill>
                  </a:tcPr>
                </a:tc>
                <a:tc>
                  <a:txBody>
                    <a:bodyPr wrap="square" lIns="101600" tIns="101600" rIns="101600" bIns="101600">
                      <a:noAutofit/>
                    </a:bodyPr>
                    <a:lstStyle/>
                    <a:p>
                      <a:pPr algn="ctr"/>
                      <a:r>
                        <a:rPr sz="1800" b="0">
                          <a:solidFill>
                            <a:srgbClr val="000000"/>
                          </a:solidFill>
                          <a:latin typeface="Times New Roman"/>
                          <a:ea typeface="Times New Roman"/>
                          <a:cs typeface="Times New Roman"/>
                        </a:rPr>
                        <a:t>Contractor</a:t>
                      </a:r>
                    </a:p>
                    <a:p>
                      <a:pPr algn="ctr"/>
                      <a:r>
                        <a:rPr sz="1800" b="0">
                          <a:solidFill>
                            <a:srgbClr val="000000"/>
                          </a:solidFill>
                          <a:latin typeface="Times New Roman"/>
                          <a:ea typeface="Times New Roman"/>
                          <a:cs typeface="Times New Roman"/>
                        </a:rPr>
                        <a:t>records</a:t>
                      </a:r>
                    </a:p>
                  </a:txBody>
                  <a:tcPr marL="91440" marR="91440" marT="45720" marB="45720" anchor="ctr">
                    <a:solidFill>
                      <a:srgbClr val="FFFFFF"/>
                    </a:solidFill>
                  </a:tcPr>
                </a:tc>
                <a:tc>
                  <a:txBody>
                    <a:bodyPr wrap="square" lIns="101600" tIns="101600" rIns="101600" bIns="101600">
                      <a:noAutofit/>
                    </a:bodyPr>
                    <a:lstStyle/>
                    <a:p>
                      <a:pPr algn="ctr"/>
                      <a:r>
                        <a:rPr sz="1800" b="0">
                          <a:solidFill>
                            <a:srgbClr val="000000"/>
                          </a:solidFill>
                          <a:latin typeface="Times New Roman"/>
                          <a:ea typeface="Times New Roman"/>
                          <a:cs typeface="Times New Roman"/>
                        </a:rPr>
                        <a:t>Job</a:t>
                      </a:r>
                    </a:p>
                    <a:p>
                      <a:pPr algn="ctr"/>
                      <a:r>
                        <a:rPr sz="1800" b="0">
                          <a:solidFill>
                            <a:srgbClr val="000000"/>
                          </a:solidFill>
                          <a:latin typeface="Times New Roman"/>
                          <a:ea typeface="Times New Roman"/>
                          <a:cs typeface="Times New Roman"/>
                        </a:rPr>
                        <a:t>requirements</a:t>
                      </a:r>
                    </a:p>
                  </a:txBody>
                  <a:tcPr marL="91440" marR="91440" marT="45720" marB="45720" anchor="ctr">
                    <a:solidFill>
                      <a:srgbClr val="FFFFFF"/>
                    </a:solidFill>
                  </a:tcPr>
                </a:tc>
              </a:tr>
              <a:tr h="711200">
                <a:tc>
                  <a:txBody>
                    <a:bodyPr wrap="square" lIns="101600" tIns="101600" rIns="101600" bIns="101600">
                      <a:noAutofit/>
                    </a:bodyPr>
                    <a:lstStyle/>
                    <a:p>
                      <a:pPr algn="ctr"/>
                      <a:r>
                        <a:rPr sz="1800" b="1">
                          <a:solidFill>
                            <a:srgbClr val="000000"/>
                          </a:solidFill>
                          <a:latin typeface="Times New Roman"/>
                          <a:ea typeface="Times New Roman"/>
                          <a:cs typeface="Times New Roman"/>
                        </a:rPr>
                        <a:t>Internal development</a:t>
                      </a:r>
                    </a:p>
                  </a:txBody>
                  <a:tcPr marL="91440" marR="91440" marT="45720" marB="45720" anchor="ctr">
                    <a:solidFill>
                      <a:srgbClr val="EAF5FB"/>
                    </a:solidFill>
                  </a:tcPr>
                </a:tc>
                <a:tc>
                  <a:txBody>
                    <a:bodyPr wrap="square" lIns="101600" tIns="101600" rIns="101600" bIns="101600">
                      <a:noAutofit/>
                    </a:bodyPr>
                    <a:lstStyle/>
                    <a:p>
                      <a:pPr algn="ctr"/>
                      <a:r>
                        <a:rPr sz="1800" b="0">
                          <a:solidFill>
                            <a:srgbClr val="000000"/>
                          </a:solidFill>
                          <a:latin typeface="Times New Roman"/>
                          <a:ea typeface="Times New Roman"/>
                          <a:cs typeface="Times New Roman"/>
                        </a:rPr>
                        <a:t>Skill gaps and</a:t>
                      </a:r>
                    </a:p>
                    <a:p>
                      <a:pPr algn="ctr"/>
                      <a:r>
                        <a:rPr sz="1800" b="0">
                          <a:solidFill>
                            <a:srgbClr val="000000"/>
                          </a:solidFill>
                          <a:latin typeface="Times New Roman"/>
                          <a:ea typeface="Times New Roman"/>
                          <a:cs typeface="Times New Roman"/>
                        </a:rPr>
                        <a:t>evidenced plans</a:t>
                      </a:r>
                    </a:p>
                  </a:txBody>
                  <a:tcPr marL="91440" marR="91440" marT="45720" marB="45720" anchor="ctr">
                    <a:solidFill>
                      <a:srgbClr val="E2F9EB"/>
                    </a:solidFill>
                  </a:tcPr>
                </a:tc>
                <a:tc>
                  <a:txBody>
                    <a:bodyPr wrap="square" lIns="101600" tIns="101600" rIns="101600" bIns="101600">
                      <a:noAutofit/>
                    </a:bodyPr>
                    <a:lstStyle/>
                    <a:p>
                      <a:pPr algn="ctr"/>
                      <a:r>
                        <a:rPr sz="1800" b="0">
                          <a:solidFill>
                            <a:srgbClr val="000000"/>
                          </a:solidFill>
                          <a:latin typeface="Times New Roman"/>
                          <a:ea typeface="Times New Roman"/>
                          <a:cs typeface="Times New Roman"/>
                        </a:rPr>
                        <a:t>Source</a:t>
                      </a:r>
                    </a:p>
                    <a:p>
                      <a:pPr algn="ctr"/>
                      <a:r>
                        <a:rPr sz="1800" b="0">
                          <a:solidFill>
                            <a:srgbClr val="000000"/>
                          </a:solidFill>
                          <a:latin typeface="Times New Roman"/>
                          <a:ea typeface="Times New Roman"/>
                          <a:cs typeface="Times New Roman"/>
                        </a:rPr>
                        <a:t>records</a:t>
                      </a:r>
                    </a:p>
                  </a:txBody>
                  <a:tcPr marL="91440" marR="91440" marT="45720" marB="45720" anchor="ctr">
                    <a:solidFill>
                      <a:srgbClr val="FFFFFF"/>
                    </a:solidFill>
                  </a:tcPr>
                </a:tc>
                <a:tc>
                  <a:txBody>
                    <a:bodyPr wrap="square" lIns="101600" tIns="101600" rIns="101600" bIns="101600">
                      <a:noAutofit/>
                    </a:bodyPr>
                    <a:lstStyle/>
                    <a:p>
                      <a:pPr algn="ctr"/>
                      <a:r>
                        <a:rPr sz="1800" b="0">
                          <a:solidFill>
                            <a:srgbClr val="000000"/>
                          </a:solidFill>
                          <a:latin typeface="Times New Roman"/>
                          <a:ea typeface="Times New Roman"/>
                          <a:cs typeface="Times New Roman"/>
                        </a:rPr>
                        <a:t>Role</a:t>
                      </a:r>
                    </a:p>
                    <a:p>
                      <a:pPr algn="ctr"/>
                      <a:r>
                        <a:rPr sz="1800" b="0">
                          <a:solidFill>
                            <a:srgbClr val="000000"/>
                          </a:solidFill>
                          <a:latin typeface="Times New Roman"/>
                          <a:ea typeface="Times New Roman"/>
                          <a:cs typeface="Times New Roman"/>
                        </a:rPr>
                        <a:t>dependent</a:t>
                      </a:r>
                    </a:p>
                  </a:txBody>
                  <a:tcPr marL="91440" marR="91440" marT="45720" marB="45720" anchor="ctr">
                    <a:solidFill>
                      <a:srgbClr val="FFFFFF"/>
                    </a:solidFill>
                  </a:tcPr>
                </a:tc>
                <a:tc>
                  <a:txBody>
                    <a:bodyPr wrap="square" lIns="101600" tIns="101600" rIns="101600" bIns="101600">
                      <a:noAutofit/>
                    </a:bodyPr>
                    <a:lstStyle/>
                    <a:p>
                      <a:pPr algn="ctr"/>
                      <a:r>
                        <a:rPr sz="1800" b="0">
                          <a:solidFill>
                            <a:srgbClr val="000000"/>
                          </a:solidFill>
                          <a:latin typeface="Times New Roman"/>
                          <a:ea typeface="Times New Roman"/>
                          <a:cs typeface="Times New Roman"/>
                        </a:rPr>
                        <a:t>Limited</a:t>
                      </a:r>
                    </a:p>
                    <a:p>
                      <a:pPr algn="ctr"/>
                      <a:r>
                        <a:rPr sz="1800" b="0">
                          <a:solidFill>
                            <a:srgbClr val="000000"/>
                          </a:solidFill>
                          <a:latin typeface="Times New Roman"/>
                          <a:ea typeface="Times New Roman"/>
                          <a:cs typeface="Times New Roman"/>
                        </a:rPr>
                        <a:t>scope</a:t>
                      </a:r>
                    </a:p>
                  </a:txBody>
                  <a:tcPr marL="91440" marR="91440" marT="45720" marB="45720" anchor="ctr">
                    <a:solidFill>
                      <a:srgbClr val="FFFFFF"/>
                    </a:solidFill>
                  </a:tcPr>
                </a:tc>
                <a:tc>
                  <a:txBody>
                    <a:bodyPr wrap="square" lIns="101600" tIns="101600" rIns="101600" bIns="101600">
                      <a:noAutofit/>
                    </a:bodyPr>
                    <a:lstStyle/>
                    <a:p>
                      <a:pPr algn="ctr"/>
                      <a:r>
                        <a:rPr sz="1800" b="0">
                          <a:solidFill>
                            <a:srgbClr val="000000"/>
                          </a:solidFill>
                          <a:latin typeface="Times New Roman"/>
                          <a:ea typeface="Times New Roman"/>
                          <a:cs typeface="Times New Roman"/>
                        </a:rPr>
                        <a:t>Not a</a:t>
                      </a:r>
                    </a:p>
                    <a:p>
                      <a:pPr algn="ctr"/>
                      <a:r>
                        <a:rPr sz="1800" b="0">
                          <a:solidFill>
                            <a:srgbClr val="000000"/>
                          </a:solidFill>
                          <a:latin typeface="Times New Roman"/>
                          <a:ea typeface="Times New Roman"/>
                          <a:cs typeface="Times New Roman"/>
                        </a:rPr>
                        <a:t>people record</a:t>
                      </a:r>
                    </a:p>
                  </a:txBody>
                  <a:tcPr marL="91440" marR="91440" marT="45720" marB="45720" anchor="ctr">
                    <a:solidFill>
                      <a:srgbClr val="FFFFFF"/>
                    </a:solidFill>
                  </a:tcPr>
                </a:tc>
              </a:tr>
              <a:tr h="711200">
                <a:tc>
                  <a:txBody>
                    <a:bodyPr wrap="square" lIns="101600" tIns="101600" rIns="101600" bIns="101600">
                      <a:noAutofit/>
                    </a:bodyPr>
                    <a:lstStyle/>
                    <a:p>
                      <a:pPr algn="ctr"/>
                      <a:r>
                        <a:rPr sz="1800" b="1">
                          <a:solidFill>
                            <a:srgbClr val="000000"/>
                          </a:solidFill>
                          <a:latin typeface="Times New Roman"/>
                          <a:ea typeface="Times New Roman"/>
                          <a:cs typeface="Times New Roman"/>
                        </a:rPr>
                        <a:t>Contractor options</a:t>
                      </a:r>
                    </a:p>
                  </a:txBody>
                  <a:tcPr marL="91440" marR="91440" marT="45720" marB="45720" anchor="ctr">
                    <a:solidFill>
                      <a:srgbClr val="EAF5FB"/>
                    </a:solidFill>
                  </a:tcPr>
                </a:tc>
                <a:tc>
                  <a:txBody>
                    <a:bodyPr wrap="square" lIns="101600" tIns="101600" rIns="101600" bIns="101600">
                      <a:noAutofit/>
                    </a:bodyPr>
                    <a:lstStyle/>
                    <a:p>
                      <a:pPr algn="ctr"/>
                      <a:r>
                        <a:rPr sz="1800" b="0">
                          <a:solidFill>
                            <a:srgbClr val="000000"/>
                          </a:solidFill>
                          <a:latin typeface="Times New Roman"/>
                          <a:ea typeface="Times New Roman"/>
                          <a:cs typeface="Times New Roman"/>
                        </a:rPr>
                        <a:t>Match, rates and</a:t>
                      </a:r>
                    </a:p>
                    <a:p>
                      <a:pPr algn="ctr"/>
                      <a:r>
                        <a:rPr sz="1800" b="0">
                          <a:solidFill>
                            <a:srgbClr val="000000"/>
                          </a:solidFill>
                          <a:latin typeface="Times New Roman"/>
                          <a:ea typeface="Times New Roman"/>
                          <a:cs typeface="Times New Roman"/>
                        </a:rPr>
                        <a:t>reported interest</a:t>
                      </a:r>
                    </a:p>
                  </a:txBody>
                  <a:tcPr marL="91440" marR="91440" marT="45720" marB="45720" anchor="ctr">
                    <a:solidFill>
                      <a:srgbClr val="E2F9EB"/>
                    </a:solidFill>
                  </a:tcPr>
                </a:tc>
                <a:tc>
                  <a:txBody>
                    <a:bodyPr wrap="square" lIns="101600" tIns="101600" rIns="101600" bIns="101600">
                      <a:noAutofit/>
                    </a:bodyPr>
                    <a:lstStyle/>
                    <a:p>
                      <a:pPr algn="ctr"/>
                      <a:r>
                        <a:rPr sz="1800" b="0">
                          <a:solidFill>
                            <a:srgbClr val="000000"/>
                          </a:solidFill>
                          <a:latin typeface="Times New Roman"/>
                          <a:ea typeface="Times New Roman"/>
                          <a:cs typeface="Times New Roman"/>
                        </a:rPr>
                        <a:t>Context</a:t>
                      </a:r>
                    </a:p>
                    <a:p>
                      <a:pPr algn="ctr"/>
                      <a:r>
                        <a:rPr sz="1800" b="0">
                          <a:solidFill>
                            <a:srgbClr val="000000"/>
                          </a:solidFill>
                          <a:latin typeface="Times New Roman"/>
                          <a:ea typeface="Times New Roman"/>
                          <a:cs typeface="Times New Roman"/>
                        </a:rPr>
                        <a:t>dependent</a:t>
                      </a:r>
                    </a:p>
                  </a:txBody>
                  <a:tcPr marL="91440" marR="91440" marT="45720" marB="45720" anchor="ctr">
                    <a:solidFill>
                      <a:srgbClr val="FFFFFF"/>
                    </a:solidFill>
                  </a:tcPr>
                </a:tc>
                <a:tc>
                  <a:txBody>
                    <a:bodyPr wrap="square" lIns="101600" tIns="101600" rIns="101600" bIns="101600">
                      <a:noAutofit/>
                    </a:bodyPr>
                    <a:lstStyle/>
                    <a:p>
                      <a:pPr algn="ctr"/>
                      <a:r>
                        <a:rPr sz="1800" b="0">
                          <a:solidFill>
                            <a:srgbClr val="000000"/>
                          </a:solidFill>
                          <a:latin typeface="Times New Roman"/>
                          <a:ea typeface="Times New Roman"/>
                          <a:cs typeface="Times New Roman"/>
                        </a:rPr>
                        <a:t>Hiring</a:t>
                      </a:r>
                    </a:p>
                    <a:p>
                      <a:pPr algn="ctr"/>
                      <a:r>
                        <a:rPr sz="1800" b="0">
                          <a:solidFill>
                            <a:srgbClr val="000000"/>
                          </a:solidFill>
                          <a:latin typeface="Times New Roman"/>
                          <a:ea typeface="Times New Roman"/>
                          <a:cs typeface="Times New Roman"/>
                        </a:rPr>
                        <a:t>context</a:t>
                      </a:r>
                    </a:p>
                  </a:txBody>
                  <a:tcPr marL="91440" marR="91440" marT="45720" marB="45720" anchor="ctr">
                    <a:solidFill>
                      <a:srgbClr val="FFFFFF"/>
                    </a:solidFill>
                  </a:tcPr>
                </a:tc>
                <a:tc>
                  <a:txBody>
                    <a:bodyPr wrap="square" lIns="101600" tIns="101600" rIns="101600" bIns="101600">
                      <a:noAutofit/>
                    </a:bodyPr>
                    <a:lstStyle/>
                    <a:p>
                      <a:pPr algn="ctr"/>
                      <a:r>
                        <a:rPr sz="1800" b="0">
                          <a:solidFill>
                            <a:srgbClr val="000000"/>
                          </a:solidFill>
                          <a:latin typeface="Times New Roman"/>
                          <a:ea typeface="Times New Roman"/>
                          <a:cs typeface="Times New Roman"/>
                        </a:rPr>
                        <a:t>Core</a:t>
                      </a:r>
                    </a:p>
                    <a:p>
                      <a:pPr algn="ctr"/>
                      <a:r>
                        <a:rPr sz="1800" b="0">
                          <a:solidFill>
                            <a:srgbClr val="000000"/>
                          </a:solidFill>
                          <a:latin typeface="Times New Roman"/>
                          <a:ea typeface="Times New Roman"/>
                          <a:cs typeface="Times New Roman"/>
                        </a:rPr>
                        <a:t>workflow</a:t>
                      </a:r>
                    </a:p>
                  </a:txBody>
                  <a:tcPr marL="91440" marR="91440" marT="45720" marB="45720" anchor="ctr">
                    <a:solidFill>
                      <a:srgbClr val="FFFFFF"/>
                    </a:solidFill>
                  </a:tcPr>
                </a:tc>
                <a:tc>
                  <a:txBody>
                    <a:bodyPr wrap="square" lIns="101600" tIns="101600" rIns="101600" bIns="101600">
                      <a:noAutofit/>
                    </a:bodyPr>
                    <a:lstStyle/>
                    <a:p>
                      <a:pPr algn="ctr"/>
                      <a:r>
                        <a:rPr sz="1800" b="0">
                          <a:solidFill>
                            <a:srgbClr val="000000"/>
                          </a:solidFill>
                          <a:latin typeface="Times New Roman"/>
                          <a:ea typeface="Times New Roman"/>
                          <a:cs typeface="Times New Roman"/>
                        </a:rPr>
                        <a:t>Contract</a:t>
                      </a:r>
                    </a:p>
                    <a:p>
                      <a:pPr algn="ctr"/>
                      <a:r>
                        <a:rPr sz="1800" b="0">
                          <a:solidFill>
                            <a:srgbClr val="000000"/>
                          </a:solidFill>
                          <a:latin typeface="Times New Roman"/>
                          <a:ea typeface="Times New Roman"/>
                          <a:cs typeface="Times New Roman"/>
                        </a:rPr>
                        <a:t>advertisements</a:t>
                      </a:r>
                    </a:p>
                  </a:txBody>
                  <a:tcPr marL="91440" marR="91440" marT="45720" marB="45720" anchor="ctr">
                    <a:solidFill>
                      <a:srgbClr val="FFFFFF"/>
                    </a:solidFill>
                  </a:tcPr>
                </a:tc>
              </a:tr>
              <a:tr h="711200">
                <a:tc>
                  <a:txBody>
                    <a:bodyPr wrap="square" lIns="101600" tIns="101600" rIns="101600" bIns="101600">
                      <a:noAutofit/>
                    </a:bodyPr>
                    <a:lstStyle/>
                    <a:p>
                      <a:pPr algn="ctr"/>
                      <a:r>
                        <a:rPr sz="1800" b="1">
                          <a:solidFill>
                            <a:srgbClr val="000000"/>
                          </a:solidFill>
                          <a:latin typeface="Times New Roman"/>
                          <a:ea typeface="Times New Roman"/>
                          <a:cs typeface="Times New Roman"/>
                        </a:rPr>
                        <a:t>Market context</a:t>
                      </a:r>
                    </a:p>
                  </a:txBody>
                  <a:tcPr marL="91440" marR="91440" marT="45720" marB="45720" anchor="ctr">
                    <a:solidFill>
                      <a:srgbClr val="EAF5FB"/>
                    </a:solidFill>
                  </a:tcPr>
                </a:tc>
                <a:tc>
                  <a:txBody>
                    <a:bodyPr wrap="square" lIns="101600" tIns="101600" rIns="101600" bIns="101600">
                      <a:noAutofit/>
                    </a:bodyPr>
                    <a:lstStyle/>
                    <a:p>
                      <a:pPr algn="ctr"/>
                      <a:r>
                        <a:rPr sz="1800" b="0">
                          <a:solidFill>
                            <a:srgbClr val="000000"/>
                          </a:solidFill>
                          <a:latin typeface="Times New Roman"/>
                          <a:ea typeface="Times New Roman"/>
                          <a:cs typeface="Times New Roman"/>
                        </a:rPr>
                        <a:t>Dated ads and</a:t>
                      </a:r>
                    </a:p>
                    <a:p>
                      <a:pPr algn="ctr"/>
                      <a:r>
                        <a:rPr sz="1800" b="0">
                          <a:solidFill>
                            <a:srgbClr val="000000"/>
                          </a:solidFill>
                          <a:latin typeface="Times New Roman"/>
                          <a:ea typeface="Times New Roman"/>
                          <a:cs typeface="Times New Roman"/>
                        </a:rPr>
                        <a:t>permitted samples</a:t>
                      </a:r>
                    </a:p>
                  </a:txBody>
                  <a:tcPr marL="91440" marR="91440" marT="45720" marB="45720" anchor="ctr">
                    <a:solidFill>
                      <a:srgbClr val="E2F9EB"/>
                    </a:solidFill>
                  </a:tcPr>
                </a:tc>
                <a:tc>
                  <a:txBody>
                    <a:bodyPr wrap="square" lIns="101600" tIns="101600" rIns="101600" bIns="101600">
                      <a:noAutofit/>
                    </a:bodyPr>
                    <a:lstStyle/>
                    <a:p>
                      <a:pPr algn="ctr"/>
                      <a:r>
                        <a:rPr sz="1800" b="0">
                          <a:solidFill>
                            <a:srgbClr val="000000"/>
                          </a:solidFill>
                          <a:latin typeface="Times New Roman"/>
                          <a:ea typeface="Times New Roman"/>
                          <a:cs typeface="Times New Roman"/>
                        </a:rPr>
                        <a:t>Internal</a:t>
                      </a:r>
                    </a:p>
                    <a:p>
                      <a:pPr algn="ctr"/>
                      <a:r>
                        <a:rPr sz="1800" b="0">
                          <a:solidFill>
                            <a:srgbClr val="000000"/>
                          </a:solidFill>
                          <a:latin typeface="Times New Roman"/>
                          <a:ea typeface="Times New Roman"/>
                          <a:cs typeface="Times New Roman"/>
                        </a:rPr>
                        <a:t>compensation</a:t>
                      </a:r>
                    </a:p>
                  </a:txBody>
                  <a:tcPr marL="91440" marR="91440" marT="45720" marB="45720" anchor="ctr">
                    <a:solidFill>
                      <a:srgbClr val="FFFFFF"/>
                    </a:solidFill>
                  </a:tcPr>
                </a:tc>
                <a:tc>
                  <a:txBody>
                    <a:bodyPr wrap="square" lIns="101600" tIns="101600" rIns="101600" bIns="101600">
                      <a:noAutofit/>
                    </a:bodyPr>
                    <a:lstStyle/>
                    <a:p>
                      <a:pPr algn="ctr"/>
                      <a:r>
                        <a:rPr sz="1800" b="0">
                          <a:solidFill>
                            <a:srgbClr val="000000"/>
                          </a:solidFill>
                          <a:latin typeface="Times New Roman"/>
                          <a:ea typeface="Times New Roman"/>
                          <a:cs typeface="Times New Roman"/>
                        </a:rPr>
                        <a:t>Hiring</a:t>
                      </a:r>
                    </a:p>
                    <a:p>
                      <a:pPr algn="ctr"/>
                      <a:r>
                        <a:rPr sz="1800" b="0">
                          <a:solidFill>
                            <a:srgbClr val="000000"/>
                          </a:solidFill>
                          <a:latin typeface="Times New Roman"/>
                          <a:ea typeface="Times New Roman"/>
                          <a:cs typeface="Times New Roman"/>
                        </a:rPr>
                        <a:t>outcomes</a:t>
                      </a:r>
                    </a:p>
                  </a:txBody>
                  <a:tcPr marL="91440" marR="91440" marT="45720" marB="45720" anchor="ctr">
                    <a:solidFill>
                      <a:srgbClr val="FFFFFF"/>
                    </a:solidFill>
                  </a:tcPr>
                </a:tc>
                <a:tc>
                  <a:txBody>
                    <a:bodyPr wrap="square" lIns="101600" tIns="101600" rIns="101600" bIns="101600">
                      <a:noAutofit/>
                    </a:bodyPr>
                    <a:lstStyle/>
                    <a:p>
                      <a:pPr algn="ctr"/>
                      <a:r>
                        <a:rPr sz="1800" b="0">
                          <a:solidFill>
                            <a:srgbClr val="000000"/>
                          </a:solidFill>
                          <a:latin typeface="Times New Roman"/>
                          <a:ea typeface="Times New Roman"/>
                          <a:cs typeface="Times New Roman"/>
                        </a:rPr>
                        <a:t>Supplier</a:t>
                      </a:r>
                    </a:p>
                    <a:p>
                      <a:pPr algn="ctr"/>
                      <a:r>
                        <a:rPr sz="1800" b="0">
                          <a:solidFill>
                            <a:srgbClr val="000000"/>
                          </a:solidFill>
                          <a:latin typeface="Times New Roman"/>
                          <a:ea typeface="Times New Roman"/>
                          <a:cs typeface="Times New Roman"/>
                        </a:rPr>
                        <a:t>observations</a:t>
                      </a:r>
                    </a:p>
                  </a:txBody>
                  <a:tcPr marL="91440" marR="91440" marT="45720" marB="45720" anchor="ctr">
                    <a:solidFill>
                      <a:srgbClr val="FFFFFF"/>
                    </a:solidFill>
                  </a:tcPr>
                </a:tc>
                <a:tc>
                  <a:txBody>
                    <a:bodyPr wrap="square" lIns="101600" tIns="101600" rIns="101600" bIns="101600">
                      <a:noAutofit/>
                    </a:bodyPr>
                    <a:lstStyle/>
                    <a:p>
                      <a:pPr algn="ctr"/>
                      <a:r>
                        <a:rPr sz="1800" b="0">
                          <a:solidFill>
                            <a:srgbClr val="000000"/>
                          </a:solidFill>
                          <a:latin typeface="Times New Roman"/>
                          <a:ea typeface="Times New Roman"/>
                          <a:cs typeface="Times New Roman"/>
                        </a:rPr>
                        <a:t>Published</a:t>
                      </a:r>
                    </a:p>
                    <a:p>
                      <a:pPr algn="ctr"/>
                      <a:r>
                        <a:rPr sz="1800" b="0">
                          <a:solidFill>
                            <a:srgbClr val="000000"/>
                          </a:solidFill>
                          <a:latin typeface="Times New Roman"/>
                          <a:ea typeface="Times New Roman"/>
                          <a:cs typeface="Times New Roman"/>
                        </a:rPr>
                        <a:t>job demand</a:t>
                      </a:r>
                    </a:p>
                  </a:txBody>
                  <a:tcPr marL="91440" marR="91440" marT="45720" marB="45720" anchor="ctr">
                    <a:solidFill>
                      <a:srgbClr val="FFFFFF"/>
                    </a:solidFill>
                  </a:tcPr>
                </a:tc>
              </a:tr>
              <a:tr h="711200">
                <a:tc>
                  <a:txBody>
                    <a:bodyPr wrap="square" lIns="101600" tIns="101600" rIns="101600" bIns="101600">
                      <a:noAutofit/>
                    </a:bodyPr>
                    <a:lstStyle/>
                    <a:p>
                      <a:pPr algn="ctr"/>
                      <a:r>
                        <a:rPr sz="1800" b="1">
                          <a:solidFill>
                            <a:srgbClr val="000000"/>
                          </a:solidFill>
                          <a:latin typeface="Times New Roman"/>
                          <a:ea typeface="Times New Roman"/>
                          <a:cs typeface="Times New Roman"/>
                        </a:rPr>
                        <a:t>Delivery alternatives</a:t>
                      </a:r>
                    </a:p>
                  </a:txBody>
                  <a:tcPr marL="91440" marR="91440" marT="45720" marB="45720" anchor="ctr">
                    <a:solidFill>
                      <a:srgbClr val="EAF5FB"/>
                    </a:solidFill>
                  </a:tcPr>
                </a:tc>
                <a:tc>
                  <a:txBody>
                    <a:bodyPr wrap="square" lIns="101600" tIns="101600" rIns="101600" bIns="101600">
                      <a:noAutofit/>
                    </a:bodyPr>
                    <a:lstStyle/>
                    <a:p>
                      <a:pPr algn="ctr"/>
                      <a:r>
                        <a:rPr sz="1800" b="0">
                          <a:solidFill>
                            <a:srgbClr val="000000"/>
                          </a:solidFill>
                          <a:latin typeface="Times New Roman"/>
                          <a:ea typeface="Times New Roman"/>
                          <a:cs typeface="Times New Roman"/>
                        </a:rPr>
                        <a:t>Build, Buy, Borrow,</a:t>
                      </a:r>
                    </a:p>
                    <a:p>
                      <a:pPr algn="ctr"/>
                      <a:r>
                        <a:rPr sz="1800" b="0">
                          <a:solidFill>
                            <a:srgbClr val="000000"/>
                          </a:solidFill>
                          <a:latin typeface="Times New Roman"/>
                          <a:ea typeface="Times New Roman"/>
                          <a:cs typeface="Times New Roman"/>
                        </a:rPr>
                        <a:t>Automate, Relocate</a:t>
                      </a:r>
                    </a:p>
                  </a:txBody>
                  <a:tcPr marL="91440" marR="91440" marT="45720" marB="45720" anchor="ctr">
                    <a:solidFill>
                      <a:srgbClr val="E2F9EB"/>
                    </a:solidFill>
                  </a:tcPr>
                </a:tc>
                <a:tc>
                  <a:txBody>
                    <a:bodyPr wrap="square" lIns="101600" tIns="101600" rIns="101600" bIns="101600">
                      <a:noAutofit/>
                    </a:bodyPr>
                    <a:lstStyle/>
                    <a:p>
                      <a:pPr algn="ctr"/>
                      <a:r>
                        <a:rPr sz="1800" b="0">
                          <a:solidFill>
                            <a:srgbClr val="000000"/>
                          </a:solidFill>
                          <a:latin typeface="Times New Roman"/>
                          <a:ea typeface="Times New Roman"/>
                          <a:cs typeface="Times New Roman"/>
                        </a:rPr>
                        <a:t>Source to</a:t>
                      </a:r>
                    </a:p>
                    <a:p>
                      <a:pPr algn="ctr"/>
                      <a:r>
                        <a:rPr sz="1800" b="0">
                          <a:solidFill>
                            <a:srgbClr val="000000"/>
                          </a:solidFill>
                          <a:latin typeface="Times New Roman"/>
                          <a:ea typeface="Times New Roman"/>
                          <a:cs typeface="Times New Roman"/>
                        </a:rPr>
                        <a:t>comparison</a:t>
                      </a:r>
                    </a:p>
                  </a:txBody>
                  <a:tcPr marL="91440" marR="91440" marT="45720" marB="45720" anchor="ctr">
                    <a:solidFill>
                      <a:srgbClr val="FFFFFF"/>
                    </a:solidFill>
                  </a:tcPr>
                </a:tc>
                <a:tc>
                  <a:txBody>
                    <a:bodyPr wrap="square" lIns="101600" tIns="101600" rIns="101600" bIns="101600">
                      <a:noAutofit/>
                    </a:bodyPr>
                    <a:lstStyle/>
                    <a:p>
                      <a:pPr algn="ctr"/>
                      <a:r>
                        <a:rPr sz="1800" b="0">
                          <a:solidFill>
                            <a:srgbClr val="000000"/>
                          </a:solidFill>
                          <a:latin typeface="Times New Roman"/>
                          <a:ea typeface="Times New Roman"/>
                          <a:cs typeface="Times New Roman"/>
                        </a:rPr>
                        <a:t>External</a:t>
                      </a:r>
                    </a:p>
                    <a:p>
                      <a:pPr algn="ctr"/>
                      <a:r>
                        <a:rPr sz="1800" b="0">
                          <a:solidFill>
                            <a:srgbClr val="000000"/>
                          </a:solidFill>
                          <a:latin typeface="Times New Roman"/>
                          <a:ea typeface="Times New Roman"/>
                          <a:cs typeface="Times New Roman"/>
                        </a:rPr>
                        <a:t>hiring flow</a:t>
                      </a:r>
                    </a:p>
                  </a:txBody>
                  <a:tcPr marL="91440" marR="91440" marT="45720" marB="45720" anchor="ctr">
                    <a:solidFill>
                      <a:srgbClr val="FFFFFF"/>
                    </a:solidFill>
                  </a:tcPr>
                </a:tc>
                <a:tc>
                  <a:txBody>
                    <a:bodyPr wrap="square" lIns="101600" tIns="101600" rIns="101600" bIns="101600">
                      <a:noAutofit/>
                    </a:bodyPr>
                    <a:lstStyle/>
                    <a:p>
                      <a:pPr algn="ctr"/>
                      <a:r>
                        <a:rPr sz="1800" b="0">
                          <a:solidFill>
                            <a:srgbClr val="000000"/>
                          </a:solidFill>
                          <a:latin typeface="Times New Roman"/>
                          <a:ea typeface="Times New Roman"/>
                          <a:cs typeface="Times New Roman"/>
                        </a:rPr>
                        <a:t>Contingent</a:t>
                      </a:r>
                    </a:p>
                    <a:p>
                      <a:pPr algn="ctr"/>
                      <a:r>
                        <a:rPr sz="1800" b="0">
                          <a:solidFill>
                            <a:srgbClr val="000000"/>
                          </a:solidFill>
                          <a:latin typeface="Times New Roman"/>
                          <a:ea typeface="Times New Roman"/>
                          <a:cs typeface="Times New Roman"/>
                        </a:rPr>
                        <a:t>engagement</a:t>
                      </a:r>
                    </a:p>
                  </a:txBody>
                  <a:tcPr marL="91440" marR="91440" marT="45720" marB="45720" anchor="ctr">
                    <a:solidFill>
                      <a:srgbClr val="FFFFFF"/>
                    </a:solidFill>
                  </a:tcPr>
                </a:tc>
                <a:tc>
                  <a:txBody>
                    <a:bodyPr wrap="square" lIns="101600" tIns="101600" rIns="101600" bIns="101600">
                      <a:noAutofit/>
                    </a:bodyPr>
                    <a:lstStyle/>
                    <a:p>
                      <a:pPr algn="ctr"/>
                      <a:r>
                        <a:rPr sz="1800" b="0">
                          <a:solidFill>
                            <a:srgbClr val="000000"/>
                          </a:solidFill>
                          <a:latin typeface="Times New Roman"/>
                          <a:ea typeface="Times New Roman"/>
                          <a:cs typeface="Times New Roman"/>
                        </a:rPr>
                        <a:t>External</a:t>
                      </a:r>
                    </a:p>
                    <a:p>
                      <a:pPr algn="ctr"/>
                      <a:r>
                        <a:rPr sz="1800" b="0">
                          <a:solidFill>
                            <a:srgbClr val="000000"/>
                          </a:solidFill>
                          <a:latin typeface="Times New Roman"/>
                          <a:ea typeface="Times New Roman"/>
                          <a:cs typeface="Times New Roman"/>
                        </a:rPr>
                        <a:t>sourcing</a:t>
                      </a:r>
                    </a:p>
                  </a:txBody>
                  <a:tcPr marL="91440" marR="91440" marT="45720" marB="45720" anchor="ctr">
                    <a:solidFill>
                      <a:srgbClr val="FFFFFF"/>
                    </a:solidFill>
                  </a:tcPr>
                </a:tc>
              </a:tr>
              <a:tr h="698500">
                <a:tc>
                  <a:txBody>
                    <a:bodyPr wrap="square" lIns="101600" tIns="101600" rIns="101600" bIns="101600">
                      <a:noAutofit/>
                    </a:bodyPr>
                    <a:lstStyle/>
                    <a:p>
                      <a:pPr algn="ctr"/>
                      <a:r>
                        <a:rPr sz="1800" b="1">
                          <a:solidFill>
                            <a:srgbClr val="000000"/>
                          </a:solidFill>
                          <a:latin typeface="Times New Roman"/>
                          <a:ea typeface="Times New Roman"/>
                          <a:cs typeface="Times New Roman"/>
                        </a:rPr>
                        <a:t>Human traceability</a:t>
                      </a:r>
                    </a:p>
                  </a:txBody>
                  <a:tcPr marL="91440" marR="91440" marT="45720" marB="45720" anchor="ctr">
                    <a:solidFill>
                      <a:srgbClr val="EAF5FB"/>
                    </a:solidFill>
                  </a:tcPr>
                </a:tc>
                <a:tc>
                  <a:txBody>
                    <a:bodyPr wrap="square" lIns="101600" tIns="101600" rIns="101600" bIns="101600">
                      <a:noAutofit/>
                    </a:bodyPr>
                    <a:lstStyle/>
                    <a:p>
                      <a:pPr algn="ctr"/>
                      <a:r>
                        <a:rPr sz="1800" b="0">
                          <a:solidFill>
                            <a:srgbClr val="000000"/>
                          </a:solidFill>
                          <a:latin typeface="Times New Roman"/>
                          <a:ea typeface="Times New Roman"/>
                          <a:cs typeface="Times New Roman"/>
                        </a:rPr>
                        <a:t>Rationale, brief,</a:t>
                      </a:r>
                    </a:p>
                    <a:p>
                      <a:pPr algn="ctr"/>
                      <a:r>
                        <a:rPr sz="1800" b="0">
                          <a:solidFill>
                            <a:srgbClr val="000000"/>
                          </a:solidFill>
                          <a:latin typeface="Times New Roman"/>
                          <a:ea typeface="Times New Roman"/>
                          <a:cs typeface="Times New Roman"/>
                        </a:rPr>
                        <a:t>work and hiring history</a:t>
                      </a:r>
                    </a:p>
                  </a:txBody>
                  <a:tcPr marL="91440" marR="91440" marT="45720" marB="45720" anchor="ctr">
                    <a:solidFill>
                      <a:srgbClr val="E2F9EB"/>
                    </a:solidFill>
                  </a:tcPr>
                </a:tc>
                <a:tc>
                  <a:txBody>
                    <a:bodyPr wrap="square" lIns="101600" tIns="101600" rIns="101600" bIns="101600">
                      <a:noAutofit/>
                    </a:bodyPr>
                    <a:lstStyle/>
                    <a:p>
                      <a:pPr algn="ctr"/>
                      <a:r>
                        <a:rPr sz="1800" b="0">
                          <a:solidFill>
                            <a:srgbClr val="000000"/>
                          </a:solidFill>
                          <a:latin typeface="Times New Roman"/>
                          <a:ea typeface="Times New Roman"/>
                          <a:cs typeface="Times New Roman"/>
                        </a:rPr>
                        <a:t>System</a:t>
                      </a:r>
                    </a:p>
                    <a:p>
                      <a:pPr algn="ctr"/>
                      <a:r>
                        <a:rPr sz="1800" b="0">
                          <a:solidFill>
                            <a:srgbClr val="000000"/>
                          </a:solidFill>
                          <a:latin typeface="Times New Roman"/>
                          <a:ea typeface="Times New Roman"/>
                          <a:cs typeface="Times New Roman"/>
                        </a:rPr>
                        <a:t>dependent</a:t>
                      </a:r>
                    </a:p>
                  </a:txBody>
                  <a:tcPr marL="91440" marR="91440" marT="45720" marB="45720" anchor="ctr">
                    <a:solidFill>
                      <a:srgbClr val="FFFFFF"/>
                    </a:solidFill>
                  </a:tcPr>
                </a:tc>
                <a:tc>
                  <a:txBody>
                    <a:bodyPr wrap="square" lIns="101600" tIns="101600" rIns="101600" bIns="101600">
                      <a:noAutofit/>
                    </a:bodyPr>
                    <a:lstStyle/>
                    <a:p>
                      <a:pPr algn="ctr"/>
                      <a:r>
                        <a:rPr sz="1800" b="0">
                          <a:solidFill>
                            <a:srgbClr val="000000"/>
                          </a:solidFill>
                          <a:latin typeface="Times New Roman"/>
                          <a:ea typeface="Times New Roman"/>
                          <a:cs typeface="Times New Roman"/>
                        </a:rPr>
                        <a:t>Stage</a:t>
                      </a:r>
                    </a:p>
                    <a:p>
                      <a:pPr algn="ctr"/>
                      <a:r>
                        <a:rPr sz="1800" b="0">
                          <a:solidFill>
                            <a:srgbClr val="000000"/>
                          </a:solidFill>
                          <a:latin typeface="Times New Roman"/>
                          <a:ea typeface="Times New Roman"/>
                          <a:cs typeface="Times New Roman"/>
                        </a:rPr>
                        <a:t>history</a:t>
                      </a:r>
                    </a:p>
                  </a:txBody>
                  <a:tcPr marL="91440" marR="91440" marT="45720" marB="45720" anchor="ctr">
                    <a:solidFill>
                      <a:srgbClr val="FFFFFF"/>
                    </a:solidFill>
                  </a:tcPr>
                </a:tc>
                <a:tc>
                  <a:txBody>
                    <a:bodyPr wrap="square" lIns="101600" tIns="101600" rIns="101600" bIns="101600">
                      <a:noAutofit/>
                    </a:bodyPr>
                    <a:lstStyle/>
                    <a:p>
                      <a:pPr algn="ctr"/>
                      <a:r>
                        <a:rPr sz="1800" b="0">
                          <a:solidFill>
                            <a:srgbClr val="000000"/>
                          </a:solidFill>
                          <a:latin typeface="Times New Roman"/>
                          <a:ea typeface="Times New Roman"/>
                          <a:cs typeface="Times New Roman"/>
                        </a:rPr>
                        <a:t>Engagement</a:t>
                      </a:r>
                    </a:p>
                    <a:p>
                      <a:pPr algn="ctr"/>
                      <a:r>
                        <a:rPr sz="1800" b="0">
                          <a:solidFill>
                            <a:srgbClr val="000000"/>
                          </a:solidFill>
                          <a:latin typeface="Times New Roman"/>
                          <a:ea typeface="Times New Roman"/>
                          <a:cs typeface="Times New Roman"/>
                        </a:rPr>
                        <a:t>history</a:t>
                      </a:r>
                    </a:p>
                  </a:txBody>
                  <a:tcPr marL="91440" marR="91440" marT="45720" marB="45720" anchor="ctr">
                    <a:solidFill>
                      <a:srgbClr val="FFFFFF"/>
                    </a:solidFill>
                  </a:tcPr>
                </a:tc>
                <a:tc>
                  <a:txBody>
                    <a:bodyPr wrap="square" lIns="101600" tIns="101600" rIns="101600" bIns="101600">
                      <a:noAutofit/>
                    </a:bodyPr>
                    <a:lstStyle/>
                    <a:p>
                      <a:pPr algn="ctr"/>
                      <a:r>
                        <a:rPr sz="1800" b="0">
                          <a:solidFill>
                            <a:srgbClr val="000000"/>
                          </a:solidFill>
                          <a:latin typeface="Times New Roman"/>
                          <a:ea typeface="Times New Roman"/>
                          <a:cs typeface="Times New Roman"/>
                        </a:rPr>
                        <a:t>Posting</a:t>
                      </a:r>
                    </a:p>
                    <a:p>
                      <a:pPr algn="ctr"/>
                      <a:r>
                        <a:rPr sz="1800" b="0">
                          <a:solidFill>
                            <a:srgbClr val="000000"/>
                          </a:solidFill>
                          <a:latin typeface="Times New Roman"/>
                          <a:ea typeface="Times New Roman"/>
                          <a:cs typeface="Times New Roman"/>
                        </a:rPr>
                        <a:t>history</a:t>
                      </a:r>
                    </a:p>
                  </a:txBody>
                  <a:tcPr marL="91440" marR="91440" marT="45720" marB="45720" anchor="ctr">
                    <a:solidFill>
                      <a:srgbClr val="FFFFFF"/>
                    </a:solidFill>
                  </a:tcPr>
                </a:tc>
              </a:tr>
            </a:tbl>
          </a:graphicData>
        </a:graphic>
      </p:graphicFrame>
      <p:sp>
        <p:nvSpPr>
          <p:cNvPr id="25" name="text-473">
            <a:extLst xmlns:a="http://schemas.openxmlformats.org/drawingml/2006/main">
              <a:ext uri="{FF2B5EF4-FFF2-40B4-BE49-F238E27FC236}">
                <a16:creationId xmlns:a16="http://schemas.microsoft.com/office/drawing/2014/main" id="{B1F8D2B4-C865-4E2E-B8E6-0E0999D1BF27}"/>
              </a:ext>
            </a:extLst>
          </p:cNvPr>
          <p:cNvSpPr>
            <a:spLocks xmlns:a="http://schemas.openxmlformats.org/drawingml/2006/main" noGrp="1"/>
          </p:cNvSpPr>
          <p:nvPr/>
        </p:nvSpPr>
        <p:spPr>
          <a:xfrm xmlns:a="http://schemas.openxmlformats.org/drawingml/2006/main">
            <a:off x="5524500" y="8293100"/>
            <a:ext cx="12382500" cy="33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00" b="0" i="1">
                <a:solidFill>
                  <a:srgbClr val="000000"/>
                </a:solidFill>
                <a:latin typeface="Times New Roman"/>
                <a:ea typeface="Times New Roman"/>
                <a:cs typeface="Times New Roman"/>
              </a:defRPr>
            </a:defPPr>
          </a:lstStyle>
          <a:p xmlns:a="http://schemas.openxmlformats.org/drawingml/2006/main">
            <a:pPr algn="l">
              <a:defRPr sz="1900" b="0" i="1">
                <a:solidFill>
                  <a:srgbClr val="000000"/>
                </a:solidFill>
                <a:latin typeface="Times New Roman"/>
                <a:ea typeface="Times New Roman"/>
                <a:cs typeface="Times New Roman"/>
              </a:defRPr>
            </a:pPr>
            <a:r>
              <a:rPr sz="1900" b="0" i="1">
                <a:solidFill>
                  <a:srgbClr val="000000"/>
                </a:solidFill>
                <a:latin typeface="Times New Roman"/>
                <a:ea typeface="Times New Roman"/>
                <a:cs typeface="Times New Roman"/>
              </a:rPr>
              <a:t>Comparison describes typical system roles. Vendor capabilities vary.</a:t>
            </a:r>
          </a:p>
        </p:txBody>
      </p:sp>
      <p:sp>
        <p:nvSpPr>
          <p:cNvPr id="26" name="text-475">
            <a:extLst xmlns:a="http://schemas.openxmlformats.org/drawingml/2006/main">
              <a:ext uri="{FF2B5EF4-FFF2-40B4-BE49-F238E27FC236}">
                <a16:creationId xmlns:a16="http://schemas.microsoft.com/office/drawing/2014/main" id="{6FBBB84E-5B39-45A4-AF90-ABC2C58549A9}"/>
              </a:ext>
            </a:extLst>
          </p:cNvPr>
          <p:cNvSpPr>
            <a:spLocks xmlns:a="http://schemas.openxmlformats.org/drawingml/2006/main" noGrp="1"/>
          </p:cNvSpPr>
          <p:nvPr/>
        </p:nvSpPr>
        <p:spPr>
          <a:xfrm xmlns:a="http://schemas.openxmlformats.org/drawingml/2006/main">
            <a:off x="5524500" y="8763000"/>
            <a:ext cx="123952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i="0">
                <a:solidFill>
                  <a:srgbClr val="214E83"/>
                </a:solidFill>
                <a:latin typeface="Times New Roman"/>
                <a:ea typeface="Times New Roman"/>
                <a:cs typeface="Times New Roman"/>
              </a:defRPr>
            </a:defPPr>
          </a:lstStyle>
          <a:p xmlns:a="http://schemas.openxmlformats.org/drawingml/2006/main">
            <a:pPr algn="l">
              <a:defRPr sz="2100" b="0" i="0">
                <a:solidFill>
                  <a:srgbClr val="214E83"/>
                </a:solidFill>
                <a:latin typeface="Times New Roman"/>
                <a:ea typeface="Times New Roman"/>
                <a:cs typeface="Times New Roman"/>
              </a:defRPr>
            </a:pPr>
            <a:r>
              <a:rPr sz="2100" b="0" i="0">
                <a:solidFill>
                  <a:srgbClr val="214E83"/>
                </a:solidFill>
                <a:latin typeface="Times New Roman"/>
                <a:ea typeface="Times New Roman"/>
                <a:cs typeface="Times New Roman"/>
              </a:rPr>
              <a:t>Real reference data supports the prototype. Private workforce data needs authorization.</a:t>
            </a:r>
          </a:p>
        </p:txBody>
      </p:sp>
    </p:spTree>
    <p:extLst>
      <p:ext uri="{BB962C8B-B14F-4D97-AF65-F5344CB8AC3E}">
        <p14:creationId xmlns:p14="http://schemas.microsoft.com/office/powerpoint/2010/main" val="50907765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2026-10-08T12:17:46.8380000Z</dcterms:created>
  <dcterms:modified xsi:type="dcterms:W3CDTF">2026-10-08T12:17:46.8390000Z</dcterms:modified>
</coreProperties>
</file>