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1e630670b44875" /><Relationship Type="http://schemas.openxmlformats.org/officeDocument/2006/relationships/extended-properties" Target="/docProps/app.xml" Id="Rc158f497847844c0" /><Relationship Type="http://schemas.openxmlformats.org/officeDocument/2006/relationships/officeDocument" Target="/ppt/presentation.xml" Id="R58b742eef20b4fa3" /></Relationships>
</file>

<file path=ppt/presentation.xml><?xml version="1.0" encoding="utf-8"?>
<p:presentation xmlns:p="http://schemas.openxmlformats.org/presentationml/2006/main">
  <p:sldMasterIdLst>
    <p:sldMasterId xmlns:r="http://schemas.openxmlformats.org/officeDocument/2006/relationships" id="2147483648" r:id="Rfc1cd28b9b174a44"/>
  </p:sldMasterIdLst>
  <p:notesMasterIdLst>
    <p:notesMasterId xmlns:r="http://schemas.openxmlformats.org/officeDocument/2006/relationships" r:id="R8faa3cbcd04b4c0a"/>
  </p:notesMasterIdLst>
  <p:sldIdLst>
    <p:sldId xmlns:r="http://schemas.openxmlformats.org/officeDocument/2006/relationships" id="256" r:id="Rc4b42e38ffc04a0e"/>
    <p:sldId xmlns:r="http://schemas.openxmlformats.org/officeDocument/2006/relationships" id="257" r:id="R99a9061953af4ea5"/>
    <p:sldId xmlns:r="http://schemas.openxmlformats.org/officeDocument/2006/relationships" id="258" r:id="Rf32186d39b2a4c65"/>
    <p:sldId xmlns:r="http://schemas.openxmlformats.org/officeDocument/2006/relationships" id="259" r:id="Rc2e25a79cee14b17"/>
    <p:sldId xmlns:r="http://schemas.openxmlformats.org/officeDocument/2006/relationships" id="260" r:id="R4375e124d77f41cd"/>
    <p:sldId xmlns:r="http://schemas.openxmlformats.org/officeDocument/2006/relationships" id="261" r:id="R6007185e15b54876"/>
    <p:sldId xmlns:r="http://schemas.openxmlformats.org/officeDocument/2006/relationships" id="262" r:id="Raf056036ea6f458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046ade8c38429a" /><Relationship Type="http://schemas.openxmlformats.org/officeDocument/2006/relationships/slideMaster" Target="/ppt/slideMasters/slideMaster1.xml" Id="Rfc1cd28b9b174a44" /><Relationship Type="http://schemas.openxmlformats.org/officeDocument/2006/relationships/notesMaster" Target="/ppt/notesMasters/notesMaster1.xml" Id="R8faa3cbcd04b4c0a" /><Relationship Type="http://schemas.openxmlformats.org/officeDocument/2006/relationships/presProps" Target="/ppt/presProps.xml" Id="R5e01965962944f11" /><Relationship Type="http://schemas.openxmlformats.org/officeDocument/2006/relationships/tableStyles" Target="/ppt/tableStyles.xml" Id="R20442ae11aad4f35" /><Relationship Type="http://schemas.openxmlformats.org/officeDocument/2006/relationships/slide" Target="/ppt/slides/slide1.xml" Id="Rc4b42e38ffc04a0e" /><Relationship Type="http://schemas.openxmlformats.org/officeDocument/2006/relationships/slide" Target="/ppt/slides/slide2.xml" Id="R99a9061953af4ea5" /><Relationship Type="http://schemas.openxmlformats.org/officeDocument/2006/relationships/slide" Target="/ppt/slides/slide3.xml" Id="Rf32186d39b2a4c65" /><Relationship Type="http://schemas.openxmlformats.org/officeDocument/2006/relationships/slide" Target="/ppt/slides/slide4.xml" Id="Rc2e25a79cee14b17" /><Relationship Type="http://schemas.openxmlformats.org/officeDocument/2006/relationships/slide" Target="/ppt/slides/slide5.xml" Id="R4375e124d77f41cd" /><Relationship Type="http://schemas.openxmlformats.org/officeDocument/2006/relationships/slide" Target="/ppt/slides/slide6.xml" Id="R6007185e15b54876" /><Relationship Type="http://schemas.openxmlformats.org/officeDocument/2006/relationships/slide" Target="/ppt/slides/slide7.xml" Id="Raf056036ea6f45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162856c65546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ff181276274994" /><Relationship Type="http://schemas.openxmlformats.org/officeDocument/2006/relationships/notesMaster" Target="/ppt/notesMasters/notesMaster1.xml" Id="Re9f35de2aa9a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f96df898f941c9" /><Relationship Type="http://schemas.openxmlformats.org/officeDocument/2006/relationships/notesMaster" Target="/ppt/notesMasters/notesMaster1.xml" Id="R193faab234864c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e2dea6a7f84a0b" /><Relationship Type="http://schemas.openxmlformats.org/officeDocument/2006/relationships/notesMaster" Target="/ppt/notesMasters/notesMaster1.xml" Id="Re739c37ac8b24b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2dc896d48d452b" /><Relationship Type="http://schemas.openxmlformats.org/officeDocument/2006/relationships/notesMaster" Target="/ppt/notesMasters/notesMaster1.xml" Id="R4289eabe635643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b966ac181745e2" /><Relationship Type="http://schemas.openxmlformats.org/officeDocument/2006/relationships/notesMaster" Target="/ppt/notesMasters/notesMaster1.xml" Id="Radf106800e3248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97b94122564f6b" /><Relationship Type="http://schemas.openxmlformats.org/officeDocument/2006/relationships/notesMaster" Target="/ppt/notesMasters/notesMaster1.xml" Id="R9e3dc88ac2cf46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7fd94651604765" /><Relationship Type="http://schemas.openxmlformats.org/officeDocument/2006/relationships/notesMaster" Target="/ppt/notesMasters/notesMaster1.xml" Id="Rce1332ed08bb4b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Workforce Advisory, a Talent Decision Intelligence OS. Original brief SW-08. The project compares options before recruitment begins and retains human approval. Sources: D:/SA/docs/COMPLETION-MATRIX.md and D:/SA/docs/METHODOLOGY.md. Prototype capabilities must not be described as certified production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panels explain the problem and implementation distinctions. The bottom diagram replaces the environmental sensor network while retaining its allocated area. The software ingests mapped exports; it does not claim native Workday/SAP connectivity. See D:/SA/src/server/repository.ts, imports.ts and recruitment.ts.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reflects project code. Sources: D:/SA/src/server/db.ts, auth.ts, repository.ts, market.ts and recruitment.ts. Gemini is optional for non-confidential requirement parsing. Native enterprise execution, shared-team access and semantic vectors are future work. Saved decisions preserve historical evidence. Whole-person reservations apply to new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scalability is a proposed plan rather than a claim of customers, revenue or validated ROI. Begin with an authorized departmental pilot. Existing app isolates personal owners but does not yet implement shared-team delegation. Source: D:/SA/docs/PRESENTATION-GUIDE.md, Business scalability section, and COMPLETION-MATRIX.md.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describes implementation choices and remaining production requirements. It does not claim completed build, security, accessibility or load verification. Source: D:/SA/docs/COMPLETION-MATRIX.md. The user requested no tests during the implementation pass, so production certification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Benefits are potential outcomes, not measured impact claims. Proposed pilot metrics need a baseline and actual outcomes. Internal fill share and cost comparisons require consistent definitions. Imported performance data can encode bias, so reviewers must permit source correction and monitor disparate outcomes. Source: D:/SA/docs/PRESENTATION-GUIDE.md. No percentage savings, hiring gains or fairness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https://www.onetcenter.org/database.html and https://www.onetcenter.org/license_db.html (O*NET 31.0, CC BY 4.0, USDOL/ETA attribution); https://learn.microsoft.com/en-us/training/support/catalog-api-developer-reference; https://github.com/remotive-com/remote-jobs-api; https://developer.adzuna.com/docs/search. Local data provenance: D:/SA/data/onet/manifest.json and D:/SA/data/remote-jobs.json. The comparison is a conceptual mapping of common system roles, not an empirical vendor benchmark. Current app supports imports and local workflows, not every native vendor connector.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666e69310644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0ad105d36b48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95a438e4e441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b9fa2d45074f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6be5d4a37144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be6a0725d141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30B37-6644-42A6-BAB7-603F5A0645B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9A6CAF-FB76-4B75-8F97-2F37B012AB8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D49496-C1D3-484C-941D-8B73CD65B745}"/>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1E7A2C-1800-4C1B-AB33-86857CC48CF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1A02DF-2572-4197-A37D-86FCCC20EF0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052661-E3F7-4D29-9AE5-3CED07AF22C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9F498E-C6EF-40DD-8901-D13FAA1F643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2E50A7-F6EF-4446-A1C7-726F8DE1DE5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6C58FE-44D9-4EBB-AC26-2A132A81AAF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1679AE-044C-45AB-9313-0AE1CB22107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4778a48bee4645" /><Relationship Type="http://schemas.openxmlformats.org/officeDocument/2006/relationships/slideLayout" Target="/ppt/slideLayouts/slideLayout1.xml" Id="Re609758041324c4e" /><Relationship Type="http://schemas.openxmlformats.org/officeDocument/2006/relationships/slideLayout" Target="/ppt/slideLayouts/slideLayout2.xml" Id="R624eb31ec0474ecf" /><Relationship Type="http://schemas.openxmlformats.org/officeDocument/2006/relationships/slideLayout" Target="/ppt/slideLayouts/slideLayout3.xml" Id="R070ac99a70a84f04" /><Relationship Type="http://schemas.openxmlformats.org/officeDocument/2006/relationships/slideLayout" Target="/ppt/slideLayouts/slideLayout4.xml" Id="R5d24292abe8e4d84" /><Relationship Type="http://schemas.openxmlformats.org/officeDocument/2006/relationships/slideLayout" Target="/ppt/slideLayouts/slideLayout5.xml" Id="R13d7089342f24029" /><Relationship Type="http://schemas.openxmlformats.org/officeDocument/2006/relationships/slideLayout" Target="/ppt/slideLayouts/slideLayout6.xml" Id="R5691412d851447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09758041324c4e"/>
    <p:sldLayoutId xmlns:r="http://schemas.openxmlformats.org/officeDocument/2006/relationships" id="2147483650" r:id="R624eb31ec0474ecf"/>
    <p:sldLayoutId xmlns:r="http://schemas.openxmlformats.org/officeDocument/2006/relationships" id="2147483651" r:id="R070ac99a70a84f04"/>
    <p:sldLayoutId xmlns:r="http://schemas.openxmlformats.org/officeDocument/2006/relationships" id="2147483652" r:id="R5d24292abe8e4d84"/>
    <p:sldLayoutId xmlns:r="http://schemas.openxmlformats.org/officeDocument/2006/relationships" id="2147483653" r:id="R13d7089342f24029"/>
    <p:sldLayoutId xmlns:r="http://schemas.openxmlformats.org/officeDocument/2006/relationships" id="2147483654" r:id="R5691412d851447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95da75598a4269" /><Relationship Type="http://schemas.openxmlformats.org/officeDocument/2006/relationships/notesSlide" Target="/ppt/notesSlides/notesSlide1.xml" Id="R1ab3af6486484b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3f3941775c4625" /><Relationship Type="http://schemas.openxmlformats.org/officeDocument/2006/relationships/notesSlide" Target="/ppt/notesSlides/notesSlide2.xml" Id="R8cf1df13ba6f48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eb5c07f6e3456a" /><Relationship Type="http://schemas.openxmlformats.org/officeDocument/2006/relationships/notesSlide" Target="/ppt/notesSlides/notesSlide3.xml" Id="R5c14ebfaff7642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f0c41621634770" /><Relationship Type="http://schemas.openxmlformats.org/officeDocument/2006/relationships/notesSlide" Target="/ppt/notesSlides/notesSlide4.xml" Id="Re4d71a7687ff45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2d266c90664647" /><Relationship Type="http://schemas.openxmlformats.org/officeDocument/2006/relationships/notesSlide" Target="/ppt/notesSlides/notesSlide5.xml" Id="R6b02bfcca07447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34df93ca784cd2" /><Relationship Type="http://schemas.openxmlformats.org/officeDocument/2006/relationships/notesSlide" Target="/ppt/notesSlides/notesSlide6.xml" Id="R857125cdef364d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2a7cc3a2fa4db8" /><Relationship Type="http://schemas.openxmlformats.org/officeDocument/2006/relationships/hyperlink" Target="https://www.onetcenter.org/database.html" TargetMode="External" Id="R681a368cfa8240ea" /><Relationship Type="http://schemas.openxmlformats.org/officeDocument/2006/relationships/hyperlink" Target="https://learn.microsoft.com/en-us/training/support/catalog-api-developer-reference" TargetMode="External" Id="Rc3da8cc937304f0b" /><Relationship Type="http://schemas.openxmlformats.org/officeDocument/2006/relationships/hyperlink" Target="https://github.com/remotive-com/remote-jobs-api" TargetMode="External" Id="Ref742a34488646fe" /><Relationship Type="http://schemas.openxmlformats.org/officeDocument/2006/relationships/hyperlink" Target="https://developer.adzuna.com/docs/search" TargetMode="External" Id="R38c49227a216406a" /><Relationship Type="http://schemas.openxmlformats.org/officeDocument/2006/relationships/hyperlink" Target="https://www.onetcenter.org/license_db.html" TargetMode="External" Id="Rdbdb6a28de064e3e" /><Relationship Type="http://schemas.openxmlformats.org/officeDocument/2006/relationships/notesSlide" Target="/ppt/notesSlides/notesSlide7.xml" Id="R87277e9854ad40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E1609169-3114-4924-92F8-9B29AA4951FC}"/>
              </a:ext>
            </a:extLst>
          </p:cNvPr>
          <p:cNvSpPr>
            <a:spLocks xmlns:a="http://schemas.openxmlformats.org/drawingml/2006/main" noGrp="1"/>
          </p:cNvSpPr>
          <p:nvPr/>
        </p:nvSpPr>
        <p:spPr>
          <a:xfrm xmlns:a="http://schemas.openxmlformats.org/drawingml/2006/main">
            <a:off x="1968500" y="698500"/>
            <a:ext cx="12700000" cy="107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5700" b="1" i="0">
                <a:solidFill>
                  <a:srgbClr val="214E83"/>
                </a:solidFill>
                <a:latin typeface="Garamond"/>
                <a:ea typeface="Garamond"/>
                <a:cs typeface="Garamond"/>
              </a:defRPr>
            </a:defPPr>
          </a:lstStyle>
          <a:p xmlns:a="http://schemas.openxmlformats.org/drawingml/2006/main">
            <a:pPr algn="ctr">
              <a:defRPr sz="5700" b="1" i="0">
                <a:solidFill>
                  <a:srgbClr val="214E83"/>
                </a:solidFill>
                <a:latin typeface="Garamond"/>
                <a:ea typeface="Garamond"/>
                <a:cs typeface="Garamond"/>
              </a:defRPr>
            </a:pPr>
            <a:r>
              <a:rPr sz="5700" b="1" i="0">
                <a:solidFill>
                  <a:srgbClr val="214E83"/>
                </a:solidFill>
                <a:latin typeface="Garamond"/>
                <a:ea typeface="Garamond"/>
                <a:cs typeface="Garamond"/>
              </a:rPr>
              <a:t>KERNEL PRIME’26</a:t>
            </a:r>
          </a:p>
        </p:txBody>
      </p:sp>
      <p:sp>
        <p:nvSpPr>
          <p:cNvPr id="2" name="shape-2">
            <a:extLst xmlns:a="http://schemas.openxmlformats.org/drawingml/2006/main">
              <a:ext uri="{FF2B5EF4-FFF2-40B4-BE49-F238E27FC236}">
                <a16:creationId xmlns:a16="http://schemas.microsoft.com/office/drawing/2014/main" id="{6424E54F-A052-4A56-8264-BDFFF86610B6}"/>
              </a:ext>
            </a:extLst>
          </p:cNvPr>
          <p:cNvSpPr>
            <a:spLocks xmlns:a="http://schemas.openxmlformats.org/drawingml/2006/main" noGrp="1"/>
          </p:cNvSpPr>
          <p:nvPr/>
        </p:nvSpPr>
        <p:spPr>
          <a:xfrm xmlns:a="http://schemas.openxmlformats.org/drawingml/2006/main">
            <a:off x="14566900" y="4635500"/>
            <a:ext cx="3479800" cy="4851400"/>
          </a:xfrm>
          <a:prstGeom xmlns:a="http://schemas.openxmlformats.org/drawingml/2006/main" prst="hexagon">
            <a:avLst/>
          </a:prstGeom>
          <a:solidFill xmlns:a="http://schemas.openxmlformats.org/drawingml/2006/main">
            <a:srgbClr val="ECECEC"/>
          </a:solidFill>
          <a:ln xmlns:a="http://schemas.openxmlformats.org/drawingml/2006/main" w="0">
            <a:noFill/>
            <a:prstDash val="solid"/>
          </a:ln>
        </p:spPr>
      </p:sp>
      <p:sp>
        <p:nvSpPr>
          <p:cNvPr id="3" name="shape-3">
            <a:extLst xmlns:a="http://schemas.openxmlformats.org/drawingml/2006/main">
              <a:ext uri="{FF2B5EF4-FFF2-40B4-BE49-F238E27FC236}">
                <a16:creationId xmlns:a16="http://schemas.microsoft.com/office/drawing/2014/main" id="{C42F1426-24E0-48A8-BD54-64AE04334B49}"/>
              </a:ext>
            </a:extLst>
          </p:cNvPr>
          <p:cNvSpPr>
            <a:spLocks xmlns:a="http://schemas.openxmlformats.org/drawingml/2006/main" noGrp="1"/>
          </p:cNvSpPr>
          <p:nvPr/>
        </p:nvSpPr>
        <p:spPr>
          <a:xfrm xmlns:a="http://schemas.openxmlformats.org/drawingml/2006/main">
            <a:off x="14071600" y="4025900"/>
            <a:ext cx="1612900" cy="2070100"/>
          </a:xfrm>
          <a:prstGeom xmlns:a="http://schemas.openxmlformats.org/drawingml/2006/main" prst="hexagon">
            <a:avLst/>
          </a:prstGeom>
          <a:noFill xmlns:a="http://schemas.openxmlformats.org/drawingml/2006/main"/>
          <a:ln xmlns:a="http://schemas.openxmlformats.org/drawingml/2006/main" w="101600">
            <a:solidFill>
              <a:srgbClr val="ECECEC"/>
            </a:solidFill>
            <a:prstDash val="solid"/>
          </a:ln>
        </p:spPr>
      </p:sp>
      <p:sp>
        <p:nvSpPr>
          <p:cNvPr id="4" name="shape-4">
            <a:extLst xmlns:a="http://schemas.openxmlformats.org/drawingml/2006/main">
              <a:ext uri="{FF2B5EF4-FFF2-40B4-BE49-F238E27FC236}">
                <a16:creationId xmlns:a16="http://schemas.microsoft.com/office/drawing/2014/main" id="{91A754A6-6574-4208-914A-672ED4DBD871}"/>
              </a:ext>
            </a:extLst>
          </p:cNvPr>
          <p:cNvSpPr>
            <a:spLocks xmlns:a="http://schemas.openxmlformats.org/drawingml/2006/main" noGrp="1"/>
          </p:cNvSpPr>
          <p:nvPr/>
        </p:nvSpPr>
        <p:spPr>
          <a:xfrm xmlns:a="http://schemas.openxmlformats.org/drawingml/2006/main">
            <a:off x="13296900" y="7340600"/>
            <a:ext cx="1016000" cy="1168400"/>
          </a:xfrm>
          <a:prstGeom xmlns:a="http://schemas.openxmlformats.org/drawingml/2006/main" prst="hexagon">
            <a:avLst/>
          </a:prstGeom>
          <a:solidFill xmlns:a="http://schemas.openxmlformats.org/drawingml/2006/main">
            <a:srgbClr val="ECECEC"/>
          </a:solidFill>
          <a:ln xmlns:a="http://schemas.openxmlformats.org/drawingml/2006/main" w="0">
            <a:noFill/>
            <a:prstDash val="solid"/>
          </a:ln>
        </p:spPr>
      </p:sp>
      <p:sp>
        <p:nvSpPr>
          <p:cNvPr id="5" name="text-6">
            <a:extLst xmlns:a="http://schemas.openxmlformats.org/drawingml/2006/main">
              <a:ext uri="{FF2B5EF4-FFF2-40B4-BE49-F238E27FC236}">
                <a16:creationId xmlns:a16="http://schemas.microsoft.com/office/drawing/2014/main" id="{9BF3A9CC-E398-4ABA-8EA4-50D940346517}"/>
              </a:ext>
            </a:extLst>
          </p:cNvPr>
          <p:cNvSpPr>
            <a:spLocks xmlns:a="http://schemas.openxmlformats.org/drawingml/2006/main" noGrp="1"/>
          </p:cNvSpPr>
          <p:nvPr/>
        </p:nvSpPr>
        <p:spPr>
          <a:xfrm xmlns:a="http://schemas.openxmlformats.org/drawingml/2006/main">
            <a:off x="14947900" y="6604000"/>
            <a:ext cx="2616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900" b="1" i="0">
                <a:solidFill>
                  <a:srgbClr val="214E83"/>
                </a:solidFill>
                <a:latin typeface="Times New Roman"/>
                <a:ea typeface="Times New Roman"/>
                <a:cs typeface="Times New Roman"/>
              </a:defRPr>
            </a:defPPr>
          </a:lstStyle>
          <a:p xmlns:a="http://schemas.openxmlformats.org/drawingml/2006/main">
            <a:pPr algn="ctr">
              <a:defRPr sz="2900" b="1" i="0">
                <a:solidFill>
                  <a:srgbClr val="214E83"/>
                </a:solidFill>
                <a:latin typeface="Times New Roman"/>
                <a:ea typeface="Times New Roman"/>
                <a:cs typeface="Times New Roman"/>
              </a:defRPr>
            </a:pPr>
            <a:r>
              <a:rPr sz="2900" b="1" i="0">
                <a:solidFill>
                  <a:srgbClr val="214E83"/>
                </a:solidFill>
                <a:latin typeface="Times New Roman"/>
                <a:ea typeface="Times New Roman"/>
                <a:cs typeface="Times New Roman"/>
              </a:rPr>
              <a:t>WORKFORCE</a:t>
            </a:r>
          </a:p>
          <a:p xmlns:a="http://schemas.openxmlformats.org/drawingml/2006/main">
            <a:pPr algn="ctr">
              <a:defRPr sz="2900" b="1" i="0">
                <a:solidFill>
                  <a:srgbClr val="214E83"/>
                </a:solidFill>
                <a:latin typeface="Times New Roman"/>
                <a:ea typeface="Times New Roman"/>
                <a:cs typeface="Times New Roman"/>
              </a:defRPr>
            </a:pPr>
            <a:r>
              <a:rPr sz="2900" b="1" i="0">
                <a:solidFill>
                  <a:srgbClr val="214E83"/>
                </a:solidFill>
                <a:latin typeface="Times New Roman"/>
                <a:ea typeface="Times New Roman"/>
                <a:cs typeface="Times New Roman"/>
              </a:rPr>
              <a:t>ADVISORY</a:t>
            </a:r>
          </a:p>
        </p:txBody>
      </p:sp>
      <p:sp>
        <p:nvSpPr>
          <p:cNvPr id="6" name="text-8">
            <a:extLst xmlns:a="http://schemas.openxmlformats.org/drawingml/2006/main">
              <a:ext uri="{FF2B5EF4-FFF2-40B4-BE49-F238E27FC236}">
                <a16:creationId xmlns:a16="http://schemas.microsoft.com/office/drawing/2014/main" id="{0CDED65C-550B-4FE6-8178-E3EC123D58CD}"/>
              </a:ext>
            </a:extLst>
          </p:cNvPr>
          <p:cNvSpPr>
            <a:spLocks xmlns:a="http://schemas.openxmlformats.org/drawingml/2006/main" noGrp="1"/>
          </p:cNvSpPr>
          <p:nvPr/>
        </p:nvSpPr>
        <p:spPr>
          <a:xfrm xmlns:a="http://schemas.openxmlformats.org/drawingml/2006/main">
            <a:off x="533400" y="23368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7" name="text-10">
            <a:extLst xmlns:a="http://schemas.openxmlformats.org/drawingml/2006/main">
              <a:ext uri="{FF2B5EF4-FFF2-40B4-BE49-F238E27FC236}">
                <a16:creationId xmlns:a16="http://schemas.microsoft.com/office/drawing/2014/main" id="{603A4659-A16B-4039-863D-03BF33FE38DC}"/>
              </a:ext>
            </a:extLst>
          </p:cNvPr>
          <p:cNvSpPr>
            <a:spLocks xmlns:a="http://schemas.openxmlformats.org/drawingml/2006/main" noGrp="1"/>
          </p:cNvSpPr>
          <p:nvPr/>
        </p:nvSpPr>
        <p:spPr>
          <a:xfrm xmlns:a="http://schemas.openxmlformats.org/drawingml/2006/main">
            <a:off x="990600" y="23368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Project Title - </a:t>
            </a:r>
            <a:r>
              <a:rPr sz="3100" b="0" i="0">
                <a:solidFill>
                  <a:srgbClr val="000000"/>
                </a:solidFill>
                <a:latin typeface="Times New Roman"/>
                <a:ea typeface="Times New Roman"/>
                <a:cs typeface="Times New Roman"/>
              </a:rPr>
              <a:t>WORKFORCE ADVISORY</a:t>
            </a:r>
          </a:p>
        </p:txBody>
      </p:sp>
      <p:sp>
        <p:nvSpPr>
          <p:cNvPr id="8" name="text-12">
            <a:extLst xmlns:a="http://schemas.openxmlformats.org/drawingml/2006/main">
              <a:ext uri="{FF2B5EF4-FFF2-40B4-BE49-F238E27FC236}">
                <a16:creationId xmlns:a16="http://schemas.microsoft.com/office/drawing/2014/main" id="{636094CC-2CED-463B-A4A8-B8D3A76AD04A}"/>
              </a:ext>
            </a:extLst>
          </p:cNvPr>
          <p:cNvSpPr>
            <a:spLocks xmlns:a="http://schemas.openxmlformats.org/drawingml/2006/main" noGrp="1"/>
          </p:cNvSpPr>
          <p:nvPr/>
        </p:nvSpPr>
        <p:spPr>
          <a:xfrm xmlns:a="http://schemas.openxmlformats.org/drawingml/2006/main">
            <a:off x="533400" y="31623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9" name="text-14">
            <a:extLst xmlns:a="http://schemas.openxmlformats.org/drawingml/2006/main">
              <a:ext uri="{FF2B5EF4-FFF2-40B4-BE49-F238E27FC236}">
                <a16:creationId xmlns:a16="http://schemas.microsoft.com/office/drawing/2014/main" id="{7FF16A8C-3C2B-426E-BF62-E588AB17053C}"/>
              </a:ext>
            </a:extLst>
          </p:cNvPr>
          <p:cNvSpPr>
            <a:spLocks xmlns:a="http://schemas.openxmlformats.org/drawingml/2006/main" noGrp="1"/>
          </p:cNvSpPr>
          <p:nvPr/>
        </p:nvSpPr>
        <p:spPr>
          <a:xfrm xmlns:a="http://schemas.openxmlformats.org/drawingml/2006/main">
            <a:off x="990600" y="3162300"/>
            <a:ext cx="1289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Problem Statement - </a:t>
            </a:r>
            <a:r>
              <a:rPr sz="3100" b="0" i="0">
                <a:solidFill>
                  <a:srgbClr val="000000"/>
                </a:solidFill>
                <a:latin typeface="Times New Roman"/>
                <a:ea typeface="Times New Roman"/>
                <a:cs typeface="Times New Roman"/>
              </a:rPr>
              <a:t>Talent Decision Intelligence OS</a:t>
            </a:r>
          </a:p>
        </p:txBody>
      </p:sp>
      <p:sp>
        <p:nvSpPr>
          <p:cNvPr id="10" name="text-16">
            <a:extLst xmlns:a="http://schemas.openxmlformats.org/drawingml/2006/main">
              <a:ext uri="{FF2B5EF4-FFF2-40B4-BE49-F238E27FC236}">
                <a16:creationId xmlns:a16="http://schemas.microsoft.com/office/drawing/2014/main" id="{EBF9A0E4-5DFC-40E7-8115-EEBCC01A97D9}"/>
              </a:ext>
            </a:extLst>
          </p:cNvPr>
          <p:cNvSpPr>
            <a:spLocks xmlns:a="http://schemas.openxmlformats.org/drawingml/2006/main" noGrp="1"/>
          </p:cNvSpPr>
          <p:nvPr/>
        </p:nvSpPr>
        <p:spPr>
          <a:xfrm xmlns:a="http://schemas.openxmlformats.org/drawingml/2006/main">
            <a:off x="1016000" y="3784600"/>
            <a:ext cx="12954000" cy="252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00" b="0" i="0">
                <a:solidFill>
                  <a:srgbClr val="000000"/>
                </a:solidFill>
                <a:latin typeface="Times New Roman"/>
                <a:ea typeface="Times New Roman"/>
                <a:cs typeface="Times New Roman"/>
              </a:defRPr>
            </a:defPPr>
          </a:lstStyle>
          <a:p xmlns:a="http://schemas.openxmlformats.org/drawingml/2006/main">
            <a:pPr algn="l">
              <a:defRPr sz="2800" b="0" i="0">
                <a:solidFill>
                  <a:srgbClr val="000000"/>
                </a:solidFill>
                <a:latin typeface="Times New Roman"/>
                <a:ea typeface="Times New Roman"/>
                <a:cs typeface="Times New Roman"/>
              </a:defRPr>
            </a:pPr>
            <a:r>
              <a:rPr sz="2800" b="0" i="0">
                <a:solidFill>
                  <a:srgbClr val="000000"/>
                </a:solidFill>
                <a:latin typeface="Times New Roman"/>
                <a:ea typeface="Times New Roman"/>
                <a:cs typeface="Times New Roman"/>
              </a:rPr>
              <a:t>Talent information sits across HR, recruitment and contractor systems. Organizations often open an external requisition before checking internal skills, development paths or flexible capacity. Our project compares Build, Buy, Borrow, Automate and Relocate using available evidence, then records a human decision and the recruitment or development action.</a:t>
            </a:r>
          </a:p>
        </p:txBody>
      </p:sp>
      <p:sp>
        <p:nvSpPr>
          <p:cNvPr id="11" name="text-18">
            <a:extLst xmlns:a="http://schemas.openxmlformats.org/drawingml/2006/main">
              <a:ext uri="{FF2B5EF4-FFF2-40B4-BE49-F238E27FC236}">
                <a16:creationId xmlns:a16="http://schemas.microsoft.com/office/drawing/2014/main" id="{B9E66ECB-5E76-4D82-887F-B355DE48672E}"/>
              </a:ext>
            </a:extLst>
          </p:cNvPr>
          <p:cNvSpPr>
            <a:spLocks xmlns:a="http://schemas.openxmlformats.org/drawingml/2006/main" noGrp="1"/>
          </p:cNvSpPr>
          <p:nvPr/>
        </p:nvSpPr>
        <p:spPr>
          <a:xfrm xmlns:a="http://schemas.openxmlformats.org/drawingml/2006/main">
            <a:off x="533400" y="63754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2" name="text-20">
            <a:extLst xmlns:a="http://schemas.openxmlformats.org/drawingml/2006/main">
              <a:ext uri="{FF2B5EF4-FFF2-40B4-BE49-F238E27FC236}">
                <a16:creationId xmlns:a16="http://schemas.microsoft.com/office/drawing/2014/main" id="{A8FC0767-154F-4A0C-B4C1-670D73DED848}"/>
              </a:ext>
            </a:extLst>
          </p:cNvPr>
          <p:cNvSpPr>
            <a:spLocks xmlns:a="http://schemas.openxmlformats.org/drawingml/2006/main" noGrp="1"/>
          </p:cNvSpPr>
          <p:nvPr/>
        </p:nvSpPr>
        <p:spPr>
          <a:xfrm xmlns:a="http://schemas.openxmlformats.org/drawingml/2006/main">
            <a:off x="990600" y="63754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Theme - </a:t>
            </a:r>
            <a:r>
              <a:rPr sz="3100" b="0" i="0">
                <a:solidFill>
                  <a:srgbClr val="000000"/>
                </a:solidFill>
                <a:latin typeface="Times New Roman"/>
                <a:ea typeface="Times New Roman"/>
                <a:cs typeface="Times New Roman"/>
              </a:rPr>
              <a:t>Workforce Intelligence and Recruitment</a:t>
            </a:r>
          </a:p>
        </p:txBody>
      </p:sp>
      <p:sp>
        <p:nvSpPr>
          <p:cNvPr id="13" name="text-22">
            <a:extLst xmlns:a="http://schemas.openxmlformats.org/drawingml/2006/main">
              <a:ext uri="{FF2B5EF4-FFF2-40B4-BE49-F238E27FC236}">
                <a16:creationId xmlns:a16="http://schemas.microsoft.com/office/drawing/2014/main" id="{84C2037D-5ED7-49A3-9CE9-E759F920592F}"/>
              </a:ext>
            </a:extLst>
          </p:cNvPr>
          <p:cNvSpPr>
            <a:spLocks xmlns:a="http://schemas.openxmlformats.org/drawingml/2006/main" noGrp="1"/>
          </p:cNvSpPr>
          <p:nvPr/>
        </p:nvSpPr>
        <p:spPr>
          <a:xfrm xmlns:a="http://schemas.openxmlformats.org/drawingml/2006/main">
            <a:off x="533400" y="72390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4" name="text-24">
            <a:extLst xmlns:a="http://schemas.openxmlformats.org/drawingml/2006/main">
              <a:ext uri="{FF2B5EF4-FFF2-40B4-BE49-F238E27FC236}">
                <a16:creationId xmlns:a16="http://schemas.microsoft.com/office/drawing/2014/main" id="{3B8E02EB-2B62-4A02-AD25-A6C69E43DCE7}"/>
              </a:ext>
            </a:extLst>
          </p:cNvPr>
          <p:cNvSpPr>
            <a:spLocks xmlns:a="http://schemas.openxmlformats.org/drawingml/2006/main" noGrp="1"/>
          </p:cNvSpPr>
          <p:nvPr/>
        </p:nvSpPr>
        <p:spPr>
          <a:xfrm xmlns:a="http://schemas.openxmlformats.org/drawingml/2006/main">
            <a:off x="990600" y="72390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Category - </a:t>
            </a:r>
            <a:r>
              <a:rPr sz="3100" b="0" i="0">
                <a:solidFill>
                  <a:srgbClr val="000000"/>
                </a:solidFill>
                <a:latin typeface="Times New Roman"/>
                <a:ea typeface="Times New Roman"/>
                <a:cs typeface="Times New Roman"/>
              </a:rPr>
              <a:t>Software</a:t>
            </a:r>
          </a:p>
        </p:txBody>
      </p:sp>
      <p:sp>
        <p:nvSpPr>
          <p:cNvPr id="15" name="text-26">
            <a:extLst xmlns:a="http://schemas.openxmlformats.org/drawingml/2006/main">
              <a:ext uri="{FF2B5EF4-FFF2-40B4-BE49-F238E27FC236}">
                <a16:creationId xmlns:a16="http://schemas.microsoft.com/office/drawing/2014/main" id="{43BB5B6A-E7A7-4C49-9C9C-E95F0AE8AE43}"/>
              </a:ext>
            </a:extLst>
          </p:cNvPr>
          <p:cNvSpPr>
            <a:spLocks xmlns:a="http://schemas.openxmlformats.org/drawingml/2006/main" noGrp="1"/>
          </p:cNvSpPr>
          <p:nvPr/>
        </p:nvSpPr>
        <p:spPr>
          <a:xfrm xmlns:a="http://schemas.openxmlformats.org/drawingml/2006/main">
            <a:off x="533400" y="81026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6" name="text-28">
            <a:extLst xmlns:a="http://schemas.openxmlformats.org/drawingml/2006/main">
              <a:ext uri="{FF2B5EF4-FFF2-40B4-BE49-F238E27FC236}">
                <a16:creationId xmlns:a16="http://schemas.microsoft.com/office/drawing/2014/main" id="{67C807D8-8AE0-4264-A0F9-7B87DC0CABB0}"/>
              </a:ext>
            </a:extLst>
          </p:cNvPr>
          <p:cNvSpPr>
            <a:spLocks xmlns:a="http://schemas.openxmlformats.org/drawingml/2006/main" noGrp="1"/>
          </p:cNvSpPr>
          <p:nvPr/>
        </p:nvSpPr>
        <p:spPr>
          <a:xfrm xmlns:a="http://schemas.openxmlformats.org/drawingml/2006/main">
            <a:off x="990600" y="81026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Decision Model - </a:t>
            </a:r>
            <a:r>
              <a:rPr sz="3100" b="0" i="0">
                <a:solidFill>
                  <a:srgbClr val="000000"/>
                </a:solidFill>
                <a:latin typeface="Times New Roman"/>
                <a:ea typeface="Times New Roman"/>
                <a:cs typeface="Times New Roman"/>
              </a:rPr>
              <a:t>Build, Buy, Borrow, Automate, Relocate</a:t>
            </a:r>
          </a:p>
        </p:txBody>
      </p:sp>
      <p:sp>
        <p:nvSpPr>
          <p:cNvPr id="17" name="text-30">
            <a:extLst xmlns:a="http://schemas.openxmlformats.org/drawingml/2006/main">
              <a:ext uri="{FF2B5EF4-FFF2-40B4-BE49-F238E27FC236}">
                <a16:creationId xmlns:a16="http://schemas.microsoft.com/office/drawing/2014/main" id="{24E22B3F-7CA6-4E7B-87BB-8894446E2505}"/>
              </a:ext>
            </a:extLst>
          </p:cNvPr>
          <p:cNvSpPr>
            <a:spLocks xmlns:a="http://schemas.openxmlformats.org/drawingml/2006/main" noGrp="1"/>
          </p:cNvSpPr>
          <p:nvPr/>
        </p:nvSpPr>
        <p:spPr>
          <a:xfrm xmlns:a="http://schemas.openxmlformats.org/drawingml/2006/main">
            <a:off x="533400" y="89662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8" name="text-32">
            <a:extLst xmlns:a="http://schemas.openxmlformats.org/drawingml/2006/main">
              <a:ext uri="{FF2B5EF4-FFF2-40B4-BE49-F238E27FC236}">
                <a16:creationId xmlns:a16="http://schemas.microsoft.com/office/drawing/2014/main" id="{13628247-C262-44B3-A444-FB31EC1AAD7E}"/>
              </a:ext>
            </a:extLst>
          </p:cNvPr>
          <p:cNvSpPr>
            <a:spLocks xmlns:a="http://schemas.openxmlformats.org/drawingml/2006/main" noGrp="1"/>
          </p:cNvSpPr>
          <p:nvPr/>
        </p:nvSpPr>
        <p:spPr>
          <a:xfrm xmlns:a="http://schemas.openxmlformats.org/drawingml/2006/main">
            <a:off x="990600" y="89662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Primary Users - </a:t>
            </a:r>
            <a:r>
              <a:rPr sz="3100" b="0" i="0">
                <a:solidFill>
                  <a:srgbClr val="000000"/>
                </a:solidFill>
                <a:latin typeface="Times New Roman"/>
                <a:ea typeface="Times New Roman"/>
                <a:cs typeface="Times New Roman"/>
              </a:rPr>
              <a:t>HR teams and workforce planners</a:t>
            </a:r>
          </a:p>
        </p:txBody>
      </p:sp>
    </p:spTree>
    <p:extLst>
      <p:ext uri="{BB962C8B-B14F-4D97-AF65-F5344CB8AC3E}">
        <p14:creationId xmlns:p14="http://schemas.microsoft.com/office/powerpoint/2010/main" val="2678437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shape-33">
            <a:extLst xmlns:a="http://schemas.openxmlformats.org/drawingml/2006/main">
              <a:ext uri="{FF2B5EF4-FFF2-40B4-BE49-F238E27FC236}">
                <a16:creationId xmlns:a16="http://schemas.microsoft.com/office/drawing/2014/main" id="{C293E8CF-E962-4D57-9794-B8A1BDF656C5}"/>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35">
            <a:extLst xmlns:a="http://schemas.openxmlformats.org/drawingml/2006/main">
              <a:ext uri="{FF2B5EF4-FFF2-40B4-BE49-F238E27FC236}">
                <a16:creationId xmlns:a16="http://schemas.microsoft.com/office/drawing/2014/main" id="{E02DFF75-840A-428B-AD2B-AFD933A4C76C}"/>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7BA72BC9-A855-4D34-8EE4-08496D00CA72}"/>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IDEA TITLE</a:t>
            </a:r>
          </a:p>
        </p:txBody>
      </p:sp>
      <p:sp>
        <p:nvSpPr>
          <p:cNvPr id="4" name="text-38">
            <a:extLst xmlns:a="http://schemas.openxmlformats.org/drawingml/2006/main">
              <a:ext uri="{FF2B5EF4-FFF2-40B4-BE49-F238E27FC236}">
                <a16:creationId xmlns:a16="http://schemas.microsoft.com/office/drawing/2014/main" id="{07A2871B-8EC8-4420-AD25-84E7DC6EB01A}"/>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39">
            <a:extLst xmlns:a="http://schemas.openxmlformats.org/drawingml/2006/main">
              <a:ext uri="{FF2B5EF4-FFF2-40B4-BE49-F238E27FC236}">
                <a16:creationId xmlns:a16="http://schemas.microsoft.com/office/drawing/2014/main" id="{38476982-5224-4AC2-9466-A2C00E9F8587}"/>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41">
            <a:extLst xmlns:a="http://schemas.openxmlformats.org/drawingml/2006/main">
              <a:ext uri="{FF2B5EF4-FFF2-40B4-BE49-F238E27FC236}">
                <a16:creationId xmlns:a16="http://schemas.microsoft.com/office/drawing/2014/main" id="{8C24A8B2-9FF3-4BD1-8F0E-DBC9397AB6F7}"/>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2</a:t>
            </a:r>
          </a:p>
        </p:txBody>
      </p:sp>
      <p:sp>
        <p:nvSpPr>
          <p:cNvPr id="7" name="shape-42">
            <a:extLst xmlns:a="http://schemas.openxmlformats.org/drawingml/2006/main">
              <a:ext uri="{FF2B5EF4-FFF2-40B4-BE49-F238E27FC236}">
                <a16:creationId xmlns:a16="http://schemas.microsoft.com/office/drawing/2014/main" id="{3EB2D8A5-BD11-4F2D-96E4-1DD423EF621F}"/>
              </a:ext>
            </a:extLst>
          </p:cNvPr>
          <p:cNvSpPr>
            <a:spLocks xmlns:a="http://schemas.openxmlformats.org/drawingml/2006/main" noGrp="1"/>
          </p:cNvSpPr>
          <p:nvPr/>
        </p:nvSpPr>
        <p:spPr>
          <a:xfrm xmlns:a="http://schemas.openxmlformats.org/drawingml/2006/main">
            <a:off x="330200" y="1333500"/>
            <a:ext cx="8953500" cy="3632200"/>
          </a:xfrm>
          <a:prstGeom xmlns:a="http://schemas.openxmlformats.org/drawingml/2006/main" prst="roundRect">
            <a:avLst>
              <a:gd name="adj" fmla="val 4196"/>
            </a:avLst>
          </a:prstGeom>
          <a:solidFill xmlns:a="http://schemas.openxmlformats.org/drawingml/2006/main">
            <a:srgbClr val="E0EDF6"/>
          </a:solidFill>
          <a:ln xmlns:a="http://schemas.openxmlformats.org/drawingml/2006/main" w="17780">
            <a:solidFill>
              <a:srgbClr val="000000"/>
            </a:solidFill>
            <a:prstDash val="solid"/>
          </a:ln>
        </p:spPr>
      </p:sp>
      <p:sp>
        <p:nvSpPr>
          <p:cNvPr id="8" name="shape-43">
            <a:extLst xmlns:a="http://schemas.openxmlformats.org/drawingml/2006/main">
              <a:ext uri="{FF2B5EF4-FFF2-40B4-BE49-F238E27FC236}">
                <a16:creationId xmlns:a16="http://schemas.microsoft.com/office/drawing/2014/main" id="{BB649247-6369-4E00-991D-0E918B64AAC9}"/>
              </a:ext>
            </a:extLst>
          </p:cNvPr>
          <p:cNvSpPr>
            <a:spLocks xmlns:a="http://schemas.openxmlformats.org/drawingml/2006/main" noGrp="1"/>
          </p:cNvSpPr>
          <p:nvPr/>
        </p:nvSpPr>
        <p:spPr>
          <a:xfrm xmlns:a="http://schemas.openxmlformats.org/drawingml/2006/main">
            <a:off x="9372600" y="1333500"/>
            <a:ext cx="8597900" cy="3632200"/>
          </a:xfrm>
          <a:prstGeom xmlns:a="http://schemas.openxmlformats.org/drawingml/2006/main" prst="roundRect">
            <a:avLst>
              <a:gd name="adj" fmla="val 4196"/>
            </a:avLst>
          </a:prstGeom>
          <a:solidFill xmlns:a="http://schemas.openxmlformats.org/drawingml/2006/main">
            <a:srgbClr val="FFF8E0"/>
          </a:solidFill>
          <a:ln xmlns:a="http://schemas.openxmlformats.org/drawingml/2006/main" w="17780">
            <a:solidFill>
              <a:srgbClr val="000000"/>
            </a:solidFill>
            <a:prstDash val="solid"/>
          </a:ln>
        </p:spPr>
      </p:sp>
      <p:sp>
        <p:nvSpPr>
          <p:cNvPr id="9" name="shape-44">
            <a:extLst xmlns:a="http://schemas.openxmlformats.org/drawingml/2006/main">
              <a:ext uri="{FF2B5EF4-FFF2-40B4-BE49-F238E27FC236}">
                <a16:creationId xmlns:a16="http://schemas.microsoft.com/office/drawing/2014/main" id="{DC5AFA60-26F7-4377-98AE-CB6D8501F5B4}"/>
              </a:ext>
            </a:extLst>
          </p:cNvPr>
          <p:cNvSpPr>
            <a:spLocks xmlns:a="http://schemas.openxmlformats.org/drawingml/2006/main" noGrp="1"/>
          </p:cNvSpPr>
          <p:nvPr/>
        </p:nvSpPr>
        <p:spPr>
          <a:xfrm xmlns:a="http://schemas.openxmlformats.org/drawingml/2006/main">
            <a:off x="177800" y="5207000"/>
            <a:ext cx="17957800" cy="4381500"/>
          </a:xfrm>
          <a:prstGeom xmlns:a="http://schemas.openxmlformats.org/drawingml/2006/main" prst="roundRect">
            <a:avLst>
              <a:gd name="adj" fmla="val 3478"/>
            </a:avLst>
          </a:prstGeom>
          <a:solidFill xmlns:a="http://schemas.openxmlformats.org/drawingml/2006/main">
            <a:srgbClr val="D7EED0"/>
          </a:solidFill>
          <a:ln xmlns:a="http://schemas.openxmlformats.org/drawingml/2006/main" w="17780">
            <a:solidFill>
              <a:srgbClr val="000000"/>
            </a:solidFill>
            <a:prstDash val="solid"/>
          </a:ln>
        </p:spPr>
      </p:sp>
      <p:sp>
        <p:nvSpPr>
          <p:cNvPr id="10" name="shape-45">
            <a:extLst xmlns:a="http://schemas.openxmlformats.org/drawingml/2006/main">
              <a:ext uri="{FF2B5EF4-FFF2-40B4-BE49-F238E27FC236}">
                <a16:creationId xmlns:a16="http://schemas.microsoft.com/office/drawing/2014/main" id="{F001459D-8405-4BE1-95DD-3BF6ED42146A}"/>
              </a:ext>
            </a:extLst>
          </p:cNvPr>
          <p:cNvSpPr>
            <a:spLocks xmlns:a="http://schemas.openxmlformats.org/drawingml/2006/main" noGrp="1"/>
          </p:cNvSpPr>
          <p:nvPr/>
        </p:nvSpPr>
        <p:spPr>
          <a:xfrm xmlns:a="http://schemas.openxmlformats.org/drawingml/2006/main">
            <a:off x="673100" y="1473200"/>
            <a:ext cx="2730500" cy="457200"/>
          </a:xfrm>
          <a:prstGeom xmlns:a="http://schemas.openxmlformats.org/drawingml/2006/main" prst="roundRect">
            <a:avLst>
              <a:gd name="adj" fmla="val 27778"/>
            </a:avLst>
          </a:prstGeom>
          <a:solidFill xmlns:a="http://schemas.openxmlformats.org/drawingml/2006/main">
            <a:srgbClr val="54AFE8"/>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000000"/>
                </a:solidFill>
                <a:latin typeface="Times New Roman"/>
                <a:ea typeface="Times New Roman"/>
                <a:cs typeface="Times New Roman"/>
              </a:defRPr>
            </a:defPPr>
          </a:lstStyle>
          <a:p xmlns:a="http://schemas.openxmlformats.org/drawingml/2006/main">
            <a:pPr algn="ctr">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THE PROBLEM</a:t>
            </a:r>
          </a:p>
        </p:txBody>
      </p:sp>
      <p:sp>
        <p:nvSpPr>
          <p:cNvPr id="11" name="text-47">
            <a:extLst xmlns:a="http://schemas.openxmlformats.org/drawingml/2006/main">
              <a:ext uri="{FF2B5EF4-FFF2-40B4-BE49-F238E27FC236}">
                <a16:creationId xmlns:a16="http://schemas.microsoft.com/office/drawing/2014/main" id="{BE827B27-7C7A-491F-B80E-45AEE10BB307}"/>
              </a:ext>
            </a:extLst>
          </p:cNvPr>
          <p:cNvSpPr>
            <a:spLocks xmlns:a="http://schemas.openxmlformats.org/drawingml/2006/main" noGrp="1"/>
          </p:cNvSpPr>
          <p:nvPr/>
        </p:nvSpPr>
        <p:spPr>
          <a:xfrm xmlns:a="http://schemas.openxmlformats.org/drawingml/2006/main">
            <a:off x="584200" y="2133600"/>
            <a:ext cx="8458200" cy="1003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People, skills and hiring evidence remain scattered across HRIS, ATS, VMS, learning systems and job boards.</a:t>
            </a:r>
          </a:p>
        </p:txBody>
      </p:sp>
      <p:sp>
        <p:nvSpPr>
          <p:cNvPr id="12" name="text-49">
            <a:extLst xmlns:a="http://schemas.openxmlformats.org/drawingml/2006/main">
              <a:ext uri="{FF2B5EF4-FFF2-40B4-BE49-F238E27FC236}">
                <a16:creationId xmlns:a16="http://schemas.microsoft.com/office/drawing/2014/main" id="{5701F265-0DC7-451D-A409-38C814474BA9}"/>
              </a:ext>
            </a:extLst>
          </p:cNvPr>
          <p:cNvSpPr>
            <a:spLocks xmlns:a="http://schemas.openxmlformats.org/drawingml/2006/main" noGrp="1"/>
          </p:cNvSpPr>
          <p:nvPr/>
        </p:nvSpPr>
        <p:spPr>
          <a:xfrm xmlns:a="http://schemas.openxmlformats.org/drawingml/2006/main">
            <a:off x="774700" y="3479800"/>
            <a:ext cx="8064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00" b="0" i="0">
                <a:solidFill>
                  <a:srgbClr val="000000"/>
                </a:solidFill>
                <a:latin typeface="Times New Roman"/>
                <a:ea typeface="Times New Roman"/>
                <a:cs typeface="Times New Roman"/>
              </a:defRPr>
            </a:defPPr>
          </a:lstStyle>
          <a:p xmlns:a="http://schemas.openxmlformats.org/drawingml/2006/main">
            <a:pPr algn="ctr">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Recruiters may search externally before checking who can develop, transfer or convert from a contract role.</a:t>
            </a:r>
          </a:p>
        </p:txBody>
      </p:sp>
      <p:sp>
        <p:nvSpPr>
          <p:cNvPr id="13" name="text-51">
            <a:extLst xmlns:a="http://schemas.openxmlformats.org/drawingml/2006/main">
              <a:ext uri="{FF2B5EF4-FFF2-40B4-BE49-F238E27FC236}">
                <a16:creationId xmlns:a16="http://schemas.microsoft.com/office/drawing/2014/main" id="{D410F754-3BEA-4043-B73D-7899BE61450B}"/>
              </a:ext>
            </a:extLst>
          </p:cNvPr>
          <p:cNvSpPr>
            <a:spLocks xmlns:a="http://schemas.openxmlformats.org/drawingml/2006/main" noGrp="1"/>
          </p:cNvSpPr>
          <p:nvPr/>
        </p:nvSpPr>
        <p:spPr>
          <a:xfrm xmlns:a="http://schemas.openxmlformats.org/drawingml/2006/main">
            <a:off x="850900" y="4572000"/>
            <a:ext cx="81407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1">
                <a:solidFill>
                  <a:srgbClr val="000000"/>
                </a:solidFill>
                <a:latin typeface="Times New Roman"/>
                <a:ea typeface="Times New Roman"/>
                <a:cs typeface="Times New Roman"/>
              </a:defRPr>
            </a:defPPr>
          </a:lstStyle>
          <a:p xmlns:a="http://schemas.openxmlformats.org/drawingml/2006/main">
            <a:pPr algn="ctr">
              <a:defRPr sz="2000" b="1" i="1">
                <a:solidFill>
                  <a:srgbClr val="000000"/>
                </a:solidFill>
                <a:latin typeface="Times New Roman"/>
                <a:ea typeface="Times New Roman"/>
                <a:cs typeface="Times New Roman"/>
              </a:defRPr>
            </a:pPr>
            <a:r>
              <a:rPr sz="2000" b="1" i="1">
                <a:solidFill>
                  <a:srgbClr val="000000"/>
                </a:solidFill>
                <a:latin typeface="Times New Roman"/>
                <a:ea typeface="Times New Roman"/>
                <a:cs typeface="Times New Roman"/>
              </a:rPr>
              <a:t>The missing step is an evidence-based workforce decision.</a:t>
            </a:r>
          </a:p>
        </p:txBody>
      </p:sp>
      <p:sp>
        <p:nvSpPr>
          <p:cNvPr id="14" name="shape-52">
            <a:extLst xmlns:a="http://schemas.openxmlformats.org/drawingml/2006/main">
              <a:ext uri="{FF2B5EF4-FFF2-40B4-BE49-F238E27FC236}">
                <a16:creationId xmlns:a16="http://schemas.microsoft.com/office/drawing/2014/main" id="{EC17977C-67A9-452A-85A1-8107A7C12B84}"/>
              </a:ext>
            </a:extLst>
          </p:cNvPr>
          <p:cNvSpPr>
            <a:spLocks xmlns:a="http://schemas.openxmlformats.org/drawingml/2006/main" noGrp="1"/>
          </p:cNvSpPr>
          <p:nvPr/>
        </p:nvSpPr>
        <p:spPr>
          <a:xfrm xmlns:a="http://schemas.openxmlformats.org/drawingml/2006/main">
            <a:off x="9728200" y="1511300"/>
            <a:ext cx="5334000" cy="457200"/>
          </a:xfrm>
          <a:prstGeom xmlns:a="http://schemas.openxmlformats.org/drawingml/2006/main" prst="roundRect">
            <a:avLst>
              <a:gd name="adj" fmla="val 27778"/>
            </a:avLst>
          </a:prstGeom>
          <a:solidFill xmlns:a="http://schemas.openxmlformats.org/drawingml/2006/main">
            <a:srgbClr val="FCE7D1"/>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200" b="1">
                <a:solidFill>
                  <a:srgbClr val="000000"/>
                </a:solidFill>
                <a:latin typeface="Times New Roman"/>
                <a:ea typeface="Times New Roman"/>
                <a:cs typeface="Times New Roman"/>
              </a:defRPr>
            </a:defPPr>
          </a:lstStyle>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INNOVATION / UNIQUENESS</a:t>
            </a:r>
          </a:p>
        </p:txBody>
      </p:sp>
      <p:sp>
        <p:nvSpPr>
          <p:cNvPr id="15" name="shape-53">
            <a:extLst xmlns:a="http://schemas.openxmlformats.org/drawingml/2006/main">
              <a:ext uri="{FF2B5EF4-FFF2-40B4-BE49-F238E27FC236}">
                <a16:creationId xmlns:a16="http://schemas.microsoft.com/office/drawing/2014/main" id="{C75703C7-5610-4CBD-A4CB-E9DA6EA2BC99}"/>
              </a:ext>
            </a:extLst>
          </p:cNvPr>
          <p:cNvSpPr>
            <a:spLocks xmlns:a="http://schemas.openxmlformats.org/drawingml/2006/main" noGrp="1"/>
          </p:cNvSpPr>
          <p:nvPr/>
        </p:nvSpPr>
        <p:spPr>
          <a:xfrm xmlns:a="http://schemas.openxmlformats.org/drawingml/2006/main">
            <a:off x="9601200" y="21336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16" name="text-55">
            <a:extLst xmlns:a="http://schemas.openxmlformats.org/drawingml/2006/main">
              <a:ext uri="{FF2B5EF4-FFF2-40B4-BE49-F238E27FC236}">
                <a16:creationId xmlns:a16="http://schemas.microsoft.com/office/drawing/2014/main" id="{7863B009-3831-4E03-BEFA-3F3134D984C4}"/>
              </a:ext>
            </a:extLst>
          </p:cNvPr>
          <p:cNvSpPr>
            <a:spLocks xmlns:a="http://schemas.openxmlformats.org/drawingml/2006/main" noGrp="1"/>
          </p:cNvSpPr>
          <p:nvPr/>
        </p:nvSpPr>
        <p:spPr>
          <a:xfrm xmlns:a="http://schemas.openxmlformats.org/drawingml/2006/main">
            <a:off x="9715500" y="22352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1</a:t>
            </a:r>
          </a:p>
        </p:txBody>
      </p:sp>
      <p:sp>
        <p:nvSpPr>
          <p:cNvPr id="17" name="text-57">
            <a:extLst xmlns:a="http://schemas.openxmlformats.org/drawingml/2006/main">
              <a:ext uri="{FF2B5EF4-FFF2-40B4-BE49-F238E27FC236}">
                <a16:creationId xmlns:a16="http://schemas.microsoft.com/office/drawing/2014/main" id="{1A42B729-7840-4BD1-B4C0-5BB6767D1C84}"/>
              </a:ext>
            </a:extLst>
          </p:cNvPr>
          <p:cNvSpPr>
            <a:spLocks xmlns:a="http://schemas.openxmlformats.org/drawingml/2006/main" noGrp="1"/>
          </p:cNvSpPr>
          <p:nvPr/>
        </p:nvSpPr>
        <p:spPr>
          <a:xfrm xmlns:a="http://schemas.openxmlformats.org/drawingml/2006/main">
            <a:off x="10261600" y="21209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FIVE-OPTION COMPARISON</a:t>
            </a:r>
          </a:p>
        </p:txBody>
      </p:sp>
      <p:sp>
        <p:nvSpPr>
          <p:cNvPr id="18" name="text-59">
            <a:extLst xmlns:a="http://schemas.openxmlformats.org/drawingml/2006/main">
              <a:ext uri="{FF2B5EF4-FFF2-40B4-BE49-F238E27FC236}">
                <a16:creationId xmlns:a16="http://schemas.microsoft.com/office/drawing/2014/main" id="{E213662C-922B-48F0-861E-2205562167D2}"/>
              </a:ext>
            </a:extLst>
          </p:cNvPr>
          <p:cNvSpPr>
            <a:spLocks xmlns:a="http://schemas.openxmlformats.org/drawingml/2006/main" noGrp="1"/>
          </p:cNvSpPr>
          <p:nvPr/>
        </p:nvSpPr>
        <p:spPr>
          <a:xfrm xmlns:a="http://schemas.openxmlformats.org/drawingml/2006/main">
            <a:off x="10261600" y="27559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Compare delivery options before creating a requisition.</a:t>
            </a:r>
          </a:p>
        </p:txBody>
      </p:sp>
      <p:sp>
        <p:nvSpPr>
          <p:cNvPr id="19" name="shape-60">
            <a:extLst xmlns:a="http://schemas.openxmlformats.org/drawingml/2006/main">
              <a:ext uri="{FF2B5EF4-FFF2-40B4-BE49-F238E27FC236}">
                <a16:creationId xmlns:a16="http://schemas.microsoft.com/office/drawing/2014/main" id="{B34A8C01-13CA-4FB7-B8E9-6ED3C946FB42}"/>
              </a:ext>
            </a:extLst>
          </p:cNvPr>
          <p:cNvSpPr>
            <a:spLocks xmlns:a="http://schemas.openxmlformats.org/drawingml/2006/main" noGrp="1"/>
          </p:cNvSpPr>
          <p:nvPr/>
        </p:nvSpPr>
        <p:spPr>
          <a:xfrm xmlns:a="http://schemas.openxmlformats.org/drawingml/2006/main">
            <a:off x="9601200" y="34290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20" name="text-62">
            <a:extLst xmlns:a="http://schemas.openxmlformats.org/drawingml/2006/main">
              <a:ext uri="{FF2B5EF4-FFF2-40B4-BE49-F238E27FC236}">
                <a16:creationId xmlns:a16="http://schemas.microsoft.com/office/drawing/2014/main" id="{7814DCAA-4D13-476B-877D-D2B74F0AF428}"/>
              </a:ext>
            </a:extLst>
          </p:cNvPr>
          <p:cNvSpPr>
            <a:spLocks xmlns:a="http://schemas.openxmlformats.org/drawingml/2006/main" noGrp="1"/>
          </p:cNvSpPr>
          <p:nvPr/>
        </p:nvSpPr>
        <p:spPr>
          <a:xfrm xmlns:a="http://schemas.openxmlformats.org/drawingml/2006/main">
            <a:off x="9715500" y="35306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2</a:t>
            </a:r>
          </a:p>
        </p:txBody>
      </p:sp>
      <p:sp>
        <p:nvSpPr>
          <p:cNvPr id="21" name="text-64">
            <a:extLst xmlns:a="http://schemas.openxmlformats.org/drawingml/2006/main">
              <a:ext uri="{FF2B5EF4-FFF2-40B4-BE49-F238E27FC236}">
                <a16:creationId xmlns:a16="http://schemas.microsoft.com/office/drawing/2014/main" id="{7013A0BB-00F3-47CA-B5CE-6A39194CBD3D}"/>
              </a:ext>
            </a:extLst>
          </p:cNvPr>
          <p:cNvSpPr>
            <a:spLocks xmlns:a="http://schemas.openxmlformats.org/drawingml/2006/main" noGrp="1"/>
          </p:cNvSpPr>
          <p:nvPr/>
        </p:nvSpPr>
        <p:spPr>
          <a:xfrm xmlns:a="http://schemas.openxmlformats.org/drawingml/2006/main">
            <a:off x="10261600" y="34163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EVIDENCE AND PROVENANCE</a:t>
            </a:r>
          </a:p>
        </p:txBody>
      </p:sp>
      <p:sp>
        <p:nvSpPr>
          <p:cNvPr id="22" name="text-66">
            <a:extLst xmlns:a="http://schemas.openxmlformats.org/drawingml/2006/main">
              <a:ext uri="{FF2B5EF4-FFF2-40B4-BE49-F238E27FC236}">
                <a16:creationId xmlns:a16="http://schemas.microsoft.com/office/drawing/2014/main" id="{FBBFB124-881F-44D6-B819-10E1E20B3C74}"/>
              </a:ext>
            </a:extLst>
          </p:cNvPr>
          <p:cNvSpPr>
            <a:spLocks xmlns:a="http://schemas.openxmlformats.org/drawingml/2006/main" noGrp="1"/>
          </p:cNvSpPr>
          <p:nvPr/>
        </p:nvSpPr>
        <p:spPr>
          <a:xfrm xmlns:a="http://schemas.openxmlformats.org/drawingml/2006/main">
            <a:off x="10261600" y="40513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Retain sources, dates, skill gaps and forecast assumptions.</a:t>
            </a:r>
          </a:p>
        </p:txBody>
      </p:sp>
      <p:sp>
        <p:nvSpPr>
          <p:cNvPr id="23" name="shape-67">
            <a:extLst xmlns:a="http://schemas.openxmlformats.org/drawingml/2006/main">
              <a:ext uri="{FF2B5EF4-FFF2-40B4-BE49-F238E27FC236}">
                <a16:creationId xmlns:a16="http://schemas.microsoft.com/office/drawing/2014/main" id="{54B88C21-6C89-4AB1-8464-B6FAC8091C1C}"/>
              </a:ext>
            </a:extLst>
          </p:cNvPr>
          <p:cNvSpPr>
            <a:spLocks xmlns:a="http://schemas.openxmlformats.org/drawingml/2006/main" noGrp="1"/>
          </p:cNvSpPr>
          <p:nvPr/>
        </p:nvSpPr>
        <p:spPr>
          <a:xfrm xmlns:a="http://schemas.openxmlformats.org/drawingml/2006/main">
            <a:off x="13512800" y="21336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24" name="text-69">
            <a:extLst xmlns:a="http://schemas.openxmlformats.org/drawingml/2006/main">
              <a:ext uri="{FF2B5EF4-FFF2-40B4-BE49-F238E27FC236}">
                <a16:creationId xmlns:a16="http://schemas.microsoft.com/office/drawing/2014/main" id="{322A24D3-302B-4A25-8826-237BA0B5BA89}"/>
              </a:ext>
            </a:extLst>
          </p:cNvPr>
          <p:cNvSpPr>
            <a:spLocks xmlns:a="http://schemas.openxmlformats.org/drawingml/2006/main" noGrp="1"/>
          </p:cNvSpPr>
          <p:nvPr/>
        </p:nvSpPr>
        <p:spPr>
          <a:xfrm xmlns:a="http://schemas.openxmlformats.org/drawingml/2006/main">
            <a:off x="13627100" y="22352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3</a:t>
            </a:r>
          </a:p>
        </p:txBody>
      </p:sp>
      <p:sp>
        <p:nvSpPr>
          <p:cNvPr id="25" name="text-71">
            <a:extLst xmlns:a="http://schemas.openxmlformats.org/drawingml/2006/main">
              <a:ext uri="{FF2B5EF4-FFF2-40B4-BE49-F238E27FC236}">
                <a16:creationId xmlns:a16="http://schemas.microsoft.com/office/drawing/2014/main" id="{F9DFDBB0-8090-446B-B8C6-77FEB816034A}"/>
              </a:ext>
            </a:extLst>
          </p:cNvPr>
          <p:cNvSpPr>
            <a:spLocks xmlns:a="http://schemas.openxmlformats.org/drawingml/2006/main" noGrp="1"/>
          </p:cNvSpPr>
          <p:nvPr/>
        </p:nvSpPr>
        <p:spPr>
          <a:xfrm xmlns:a="http://schemas.openxmlformats.org/drawingml/2006/main">
            <a:off x="14173200" y="21209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CAPACITY RESERVATIONS</a:t>
            </a:r>
          </a:p>
        </p:txBody>
      </p:sp>
      <p:sp>
        <p:nvSpPr>
          <p:cNvPr id="26" name="text-73">
            <a:extLst xmlns:a="http://schemas.openxmlformats.org/drawingml/2006/main">
              <a:ext uri="{FF2B5EF4-FFF2-40B4-BE49-F238E27FC236}">
                <a16:creationId xmlns:a16="http://schemas.microsoft.com/office/drawing/2014/main" id="{68823FFF-8D00-468C-BAC9-357274AA494D}"/>
              </a:ext>
            </a:extLst>
          </p:cNvPr>
          <p:cNvSpPr>
            <a:spLocks xmlns:a="http://schemas.openxmlformats.org/drawingml/2006/main" noGrp="1"/>
          </p:cNvSpPr>
          <p:nvPr/>
        </p:nvSpPr>
        <p:spPr>
          <a:xfrm xmlns:a="http://schemas.openxmlformats.org/drawingml/2006/main">
            <a:off x="14173200" y="27559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Prevent new Build/Borrow approvals from sharing one person.</a:t>
            </a:r>
          </a:p>
        </p:txBody>
      </p:sp>
      <p:sp>
        <p:nvSpPr>
          <p:cNvPr id="27" name="shape-74">
            <a:extLst xmlns:a="http://schemas.openxmlformats.org/drawingml/2006/main">
              <a:ext uri="{FF2B5EF4-FFF2-40B4-BE49-F238E27FC236}">
                <a16:creationId xmlns:a16="http://schemas.microsoft.com/office/drawing/2014/main" id="{11DAF367-92A9-4090-8A18-A11386A3951E}"/>
              </a:ext>
            </a:extLst>
          </p:cNvPr>
          <p:cNvSpPr>
            <a:spLocks xmlns:a="http://schemas.openxmlformats.org/drawingml/2006/main" noGrp="1"/>
          </p:cNvSpPr>
          <p:nvPr/>
        </p:nvSpPr>
        <p:spPr>
          <a:xfrm xmlns:a="http://schemas.openxmlformats.org/drawingml/2006/main">
            <a:off x="13512800" y="34290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28" name="text-76">
            <a:extLst xmlns:a="http://schemas.openxmlformats.org/drawingml/2006/main">
              <a:ext uri="{FF2B5EF4-FFF2-40B4-BE49-F238E27FC236}">
                <a16:creationId xmlns:a16="http://schemas.microsoft.com/office/drawing/2014/main" id="{B9B79DA9-3FDC-427C-B692-9D48C728B624}"/>
              </a:ext>
            </a:extLst>
          </p:cNvPr>
          <p:cNvSpPr>
            <a:spLocks xmlns:a="http://schemas.openxmlformats.org/drawingml/2006/main" noGrp="1"/>
          </p:cNvSpPr>
          <p:nvPr/>
        </p:nvSpPr>
        <p:spPr>
          <a:xfrm xmlns:a="http://schemas.openxmlformats.org/drawingml/2006/main">
            <a:off x="13627100" y="35306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4</a:t>
            </a:r>
          </a:p>
        </p:txBody>
      </p:sp>
      <p:sp>
        <p:nvSpPr>
          <p:cNvPr id="29" name="text-78">
            <a:extLst xmlns:a="http://schemas.openxmlformats.org/drawingml/2006/main">
              <a:ext uri="{FF2B5EF4-FFF2-40B4-BE49-F238E27FC236}">
                <a16:creationId xmlns:a16="http://schemas.microsoft.com/office/drawing/2014/main" id="{7835008E-23F8-4377-8B3F-0745356E64FF}"/>
              </a:ext>
            </a:extLst>
          </p:cNvPr>
          <p:cNvSpPr>
            <a:spLocks xmlns:a="http://schemas.openxmlformats.org/drawingml/2006/main" noGrp="1"/>
          </p:cNvSpPr>
          <p:nvPr/>
        </p:nvSpPr>
        <p:spPr>
          <a:xfrm xmlns:a="http://schemas.openxmlformats.org/drawingml/2006/main">
            <a:off x="14173200" y="34163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HUMAN DECISION HISTORY</a:t>
            </a:r>
          </a:p>
        </p:txBody>
      </p:sp>
      <p:sp>
        <p:nvSpPr>
          <p:cNvPr id="30" name="text-80">
            <a:extLst xmlns:a="http://schemas.openxmlformats.org/drawingml/2006/main">
              <a:ext uri="{FF2B5EF4-FFF2-40B4-BE49-F238E27FC236}">
                <a16:creationId xmlns:a16="http://schemas.microsoft.com/office/drawing/2014/main" id="{E02E66C8-3F67-43C9-A01A-BBA4925E9DCF}"/>
              </a:ext>
            </a:extLst>
          </p:cNvPr>
          <p:cNvSpPr>
            <a:spLocks xmlns:a="http://schemas.openxmlformats.org/drawingml/2006/main" noGrp="1"/>
          </p:cNvSpPr>
          <p:nvPr/>
        </p:nvSpPr>
        <p:spPr>
          <a:xfrm xmlns:a="http://schemas.openxmlformats.org/drawingml/2006/main">
            <a:off x="14173200" y="40513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Record rationale, recruitment stages and accountable work.</a:t>
            </a:r>
          </a:p>
        </p:txBody>
      </p:sp>
      <p:sp>
        <p:nvSpPr>
          <p:cNvPr id="31" name="shape-81">
            <a:extLst xmlns:a="http://schemas.openxmlformats.org/drawingml/2006/main">
              <a:ext uri="{FF2B5EF4-FFF2-40B4-BE49-F238E27FC236}">
                <a16:creationId xmlns:a16="http://schemas.microsoft.com/office/drawing/2014/main" id="{37F69891-DFCA-460E-97A4-C1DEE5C5ADC0}"/>
              </a:ext>
            </a:extLst>
          </p:cNvPr>
          <p:cNvSpPr>
            <a:spLocks xmlns:a="http://schemas.openxmlformats.org/drawingml/2006/main" noGrp="1"/>
          </p:cNvSpPr>
          <p:nvPr/>
        </p:nvSpPr>
        <p:spPr>
          <a:xfrm xmlns:a="http://schemas.openxmlformats.org/drawingml/2006/main">
            <a:off x="596900" y="5384800"/>
            <a:ext cx="7327900" cy="457200"/>
          </a:xfrm>
          <a:prstGeom xmlns:a="http://schemas.openxmlformats.org/drawingml/2006/main" prst="roundRect">
            <a:avLst>
              <a:gd name="adj" fmla="val 27778"/>
            </a:avLst>
          </a:prstGeom>
          <a:solidFill xmlns:a="http://schemas.openxmlformats.org/drawingml/2006/main">
            <a:srgbClr val="7BA666"/>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000000"/>
                </a:solidFill>
                <a:latin typeface="Times New Roman"/>
                <a:ea typeface="Times New Roman"/>
                <a:cs typeface="Times New Roman"/>
              </a:defRPr>
            </a:defPPr>
          </a:lstStyle>
          <a:p xmlns:a="http://schemas.openxmlformats.org/drawingml/2006/main">
            <a:pPr algn="ctr">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PROPOSED SOLUTION: WORKFORCE ADVISORY</a:t>
            </a:r>
          </a:p>
        </p:txBody>
      </p:sp>
      <p:sp>
        <p:nvSpPr>
          <p:cNvPr id="32" name="text-83">
            <a:extLst xmlns:a="http://schemas.openxmlformats.org/drawingml/2006/main">
              <a:ext uri="{FF2B5EF4-FFF2-40B4-BE49-F238E27FC236}">
                <a16:creationId xmlns:a16="http://schemas.microsoft.com/office/drawing/2014/main" id="{9EFB50BB-946A-43BD-BAAA-8CE648236C07}"/>
              </a:ext>
            </a:extLst>
          </p:cNvPr>
          <p:cNvSpPr>
            <a:spLocks xmlns:a="http://schemas.openxmlformats.org/drawingml/2006/main" noGrp="1"/>
          </p:cNvSpPr>
          <p:nvPr/>
        </p:nvSpPr>
        <p:spPr>
          <a:xfrm xmlns:a="http://schemas.openxmlformats.org/drawingml/2006/main">
            <a:off x="419100" y="61341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Data foundation: </a:t>
            </a:r>
            <a:r>
              <a:rPr sz="2100" b="0" i="0">
                <a:solidFill>
                  <a:srgbClr val="000000"/>
                </a:solidFill>
                <a:latin typeface="Times New Roman"/>
                <a:ea typeface="Times New Roman"/>
                <a:cs typeface="Times New Roman"/>
              </a:rPr>
              <a:t>Import authorized people and assessments, with official O*NET role and skill references.</a:t>
            </a:r>
          </a:p>
        </p:txBody>
      </p:sp>
      <p:sp>
        <p:nvSpPr>
          <p:cNvPr id="33" name="text-85">
            <a:extLst xmlns:a="http://schemas.openxmlformats.org/drawingml/2006/main">
              <a:ext uri="{FF2B5EF4-FFF2-40B4-BE49-F238E27FC236}">
                <a16:creationId xmlns:a16="http://schemas.microsoft.com/office/drawing/2014/main" id="{B4FFE231-234C-48E0-8631-E3E2AA5ADCEB}"/>
              </a:ext>
            </a:extLst>
          </p:cNvPr>
          <p:cNvSpPr>
            <a:spLocks xmlns:a="http://schemas.openxmlformats.org/drawingml/2006/main" noGrp="1"/>
          </p:cNvSpPr>
          <p:nvPr/>
        </p:nvSpPr>
        <p:spPr>
          <a:xfrm xmlns:a="http://schemas.openxmlformats.org/drawingml/2006/main">
            <a:off x="419100" y="69342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Decision analysis: </a:t>
            </a:r>
            <a:r>
              <a:rPr sz="2100" b="0" i="0">
                <a:solidFill>
                  <a:srgbClr val="000000"/>
                </a:solidFill>
                <a:latin typeface="Times New Roman"/>
                <a:ea typeface="Times New Roman"/>
                <a:cs typeface="Times New Roman"/>
              </a:rPr>
              <a:t>Compare skill readiness, cost, time, location and available capacity.</a:t>
            </a:r>
          </a:p>
        </p:txBody>
      </p:sp>
      <p:sp>
        <p:nvSpPr>
          <p:cNvPr id="34" name="text-87">
            <a:extLst xmlns:a="http://schemas.openxmlformats.org/drawingml/2006/main">
              <a:ext uri="{FF2B5EF4-FFF2-40B4-BE49-F238E27FC236}">
                <a16:creationId xmlns:a16="http://schemas.microsoft.com/office/drawing/2014/main" id="{914EA9AB-D17A-42FA-8919-17AD75D0281C}"/>
              </a:ext>
            </a:extLst>
          </p:cNvPr>
          <p:cNvSpPr>
            <a:spLocks xmlns:a="http://schemas.openxmlformats.org/drawingml/2006/main" noGrp="1"/>
          </p:cNvSpPr>
          <p:nvPr/>
        </p:nvSpPr>
        <p:spPr>
          <a:xfrm xmlns:a="http://schemas.openxmlformats.org/drawingml/2006/main">
            <a:off x="419100" y="77343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Market context: </a:t>
            </a:r>
            <a:r>
              <a:rPr sz="2100" b="0" i="0">
                <a:solidFill>
                  <a:srgbClr val="000000"/>
                </a:solidFill>
                <a:latin typeface="Times New Roman"/>
                <a:ea typeface="Times New Roman"/>
                <a:cs typeface="Times New Roman"/>
              </a:rPr>
              <a:t>Inspect real job advertisements and permitted compensation samples.</a:t>
            </a:r>
          </a:p>
        </p:txBody>
      </p:sp>
      <p:sp>
        <p:nvSpPr>
          <p:cNvPr id="35" name="text-89">
            <a:extLst xmlns:a="http://schemas.openxmlformats.org/drawingml/2006/main">
              <a:ext uri="{FF2B5EF4-FFF2-40B4-BE49-F238E27FC236}">
                <a16:creationId xmlns:a16="http://schemas.microsoft.com/office/drawing/2014/main" id="{CC18E1F0-8509-47E8-893A-3A0BA49CF26E}"/>
              </a:ext>
            </a:extLst>
          </p:cNvPr>
          <p:cNvSpPr>
            <a:spLocks xmlns:a="http://schemas.openxmlformats.org/drawingml/2006/main" noGrp="1"/>
          </p:cNvSpPr>
          <p:nvPr/>
        </p:nvSpPr>
        <p:spPr>
          <a:xfrm xmlns:a="http://schemas.openxmlformats.org/drawingml/2006/main">
            <a:off x="419100" y="85344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Human follow-through: </a:t>
            </a:r>
            <a:r>
              <a:rPr sz="2100" b="0" i="0">
                <a:solidFill>
                  <a:srgbClr val="000000"/>
                </a:solidFill>
                <a:latin typeface="Times New Roman"/>
                <a:ea typeface="Times New Roman"/>
                <a:cs typeface="Times New Roman"/>
              </a:rPr>
              <a:t>Approve a plan, reserve talent and track recruitment or development.</a:t>
            </a:r>
          </a:p>
        </p:txBody>
      </p:sp>
      <p:sp>
        <p:nvSpPr>
          <p:cNvPr id="36" name="shape-90">
            <a:extLst xmlns:a="http://schemas.openxmlformats.org/drawingml/2006/main">
              <a:ext uri="{FF2B5EF4-FFF2-40B4-BE49-F238E27FC236}">
                <a16:creationId xmlns:a16="http://schemas.microsoft.com/office/drawing/2014/main" id="{838A3FCB-2CA2-4632-9FB9-FB85ACA45AAE}"/>
              </a:ext>
            </a:extLst>
          </p:cNvPr>
          <p:cNvSpPr>
            <a:spLocks xmlns:a="http://schemas.openxmlformats.org/drawingml/2006/main" noGrp="1"/>
          </p:cNvSpPr>
          <p:nvPr/>
        </p:nvSpPr>
        <p:spPr>
          <a:xfrm xmlns:a="http://schemas.openxmlformats.org/drawingml/2006/main">
            <a:off x="8750300" y="6007100"/>
            <a:ext cx="24638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700" b="0">
                <a:solidFill>
                  <a:srgbClr val="000000"/>
                </a:solidFill>
                <a:latin typeface="Times New Roman"/>
                <a:ea typeface="Times New Roman"/>
                <a:cs typeface="Times New Roman"/>
              </a:defRPr>
            </a:defPPr>
          </a:lstStyle>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HRIS / ATS / VMS</a:t>
            </a:r>
          </a:p>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Authorized exports</a:t>
            </a:r>
          </a:p>
        </p:txBody>
      </p:sp>
      <p:sp>
        <p:nvSpPr>
          <p:cNvPr id="37" name="shape-91">
            <a:extLst xmlns:a="http://schemas.openxmlformats.org/drawingml/2006/main">
              <a:ext uri="{FF2B5EF4-FFF2-40B4-BE49-F238E27FC236}">
                <a16:creationId xmlns:a16="http://schemas.microsoft.com/office/drawing/2014/main" id="{3402A422-BC48-48ED-BEA2-EC54CC2E0853}"/>
              </a:ext>
            </a:extLst>
          </p:cNvPr>
          <p:cNvSpPr>
            <a:spLocks xmlns:a="http://schemas.openxmlformats.org/drawingml/2006/main" noGrp="1"/>
          </p:cNvSpPr>
          <p:nvPr/>
        </p:nvSpPr>
        <p:spPr>
          <a:xfrm xmlns:a="http://schemas.openxmlformats.org/drawingml/2006/main">
            <a:off x="8750300" y="7899400"/>
            <a:ext cx="24638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700" b="0">
                <a:solidFill>
                  <a:srgbClr val="000000"/>
                </a:solidFill>
                <a:latin typeface="Times New Roman"/>
                <a:ea typeface="Times New Roman"/>
                <a:cs typeface="Times New Roman"/>
              </a:defRPr>
            </a:defPPr>
          </a:lstStyle>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O*NET / Learn</a:t>
            </a:r>
          </a:p>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Market observations</a:t>
            </a:r>
          </a:p>
        </p:txBody>
      </p:sp>
      <p:sp>
        <p:nvSpPr>
          <p:cNvPr id="38" name="shape-92">
            <a:extLst xmlns:a="http://schemas.openxmlformats.org/drawingml/2006/main">
              <a:ext uri="{FF2B5EF4-FFF2-40B4-BE49-F238E27FC236}">
                <a16:creationId xmlns:a16="http://schemas.microsoft.com/office/drawing/2014/main" id="{365D0851-D032-4CB1-B746-DDB1C60B73FF}"/>
              </a:ext>
            </a:extLst>
          </p:cNvPr>
          <p:cNvSpPr>
            <a:spLocks xmlns:a="http://schemas.openxmlformats.org/drawingml/2006/main" noGrp="1"/>
          </p:cNvSpPr>
          <p:nvPr/>
        </p:nvSpPr>
        <p:spPr>
          <a:xfrm xmlns:a="http://schemas.openxmlformats.org/drawingml/2006/main">
            <a:off x="11760200" y="6883400"/>
            <a:ext cx="2794000" cy="1041400"/>
          </a:xfrm>
          <a:prstGeom xmlns:a="http://schemas.openxmlformats.org/drawingml/2006/main" prst="roundRect">
            <a:avLst>
              <a:gd name="adj" fmla="val 14634"/>
            </a:avLst>
          </a:prstGeom>
          <a:solidFill xmlns:a="http://schemas.openxmlformats.org/drawingml/2006/main">
            <a:srgbClr val="E0EDF6"/>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1">
                <a:solidFill>
                  <a:srgbClr val="000000"/>
                </a:solidFill>
                <a:latin typeface="Times New Roman"/>
                <a:ea typeface="Times New Roman"/>
                <a:cs typeface="Times New Roman"/>
              </a:defRPr>
            </a:defPPr>
          </a:lstStyle>
          <a:p xmlns:a="http://schemas.openxmlformats.org/drawingml/2006/main">
            <a:pPr algn="ctr">
              <a:defRPr sz="1900" b="1">
                <a:solidFill>
                  <a:srgbClr val="000000"/>
                </a:solidFill>
                <a:latin typeface="Times New Roman"/>
                <a:ea typeface="Times New Roman"/>
                <a:cs typeface="Times New Roman"/>
              </a:defRPr>
            </a:pPr>
            <a:r>
              <a:rPr sz="1900" b="1">
                <a:solidFill>
                  <a:srgbClr val="000000"/>
                </a:solidFill>
                <a:latin typeface="Times New Roman"/>
                <a:ea typeface="Times New Roman"/>
                <a:cs typeface="Times New Roman"/>
              </a:rPr>
              <a:t>WORKFORCE</a:t>
            </a:r>
          </a:p>
          <a:p xmlns:a="http://schemas.openxmlformats.org/drawingml/2006/main">
            <a:pPr algn="ctr">
              <a:defRPr sz="1900" b="1">
                <a:solidFill>
                  <a:srgbClr val="000000"/>
                </a:solidFill>
                <a:latin typeface="Times New Roman"/>
                <a:ea typeface="Times New Roman"/>
                <a:cs typeface="Times New Roman"/>
              </a:defRPr>
            </a:pPr>
            <a:r>
              <a:rPr sz="1900" b="1">
                <a:solidFill>
                  <a:srgbClr val="000000"/>
                </a:solidFill>
                <a:latin typeface="Times New Roman"/>
                <a:ea typeface="Times New Roman"/>
                <a:cs typeface="Times New Roman"/>
              </a:rPr>
              <a:t>DECISION ENGINE</a:t>
            </a:r>
          </a:p>
        </p:txBody>
      </p:sp>
      <p:sp>
        <p:nvSpPr>
          <p:cNvPr id="39" name="shape-93">
            <a:extLst xmlns:a="http://schemas.openxmlformats.org/drawingml/2006/main">
              <a:ext uri="{FF2B5EF4-FFF2-40B4-BE49-F238E27FC236}">
                <a16:creationId xmlns:a16="http://schemas.microsoft.com/office/drawing/2014/main" id="{9D9C93FA-457B-458B-9E10-C881E3E6B791}"/>
              </a:ext>
            </a:extLst>
          </p:cNvPr>
          <p:cNvSpPr>
            <a:spLocks xmlns:a="http://schemas.openxmlformats.org/drawingml/2006/main" noGrp="1"/>
          </p:cNvSpPr>
          <p:nvPr/>
        </p:nvSpPr>
        <p:spPr>
          <a:xfrm xmlns:a="http://schemas.openxmlformats.org/drawingml/2006/main">
            <a:off x="15468600" y="5994400"/>
            <a:ext cx="2159000" cy="927100"/>
          </a:xfrm>
          <a:prstGeom xmlns:a="http://schemas.openxmlformats.org/drawingml/2006/main" prst="roundRect">
            <a:avLst>
              <a:gd name="adj" fmla="val 16438"/>
            </a:avLst>
          </a:prstGeom>
          <a:solidFill xmlns:a="http://schemas.openxmlformats.org/drawingml/2006/main">
            <a:srgbClr val="FFF8E0"/>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1">
                <a:solidFill>
                  <a:srgbClr val="000000"/>
                </a:solidFill>
                <a:latin typeface="Times New Roman"/>
                <a:ea typeface="Times New Roman"/>
                <a:cs typeface="Times New Roman"/>
              </a:defRPr>
            </a:defPPr>
          </a:lstStyle>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HUMAN</a:t>
            </a:r>
          </a:p>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APPROVAL</a:t>
            </a:r>
          </a:p>
        </p:txBody>
      </p:sp>
      <p:sp>
        <p:nvSpPr>
          <p:cNvPr id="40" name="shape-94">
            <a:extLst xmlns:a="http://schemas.openxmlformats.org/drawingml/2006/main">
              <a:ext uri="{FF2B5EF4-FFF2-40B4-BE49-F238E27FC236}">
                <a16:creationId xmlns:a16="http://schemas.microsoft.com/office/drawing/2014/main" id="{E4DB28D8-6965-436B-924A-1852BDC21B5C}"/>
              </a:ext>
            </a:extLst>
          </p:cNvPr>
          <p:cNvSpPr>
            <a:spLocks xmlns:a="http://schemas.openxmlformats.org/drawingml/2006/main" noGrp="1"/>
          </p:cNvSpPr>
          <p:nvPr/>
        </p:nvSpPr>
        <p:spPr>
          <a:xfrm xmlns:a="http://schemas.openxmlformats.org/drawingml/2006/main">
            <a:off x="15240000" y="8128000"/>
            <a:ext cx="2578100" cy="927100"/>
          </a:xfrm>
          <a:prstGeom xmlns:a="http://schemas.openxmlformats.org/drawingml/2006/main" prst="roundRect">
            <a:avLst>
              <a:gd name="adj" fmla="val 16438"/>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700" b="1">
                <a:solidFill>
                  <a:srgbClr val="000000"/>
                </a:solidFill>
                <a:latin typeface="Times New Roman"/>
                <a:ea typeface="Times New Roman"/>
                <a:cs typeface="Times New Roman"/>
              </a:defRPr>
            </a:defPPr>
          </a:lstStyle>
          <a:p xmlns:a="http://schemas.openxmlformats.org/drawingml/2006/main">
            <a:pPr algn="ctr">
              <a:defRPr sz="1700" b="1">
                <a:solidFill>
                  <a:srgbClr val="000000"/>
                </a:solidFill>
                <a:latin typeface="Times New Roman"/>
                <a:ea typeface="Times New Roman"/>
                <a:cs typeface="Times New Roman"/>
              </a:defRPr>
            </a:pPr>
            <a:r>
              <a:rPr sz="1700" b="1">
                <a:solidFill>
                  <a:srgbClr val="000000"/>
                </a:solidFill>
                <a:latin typeface="Times New Roman"/>
                <a:ea typeface="Times New Roman"/>
                <a:cs typeface="Times New Roman"/>
              </a:rPr>
              <a:t>RECRUITMENT</a:t>
            </a:r>
          </a:p>
          <a:p xmlns:a="http://schemas.openxmlformats.org/drawingml/2006/main">
            <a:pPr algn="ctr">
              <a:defRPr sz="1700" b="1">
                <a:solidFill>
                  <a:srgbClr val="000000"/>
                </a:solidFill>
                <a:latin typeface="Times New Roman"/>
                <a:ea typeface="Times New Roman"/>
                <a:cs typeface="Times New Roman"/>
              </a:defRPr>
            </a:pPr>
            <a:r>
              <a:rPr sz="1700" b="1">
                <a:solidFill>
                  <a:srgbClr val="000000"/>
                </a:solidFill>
                <a:latin typeface="Times New Roman"/>
                <a:ea typeface="Times New Roman"/>
                <a:cs typeface="Times New Roman"/>
              </a:rPr>
              <a:t>DEVELOPMENT</a:t>
            </a:r>
          </a:p>
        </p:txBody>
      </p:sp>
      <p:cxnSp>
        <p:nvCxnSpPr>
          <p:cNvPr id="41" name="">
            <a:extLst xmlns:a="http://schemas.openxmlformats.org/drawingml/2006/main">
              <a:ext uri="{FF2B5EF4-FFF2-40B4-BE49-F238E27FC236}">
                <a16:creationId xmlns:a16="http://schemas.microsoft.com/office/drawing/2014/main" id="{5D47600C-4F72-4852-8268-A4D0392BE01F}"/>
              </a:ext>
            </a:extLst>
          </p:cNvPr>
          <p:cNvCxnSpPr/>
          <p:nvPr/>
        </p:nvCxnSpPr>
        <p:spPr>
          <a:xfrm xmlns:a="http://schemas.openxmlformats.org/drawingml/2006/main" flipH="0" flipV="0">
            <a:off x="11214100" y="6464300"/>
            <a:ext cx="546100" cy="93980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cxnSp>
        <p:nvCxnSpPr>
          <p:cNvPr id="42" name="">
            <a:extLst xmlns:a="http://schemas.openxmlformats.org/drawingml/2006/main">
              <a:ext uri="{FF2B5EF4-FFF2-40B4-BE49-F238E27FC236}">
                <a16:creationId xmlns:a16="http://schemas.microsoft.com/office/drawing/2014/main" id="{00E1F4EC-80B8-408E-8C2A-E44E2C9A6A56}"/>
              </a:ext>
            </a:extLst>
          </p:cNvPr>
          <p:cNvCxnSpPr/>
          <p:nvPr/>
        </p:nvCxnSpPr>
        <p:spPr>
          <a:xfrm xmlns:a="http://schemas.openxmlformats.org/drawingml/2006/main" flipH="0" flipV="1">
            <a:off x="11214100" y="7404100"/>
            <a:ext cx="546100" cy="95250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cxnSp>
        <p:nvCxnSpPr>
          <p:cNvPr id="43" name="">
            <a:extLst xmlns:a="http://schemas.openxmlformats.org/drawingml/2006/main">
              <a:ext uri="{FF2B5EF4-FFF2-40B4-BE49-F238E27FC236}">
                <a16:creationId xmlns:a16="http://schemas.microsoft.com/office/drawing/2014/main" id="{C956C201-51CC-4006-B999-644007FD21E1}"/>
              </a:ext>
            </a:extLst>
          </p:cNvPr>
          <p:cNvCxnSpPr/>
          <p:nvPr/>
        </p:nvCxnSpPr>
        <p:spPr>
          <a:xfrm xmlns:a="http://schemas.openxmlformats.org/drawingml/2006/main" flipH="0" flipV="1">
            <a:off x="14554200" y="6457950"/>
            <a:ext cx="914400" cy="94615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cxnSp>
        <p:nvCxnSpPr>
          <p:cNvPr id="44" name="">
            <a:extLst xmlns:a="http://schemas.openxmlformats.org/drawingml/2006/main">
              <a:ext uri="{FF2B5EF4-FFF2-40B4-BE49-F238E27FC236}">
                <a16:creationId xmlns:a16="http://schemas.microsoft.com/office/drawing/2014/main" id="{423FB19F-CF27-4297-BAA1-6B3946251441}"/>
              </a:ext>
            </a:extLst>
          </p:cNvPr>
          <p:cNvCxnSpPr/>
          <p:nvPr/>
        </p:nvCxnSpPr>
        <p:spPr>
          <a:xfrm xmlns:a="http://schemas.openxmlformats.org/drawingml/2006/main" flipH="1" flipV="0">
            <a:off x="16529050" y="6921500"/>
            <a:ext cx="19050" cy="120650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sp>
        <p:nvSpPr>
          <p:cNvPr id="45" name="text-96">
            <a:extLst xmlns:a="http://schemas.openxmlformats.org/drawingml/2006/main">
              <a:ext uri="{FF2B5EF4-FFF2-40B4-BE49-F238E27FC236}">
                <a16:creationId xmlns:a16="http://schemas.microsoft.com/office/drawing/2014/main" id="{EAE6278D-01BB-4B56-A889-058ABB811777}"/>
              </a:ext>
            </a:extLst>
          </p:cNvPr>
          <p:cNvSpPr>
            <a:spLocks xmlns:a="http://schemas.openxmlformats.org/drawingml/2006/main" noGrp="1"/>
          </p:cNvSpPr>
          <p:nvPr/>
        </p:nvSpPr>
        <p:spPr>
          <a:xfrm xmlns:a="http://schemas.openxmlformats.org/drawingml/2006/main">
            <a:off x="11290300" y="9207500"/>
            <a:ext cx="62103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0" i="1">
                <a:solidFill>
                  <a:srgbClr val="000000"/>
                </a:solidFill>
                <a:latin typeface="Times New Roman"/>
                <a:ea typeface="Times New Roman"/>
                <a:cs typeface="Times New Roman"/>
              </a:defRPr>
            </a:defPPr>
          </a:lstStyle>
          <a:p xmlns:a="http://schemas.openxmlformats.org/drawingml/2006/main">
            <a:pPr algn="ctr">
              <a:defRPr sz="1600" b="0" i="1">
                <a:solidFill>
                  <a:srgbClr val="000000"/>
                </a:solidFill>
                <a:latin typeface="Times New Roman"/>
                <a:ea typeface="Times New Roman"/>
                <a:cs typeface="Times New Roman"/>
              </a:defRPr>
            </a:pPr>
            <a:r>
              <a:rPr sz="1600" b="0" i="1">
                <a:solidFill>
                  <a:srgbClr val="000000"/>
                </a:solidFill>
                <a:latin typeface="Times New Roman"/>
                <a:ea typeface="Times New Roman"/>
                <a:cs typeface="Times New Roman"/>
              </a:rPr>
              <a:t>Sources support the decision. People retain authority.</a:t>
            </a:r>
          </a:p>
        </p:txBody>
      </p:sp>
    </p:spTree>
    <p:extLst>
      <p:ext uri="{BB962C8B-B14F-4D97-AF65-F5344CB8AC3E}">
        <p14:creationId xmlns:p14="http://schemas.microsoft.com/office/powerpoint/2010/main" val="20809920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shape-97">
            <a:extLst xmlns:a="http://schemas.openxmlformats.org/drawingml/2006/main">
              <a:ext uri="{FF2B5EF4-FFF2-40B4-BE49-F238E27FC236}">
                <a16:creationId xmlns:a16="http://schemas.microsoft.com/office/drawing/2014/main" id="{8DBC7B23-66C2-4883-B25D-F7C3DF0F1AE2}"/>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99">
            <a:extLst xmlns:a="http://schemas.openxmlformats.org/drawingml/2006/main">
              <a:ext uri="{FF2B5EF4-FFF2-40B4-BE49-F238E27FC236}">
                <a16:creationId xmlns:a16="http://schemas.microsoft.com/office/drawing/2014/main" id="{4C66359C-1CE5-4BE6-B1D6-550971B8F8F4}"/>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D4A1E1FD-BFD6-456E-A77E-E4CBE2E04FB8}"/>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TECHNICAL APPROACH</a:t>
            </a:r>
          </a:p>
        </p:txBody>
      </p:sp>
      <p:sp>
        <p:nvSpPr>
          <p:cNvPr id="4" name="text-102">
            <a:extLst xmlns:a="http://schemas.openxmlformats.org/drawingml/2006/main">
              <a:ext uri="{FF2B5EF4-FFF2-40B4-BE49-F238E27FC236}">
                <a16:creationId xmlns:a16="http://schemas.microsoft.com/office/drawing/2014/main" id="{6FCBA903-ADC1-41B4-8572-7CCEFBFF24AC}"/>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103">
            <a:extLst xmlns:a="http://schemas.openxmlformats.org/drawingml/2006/main">
              <a:ext uri="{FF2B5EF4-FFF2-40B4-BE49-F238E27FC236}">
                <a16:creationId xmlns:a16="http://schemas.microsoft.com/office/drawing/2014/main" id="{FE5A72A7-2780-4609-BBAB-7A8C3AB32EA1}"/>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105">
            <a:extLst xmlns:a="http://schemas.openxmlformats.org/drawingml/2006/main">
              <a:ext uri="{FF2B5EF4-FFF2-40B4-BE49-F238E27FC236}">
                <a16:creationId xmlns:a16="http://schemas.microsoft.com/office/drawing/2014/main" id="{3B7FD26D-B0CB-4D18-8B8C-3F9F99080298}"/>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3</a:t>
            </a:r>
          </a:p>
        </p:txBody>
      </p:sp>
      <p:sp>
        <p:nvSpPr>
          <p:cNvPr id="7" name="shape-106">
            <a:extLst xmlns:a="http://schemas.openxmlformats.org/drawingml/2006/main">
              <a:ext uri="{FF2B5EF4-FFF2-40B4-BE49-F238E27FC236}">
                <a16:creationId xmlns:a16="http://schemas.microsoft.com/office/drawing/2014/main" id="{D8AF12F2-A418-4FE4-9BB6-5DAA2A6A5742}"/>
              </a:ext>
            </a:extLst>
          </p:cNvPr>
          <p:cNvSpPr>
            <a:spLocks xmlns:a="http://schemas.openxmlformats.org/drawingml/2006/main" noGrp="1"/>
          </p:cNvSpPr>
          <p:nvPr/>
        </p:nvSpPr>
        <p:spPr>
          <a:xfrm xmlns:a="http://schemas.openxmlformats.org/drawingml/2006/main">
            <a:off x="127000" y="1308100"/>
            <a:ext cx="2794000" cy="6464300"/>
          </a:xfrm>
          <a:prstGeom xmlns:a="http://schemas.openxmlformats.org/drawingml/2006/main" prst="roundRect">
            <a:avLst>
              <a:gd name="adj" fmla="val 7727"/>
            </a:avLst>
          </a:prstGeom>
          <a:solidFill xmlns:a="http://schemas.openxmlformats.org/drawingml/2006/main">
            <a:srgbClr val="FFF8E0"/>
          </a:solidFill>
          <a:ln xmlns:a="http://schemas.openxmlformats.org/drawingml/2006/main" w="31750">
            <a:solidFill>
              <a:srgbClr val="000000"/>
            </a:solidFill>
            <a:prstDash val="solid"/>
          </a:ln>
        </p:spPr>
      </p:sp>
      <p:sp>
        <p:nvSpPr>
          <p:cNvPr id="8" name="shape-107">
            <a:extLst xmlns:a="http://schemas.openxmlformats.org/drawingml/2006/main">
              <a:ext uri="{FF2B5EF4-FFF2-40B4-BE49-F238E27FC236}">
                <a16:creationId xmlns:a16="http://schemas.microsoft.com/office/drawing/2014/main" id="{10353A46-89AC-40AC-B6FF-5DC828D4A7D4}"/>
              </a:ext>
            </a:extLst>
          </p:cNvPr>
          <p:cNvSpPr>
            <a:spLocks xmlns:a="http://schemas.openxmlformats.org/drawingml/2006/main" noGrp="1"/>
          </p:cNvSpPr>
          <p:nvPr/>
        </p:nvSpPr>
        <p:spPr>
          <a:xfrm xmlns:a="http://schemas.openxmlformats.org/drawingml/2006/main">
            <a:off x="279400" y="1435100"/>
            <a:ext cx="508000" cy="508000"/>
          </a:xfrm>
          <a:prstGeom xmlns:a="http://schemas.openxmlformats.org/drawingml/2006/main" prst="ellipse">
            <a:avLst/>
          </a:prstGeom>
          <a:solidFill xmlns:a="http://schemas.openxmlformats.org/drawingml/2006/main">
            <a:srgbClr val="FFE1B2"/>
          </a:solidFill>
          <a:ln xmlns:a="http://schemas.openxmlformats.org/drawingml/2006/main" w="0">
            <a:noFill/>
            <a:prstDash val="solid"/>
          </a:ln>
        </p:spPr>
      </p:sp>
      <p:sp>
        <p:nvSpPr>
          <p:cNvPr id="9" name="text-109">
            <a:extLst xmlns:a="http://schemas.openxmlformats.org/drawingml/2006/main">
              <a:ext uri="{FF2B5EF4-FFF2-40B4-BE49-F238E27FC236}">
                <a16:creationId xmlns:a16="http://schemas.microsoft.com/office/drawing/2014/main" id="{5B89D83E-8AAF-4E28-A8DE-2986D5D6F63B}"/>
              </a:ext>
            </a:extLst>
          </p:cNvPr>
          <p:cNvSpPr>
            <a:spLocks xmlns:a="http://schemas.openxmlformats.org/drawingml/2006/main" noGrp="1"/>
          </p:cNvSpPr>
          <p:nvPr/>
        </p:nvSpPr>
        <p:spPr>
          <a:xfrm xmlns:a="http://schemas.openxmlformats.org/drawingml/2006/main">
            <a:off x="4064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1</a:t>
            </a:r>
          </a:p>
        </p:txBody>
      </p:sp>
      <p:sp>
        <p:nvSpPr>
          <p:cNvPr id="10" name="shape-110">
            <a:extLst xmlns:a="http://schemas.openxmlformats.org/drawingml/2006/main">
              <a:ext uri="{FF2B5EF4-FFF2-40B4-BE49-F238E27FC236}">
                <a16:creationId xmlns:a16="http://schemas.microsoft.com/office/drawing/2014/main" id="{5F51DD36-6648-4025-918E-260111355530}"/>
              </a:ext>
            </a:extLst>
          </p:cNvPr>
          <p:cNvSpPr>
            <a:spLocks xmlns:a="http://schemas.openxmlformats.org/drawingml/2006/main" noGrp="1"/>
          </p:cNvSpPr>
          <p:nvPr/>
        </p:nvSpPr>
        <p:spPr>
          <a:xfrm xmlns:a="http://schemas.openxmlformats.org/drawingml/2006/main">
            <a:off x="3213100" y="1308100"/>
            <a:ext cx="6438900" cy="6464300"/>
          </a:xfrm>
          <a:prstGeom xmlns:a="http://schemas.openxmlformats.org/drawingml/2006/main" prst="roundRect">
            <a:avLst>
              <a:gd name="adj" fmla="val 3353"/>
            </a:avLst>
          </a:prstGeom>
          <a:solidFill xmlns:a="http://schemas.openxmlformats.org/drawingml/2006/main">
            <a:srgbClr val="E0EDF6"/>
          </a:solidFill>
          <a:ln xmlns:a="http://schemas.openxmlformats.org/drawingml/2006/main" w="31750">
            <a:solidFill>
              <a:srgbClr val="000000"/>
            </a:solidFill>
            <a:prstDash val="solid"/>
          </a:ln>
        </p:spPr>
      </p:sp>
      <p:sp>
        <p:nvSpPr>
          <p:cNvPr id="11" name="shape-111">
            <a:extLst xmlns:a="http://schemas.openxmlformats.org/drawingml/2006/main">
              <a:ext uri="{FF2B5EF4-FFF2-40B4-BE49-F238E27FC236}">
                <a16:creationId xmlns:a16="http://schemas.microsoft.com/office/drawing/2014/main" id="{792BFDEC-D2BF-4F63-8785-6C3408F6B88C}"/>
              </a:ext>
            </a:extLst>
          </p:cNvPr>
          <p:cNvSpPr>
            <a:spLocks xmlns:a="http://schemas.openxmlformats.org/drawingml/2006/main" noGrp="1"/>
          </p:cNvSpPr>
          <p:nvPr/>
        </p:nvSpPr>
        <p:spPr>
          <a:xfrm xmlns:a="http://schemas.openxmlformats.org/drawingml/2006/main">
            <a:off x="3365500" y="1435100"/>
            <a:ext cx="508000" cy="508000"/>
          </a:xfrm>
          <a:prstGeom xmlns:a="http://schemas.openxmlformats.org/drawingml/2006/main" prst="ellipse">
            <a:avLst/>
          </a:prstGeom>
          <a:solidFill xmlns:a="http://schemas.openxmlformats.org/drawingml/2006/main">
            <a:srgbClr val="65B5E5"/>
          </a:solidFill>
          <a:ln xmlns:a="http://schemas.openxmlformats.org/drawingml/2006/main" w="0">
            <a:noFill/>
            <a:prstDash val="solid"/>
          </a:ln>
        </p:spPr>
      </p:sp>
      <p:sp>
        <p:nvSpPr>
          <p:cNvPr id="12" name="text-113">
            <a:extLst xmlns:a="http://schemas.openxmlformats.org/drawingml/2006/main">
              <a:ext uri="{FF2B5EF4-FFF2-40B4-BE49-F238E27FC236}">
                <a16:creationId xmlns:a16="http://schemas.microsoft.com/office/drawing/2014/main" id="{22528B4C-7564-4354-91D2-8E33D7AFD635}"/>
              </a:ext>
            </a:extLst>
          </p:cNvPr>
          <p:cNvSpPr>
            <a:spLocks xmlns:a="http://schemas.openxmlformats.org/drawingml/2006/main" noGrp="1"/>
          </p:cNvSpPr>
          <p:nvPr/>
        </p:nvSpPr>
        <p:spPr>
          <a:xfrm xmlns:a="http://schemas.openxmlformats.org/drawingml/2006/main">
            <a:off x="34925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2</a:t>
            </a:r>
          </a:p>
        </p:txBody>
      </p:sp>
      <p:sp>
        <p:nvSpPr>
          <p:cNvPr id="13" name="shape-114">
            <a:extLst xmlns:a="http://schemas.openxmlformats.org/drawingml/2006/main">
              <a:ext uri="{FF2B5EF4-FFF2-40B4-BE49-F238E27FC236}">
                <a16:creationId xmlns:a16="http://schemas.microsoft.com/office/drawing/2014/main" id="{ABD8C3B7-263D-4874-A8EC-392EB5B8BC74}"/>
              </a:ext>
            </a:extLst>
          </p:cNvPr>
          <p:cNvSpPr>
            <a:spLocks xmlns:a="http://schemas.openxmlformats.org/drawingml/2006/main" noGrp="1"/>
          </p:cNvSpPr>
          <p:nvPr/>
        </p:nvSpPr>
        <p:spPr>
          <a:xfrm xmlns:a="http://schemas.openxmlformats.org/drawingml/2006/main">
            <a:off x="9944100" y="1308100"/>
            <a:ext cx="3416300" cy="6464300"/>
          </a:xfrm>
          <a:prstGeom xmlns:a="http://schemas.openxmlformats.org/drawingml/2006/main" prst="roundRect">
            <a:avLst>
              <a:gd name="adj" fmla="val 6320"/>
            </a:avLst>
          </a:prstGeom>
          <a:solidFill xmlns:a="http://schemas.openxmlformats.org/drawingml/2006/main">
            <a:srgbClr val="E6F3E3"/>
          </a:solidFill>
          <a:ln xmlns:a="http://schemas.openxmlformats.org/drawingml/2006/main" w="31750">
            <a:solidFill>
              <a:srgbClr val="000000"/>
            </a:solidFill>
            <a:prstDash val="solid"/>
          </a:ln>
        </p:spPr>
      </p:sp>
      <p:sp>
        <p:nvSpPr>
          <p:cNvPr id="14" name="shape-115">
            <a:extLst xmlns:a="http://schemas.openxmlformats.org/drawingml/2006/main">
              <a:ext uri="{FF2B5EF4-FFF2-40B4-BE49-F238E27FC236}">
                <a16:creationId xmlns:a16="http://schemas.microsoft.com/office/drawing/2014/main" id="{E1278CEA-3A16-4596-BFA2-336E5FA9963D}"/>
              </a:ext>
            </a:extLst>
          </p:cNvPr>
          <p:cNvSpPr>
            <a:spLocks xmlns:a="http://schemas.openxmlformats.org/drawingml/2006/main" noGrp="1"/>
          </p:cNvSpPr>
          <p:nvPr/>
        </p:nvSpPr>
        <p:spPr>
          <a:xfrm xmlns:a="http://schemas.openxmlformats.org/drawingml/2006/main">
            <a:off x="10096500" y="1435100"/>
            <a:ext cx="508000" cy="508000"/>
          </a:xfrm>
          <a:prstGeom xmlns:a="http://schemas.openxmlformats.org/drawingml/2006/main" prst="ellipse">
            <a:avLst/>
          </a:prstGeom>
          <a:solidFill xmlns:a="http://schemas.openxmlformats.org/drawingml/2006/main">
            <a:srgbClr val="579243"/>
          </a:solidFill>
          <a:ln xmlns:a="http://schemas.openxmlformats.org/drawingml/2006/main" w="0">
            <a:noFill/>
            <a:prstDash val="solid"/>
          </a:ln>
        </p:spPr>
      </p:sp>
      <p:sp>
        <p:nvSpPr>
          <p:cNvPr id="15" name="text-117">
            <a:extLst xmlns:a="http://schemas.openxmlformats.org/drawingml/2006/main">
              <a:ext uri="{FF2B5EF4-FFF2-40B4-BE49-F238E27FC236}">
                <a16:creationId xmlns:a16="http://schemas.microsoft.com/office/drawing/2014/main" id="{2ED401B4-4BD6-4B20-A8F3-8CDD26E3E911}"/>
              </a:ext>
            </a:extLst>
          </p:cNvPr>
          <p:cNvSpPr>
            <a:spLocks xmlns:a="http://schemas.openxmlformats.org/drawingml/2006/main" noGrp="1"/>
          </p:cNvSpPr>
          <p:nvPr/>
        </p:nvSpPr>
        <p:spPr>
          <a:xfrm xmlns:a="http://schemas.openxmlformats.org/drawingml/2006/main">
            <a:off x="102235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3</a:t>
            </a:r>
          </a:p>
        </p:txBody>
      </p:sp>
      <p:sp>
        <p:nvSpPr>
          <p:cNvPr id="16" name="shape-118">
            <a:extLst xmlns:a="http://schemas.openxmlformats.org/drawingml/2006/main">
              <a:ext uri="{FF2B5EF4-FFF2-40B4-BE49-F238E27FC236}">
                <a16:creationId xmlns:a16="http://schemas.microsoft.com/office/drawing/2014/main" id="{1E507910-BC94-4AFD-9F87-29C0347999D7}"/>
              </a:ext>
            </a:extLst>
          </p:cNvPr>
          <p:cNvSpPr>
            <a:spLocks xmlns:a="http://schemas.openxmlformats.org/drawingml/2006/main" noGrp="1"/>
          </p:cNvSpPr>
          <p:nvPr/>
        </p:nvSpPr>
        <p:spPr>
          <a:xfrm xmlns:a="http://schemas.openxmlformats.org/drawingml/2006/main">
            <a:off x="13652500" y="1308100"/>
            <a:ext cx="4572000" cy="6464300"/>
          </a:xfrm>
          <a:prstGeom xmlns:a="http://schemas.openxmlformats.org/drawingml/2006/main" prst="roundRect">
            <a:avLst>
              <a:gd name="adj" fmla="val 4722"/>
            </a:avLst>
          </a:prstGeom>
          <a:solidFill xmlns:a="http://schemas.openxmlformats.org/drawingml/2006/main">
            <a:srgbClr val="F8E7E7"/>
          </a:solidFill>
          <a:ln xmlns:a="http://schemas.openxmlformats.org/drawingml/2006/main" w="31750">
            <a:solidFill>
              <a:srgbClr val="000000"/>
            </a:solidFill>
            <a:prstDash val="solid"/>
          </a:ln>
        </p:spPr>
      </p:sp>
      <p:sp>
        <p:nvSpPr>
          <p:cNvPr id="17" name="shape-119">
            <a:extLst xmlns:a="http://schemas.openxmlformats.org/drawingml/2006/main">
              <a:ext uri="{FF2B5EF4-FFF2-40B4-BE49-F238E27FC236}">
                <a16:creationId xmlns:a16="http://schemas.microsoft.com/office/drawing/2014/main" id="{D0408628-2E3A-4E0D-9DBA-B33DF8968260}"/>
              </a:ext>
            </a:extLst>
          </p:cNvPr>
          <p:cNvSpPr>
            <a:spLocks xmlns:a="http://schemas.openxmlformats.org/drawingml/2006/main" noGrp="1"/>
          </p:cNvSpPr>
          <p:nvPr/>
        </p:nvSpPr>
        <p:spPr>
          <a:xfrm xmlns:a="http://schemas.openxmlformats.org/drawingml/2006/main">
            <a:off x="13804900" y="1435100"/>
            <a:ext cx="508000" cy="508000"/>
          </a:xfrm>
          <a:prstGeom xmlns:a="http://schemas.openxmlformats.org/drawingml/2006/main" prst="ellipse">
            <a:avLst/>
          </a:prstGeom>
          <a:solidFill xmlns:a="http://schemas.openxmlformats.org/drawingml/2006/main">
            <a:srgbClr val="DE5656"/>
          </a:solidFill>
          <a:ln xmlns:a="http://schemas.openxmlformats.org/drawingml/2006/main" w="0">
            <a:noFill/>
            <a:prstDash val="solid"/>
          </a:ln>
        </p:spPr>
      </p:sp>
      <p:sp>
        <p:nvSpPr>
          <p:cNvPr id="18" name="text-121">
            <a:extLst xmlns:a="http://schemas.openxmlformats.org/drawingml/2006/main">
              <a:ext uri="{FF2B5EF4-FFF2-40B4-BE49-F238E27FC236}">
                <a16:creationId xmlns:a16="http://schemas.microsoft.com/office/drawing/2014/main" id="{52806023-138E-41AD-8BAC-0FCD102E0E8E}"/>
              </a:ext>
            </a:extLst>
          </p:cNvPr>
          <p:cNvSpPr>
            <a:spLocks xmlns:a="http://schemas.openxmlformats.org/drawingml/2006/main" noGrp="1"/>
          </p:cNvSpPr>
          <p:nvPr/>
        </p:nvSpPr>
        <p:spPr>
          <a:xfrm xmlns:a="http://schemas.openxmlformats.org/drawingml/2006/main">
            <a:off x="139319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4</a:t>
            </a:r>
          </a:p>
        </p:txBody>
      </p:sp>
      <p:sp>
        <p:nvSpPr>
          <p:cNvPr id="19" name="text-123">
            <a:extLst xmlns:a="http://schemas.openxmlformats.org/drawingml/2006/main">
              <a:ext uri="{FF2B5EF4-FFF2-40B4-BE49-F238E27FC236}">
                <a16:creationId xmlns:a16="http://schemas.microsoft.com/office/drawing/2014/main" id="{C37B0A3F-CA3F-4C29-BBDC-E1BA77EDBC39}"/>
              </a:ext>
            </a:extLst>
          </p:cNvPr>
          <p:cNvSpPr>
            <a:spLocks xmlns:a="http://schemas.openxmlformats.org/drawingml/2006/main" noGrp="1"/>
          </p:cNvSpPr>
          <p:nvPr/>
        </p:nvSpPr>
        <p:spPr>
          <a:xfrm xmlns:a="http://schemas.openxmlformats.org/drawingml/2006/main">
            <a:off x="876300" y="1473200"/>
            <a:ext cx="18669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00" b="1" i="0">
                <a:solidFill>
                  <a:srgbClr val="000000"/>
                </a:solidFill>
                <a:latin typeface="Times New Roman"/>
                <a:ea typeface="Times New Roman"/>
                <a:cs typeface="Times New Roman"/>
              </a:defRPr>
            </a:defPPr>
          </a:lstStyle>
          <a:p xmlns:a="http://schemas.openxmlformats.org/drawingml/2006/main">
            <a:pPr algn="ctr">
              <a:defRPr sz="2300" b="1" i="0">
                <a:solidFill>
                  <a:srgbClr val="000000"/>
                </a:solidFill>
                <a:latin typeface="Times New Roman"/>
                <a:ea typeface="Times New Roman"/>
                <a:cs typeface="Times New Roman"/>
              </a:defRPr>
            </a:pPr>
            <a:r>
              <a:rPr sz="2300" b="1" i="0">
                <a:solidFill>
                  <a:srgbClr val="000000"/>
                </a:solidFill>
                <a:latin typeface="Times New Roman"/>
                <a:ea typeface="Times New Roman"/>
                <a:cs typeface="Times New Roman"/>
              </a:rPr>
              <a:t>Workforce</a:t>
            </a:r>
          </a:p>
          <a:p xmlns:a="http://schemas.openxmlformats.org/drawingml/2006/main">
            <a:pPr algn="ctr">
              <a:defRPr sz="2300" b="1" i="0">
                <a:solidFill>
                  <a:srgbClr val="000000"/>
                </a:solidFill>
                <a:latin typeface="Times New Roman"/>
                <a:ea typeface="Times New Roman"/>
                <a:cs typeface="Times New Roman"/>
              </a:defRPr>
            </a:pPr>
            <a:r>
              <a:rPr sz="2300" b="1" i="0">
                <a:solidFill>
                  <a:srgbClr val="000000"/>
                </a:solidFill>
                <a:latin typeface="Times New Roman"/>
                <a:ea typeface="Times New Roman"/>
                <a:cs typeface="Times New Roman"/>
              </a:rPr>
              <a:t>Need</a:t>
            </a:r>
          </a:p>
        </p:txBody>
      </p:sp>
      <p:sp>
        <p:nvSpPr>
          <p:cNvPr id="20" name="text-125">
            <a:extLst xmlns:a="http://schemas.openxmlformats.org/drawingml/2006/main">
              <a:ext uri="{FF2B5EF4-FFF2-40B4-BE49-F238E27FC236}">
                <a16:creationId xmlns:a16="http://schemas.microsoft.com/office/drawing/2014/main" id="{E412292B-C983-4DBC-B00C-5648502B53F0}"/>
              </a:ext>
            </a:extLst>
          </p:cNvPr>
          <p:cNvSpPr>
            <a:spLocks xmlns:a="http://schemas.openxmlformats.org/drawingml/2006/main" noGrp="1"/>
          </p:cNvSpPr>
          <p:nvPr/>
        </p:nvSpPr>
        <p:spPr>
          <a:xfrm xmlns:a="http://schemas.openxmlformats.org/drawingml/2006/main">
            <a:off x="304800" y="2336800"/>
            <a:ext cx="2451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0" i="0">
                <a:solidFill>
                  <a:srgbClr val="000000"/>
                </a:solidFill>
                <a:latin typeface="Times New Roman"/>
                <a:ea typeface="Times New Roman"/>
                <a:cs typeface="Times New Roman"/>
              </a:defRPr>
            </a:defPPr>
          </a:lstStyle>
          <a:p xmlns:a="http://schemas.openxmlformats.org/drawingml/2006/main">
            <a:pPr algn="l">
              <a:defRPr sz="1900" b="0" i="0">
                <a:solidFill>
                  <a:srgbClr val="000000"/>
                </a:solidFill>
                <a:latin typeface="Times New Roman"/>
                <a:ea typeface="Times New Roman"/>
                <a:cs typeface="Times New Roman"/>
              </a:defRPr>
            </a:pPr>
            <a:r>
              <a:rPr sz="1900" b="0" i="0">
                <a:solidFill>
                  <a:srgbClr val="000000"/>
                </a:solidFill>
                <a:latin typeface="Times New Roman"/>
                <a:ea typeface="Times New Roman"/>
                <a:cs typeface="Times New Roman"/>
              </a:rPr>
              <a:t>Confirm the work and constraints before searching for people.</a:t>
            </a:r>
          </a:p>
        </p:txBody>
      </p:sp>
      <p:sp>
        <p:nvSpPr>
          <p:cNvPr id="21" name="text-127">
            <a:extLst xmlns:a="http://schemas.openxmlformats.org/drawingml/2006/main">
              <a:ext uri="{FF2B5EF4-FFF2-40B4-BE49-F238E27FC236}">
                <a16:creationId xmlns:a16="http://schemas.microsoft.com/office/drawing/2014/main" id="{27D14327-DDB0-4ABB-BAFE-E524572A46BD}"/>
              </a:ext>
            </a:extLst>
          </p:cNvPr>
          <p:cNvSpPr>
            <a:spLocks xmlns:a="http://schemas.openxmlformats.org/drawingml/2006/main" noGrp="1"/>
          </p:cNvSpPr>
          <p:nvPr/>
        </p:nvSpPr>
        <p:spPr>
          <a:xfrm xmlns:a="http://schemas.openxmlformats.org/drawingml/2006/main">
            <a:off x="279400" y="36068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Role and skills</a:t>
            </a:r>
          </a:p>
        </p:txBody>
      </p:sp>
      <p:sp>
        <p:nvSpPr>
          <p:cNvPr id="22" name="text-129">
            <a:extLst xmlns:a="http://schemas.openxmlformats.org/drawingml/2006/main">
              <a:ext uri="{FF2B5EF4-FFF2-40B4-BE49-F238E27FC236}">
                <a16:creationId xmlns:a16="http://schemas.microsoft.com/office/drawing/2014/main" id="{02172078-B207-4543-82D4-7D2EE85BFE47}"/>
              </a:ext>
            </a:extLst>
          </p:cNvPr>
          <p:cNvSpPr>
            <a:spLocks xmlns:a="http://schemas.openxmlformats.org/drawingml/2006/main" noGrp="1"/>
          </p:cNvSpPr>
          <p:nvPr/>
        </p:nvSpPr>
        <p:spPr>
          <a:xfrm xmlns:a="http://schemas.openxmlformats.org/drawingml/2006/main">
            <a:off x="254000" y="39370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Mandatory skill weights</a:t>
            </a:r>
          </a:p>
        </p:txBody>
      </p:sp>
      <p:sp>
        <p:nvSpPr>
          <p:cNvPr id="23" name="text-131">
            <a:extLst xmlns:a="http://schemas.openxmlformats.org/drawingml/2006/main">
              <a:ext uri="{FF2B5EF4-FFF2-40B4-BE49-F238E27FC236}">
                <a16:creationId xmlns:a16="http://schemas.microsoft.com/office/drawing/2014/main" id="{8E21600A-5F37-4258-8D1C-2DB6EFE9A9F3}"/>
              </a:ext>
            </a:extLst>
          </p:cNvPr>
          <p:cNvSpPr>
            <a:spLocks xmlns:a="http://schemas.openxmlformats.org/drawingml/2006/main" noGrp="1"/>
          </p:cNvSpPr>
          <p:nvPr/>
        </p:nvSpPr>
        <p:spPr>
          <a:xfrm xmlns:a="http://schemas.openxmlformats.org/drawingml/2006/main">
            <a:off x="279400" y="43815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Capacity</a:t>
            </a:r>
          </a:p>
        </p:txBody>
      </p:sp>
      <p:sp>
        <p:nvSpPr>
          <p:cNvPr id="24" name="text-133">
            <a:extLst xmlns:a="http://schemas.openxmlformats.org/drawingml/2006/main">
              <a:ext uri="{FF2B5EF4-FFF2-40B4-BE49-F238E27FC236}">
                <a16:creationId xmlns:a16="http://schemas.microsoft.com/office/drawing/2014/main" id="{CE6B7ED4-A133-478E-AA9D-A7B222234584}"/>
              </a:ext>
            </a:extLst>
          </p:cNvPr>
          <p:cNvSpPr>
            <a:spLocks xmlns:a="http://schemas.openxmlformats.org/drawingml/2006/main" noGrp="1"/>
          </p:cNvSpPr>
          <p:nvPr/>
        </p:nvSpPr>
        <p:spPr>
          <a:xfrm xmlns:a="http://schemas.openxmlformats.org/drawingml/2006/main">
            <a:off x="254000" y="47117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Headcount and start date</a:t>
            </a:r>
          </a:p>
        </p:txBody>
      </p:sp>
      <p:sp>
        <p:nvSpPr>
          <p:cNvPr id="25" name="text-135">
            <a:extLst xmlns:a="http://schemas.openxmlformats.org/drawingml/2006/main">
              <a:ext uri="{FF2B5EF4-FFF2-40B4-BE49-F238E27FC236}">
                <a16:creationId xmlns:a16="http://schemas.microsoft.com/office/drawing/2014/main" id="{D5296F04-F830-453B-B5BA-4EA194829ABD}"/>
              </a:ext>
            </a:extLst>
          </p:cNvPr>
          <p:cNvSpPr>
            <a:spLocks xmlns:a="http://schemas.openxmlformats.org/drawingml/2006/main" noGrp="1"/>
          </p:cNvSpPr>
          <p:nvPr/>
        </p:nvSpPr>
        <p:spPr>
          <a:xfrm xmlns:a="http://schemas.openxmlformats.org/drawingml/2006/main">
            <a:off x="279400" y="51562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Economics</a:t>
            </a:r>
          </a:p>
        </p:txBody>
      </p:sp>
      <p:sp>
        <p:nvSpPr>
          <p:cNvPr id="26" name="text-137">
            <a:extLst xmlns:a="http://schemas.openxmlformats.org/drawingml/2006/main">
              <a:ext uri="{FF2B5EF4-FFF2-40B4-BE49-F238E27FC236}">
                <a16:creationId xmlns:a16="http://schemas.microsoft.com/office/drawing/2014/main" id="{09FC154A-6574-4172-B167-13886FBF5A44}"/>
              </a:ext>
            </a:extLst>
          </p:cNvPr>
          <p:cNvSpPr>
            <a:spLocks xmlns:a="http://schemas.openxmlformats.org/drawingml/2006/main" noGrp="1"/>
          </p:cNvSpPr>
          <p:nvPr/>
        </p:nvSpPr>
        <p:spPr>
          <a:xfrm xmlns:a="http://schemas.openxmlformats.org/drawingml/2006/main">
            <a:off x="254000" y="54864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INR budget and horizon</a:t>
            </a:r>
          </a:p>
        </p:txBody>
      </p:sp>
      <p:sp>
        <p:nvSpPr>
          <p:cNvPr id="27" name="text-139">
            <a:extLst xmlns:a="http://schemas.openxmlformats.org/drawingml/2006/main">
              <a:ext uri="{FF2B5EF4-FFF2-40B4-BE49-F238E27FC236}">
                <a16:creationId xmlns:a16="http://schemas.microsoft.com/office/drawing/2014/main" id="{E58BB6E0-9C36-4002-8574-2BA4D0E721D6}"/>
              </a:ext>
            </a:extLst>
          </p:cNvPr>
          <p:cNvSpPr>
            <a:spLocks xmlns:a="http://schemas.openxmlformats.org/drawingml/2006/main" noGrp="1"/>
          </p:cNvSpPr>
          <p:nvPr/>
        </p:nvSpPr>
        <p:spPr>
          <a:xfrm xmlns:a="http://schemas.openxmlformats.org/drawingml/2006/main">
            <a:off x="279400" y="59309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Work location</a:t>
            </a:r>
          </a:p>
        </p:txBody>
      </p:sp>
      <p:sp>
        <p:nvSpPr>
          <p:cNvPr id="28" name="text-141">
            <a:extLst xmlns:a="http://schemas.openxmlformats.org/drawingml/2006/main">
              <a:ext uri="{FF2B5EF4-FFF2-40B4-BE49-F238E27FC236}">
                <a16:creationId xmlns:a16="http://schemas.microsoft.com/office/drawing/2014/main" id="{6AEAD9C6-C3E7-494F-A6A1-0EA585A4E09B}"/>
              </a:ext>
            </a:extLst>
          </p:cNvPr>
          <p:cNvSpPr>
            <a:spLocks xmlns:a="http://schemas.openxmlformats.org/drawingml/2006/main" noGrp="1"/>
          </p:cNvSpPr>
          <p:nvPr/>
        </p:nvSpPr>
        <p:spPr>
          <a:xfrm xmlns:a="http://schemas.openxmlformats.org/drawingml/2006/main">
            <a:off x="254000" y="62611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City and remote policy</a:t>
            </a:r>
          </a:p>
        </p:txBody>
      </p:sp>
      <p:sp>
        <p:nvSpPr>
          <p:cNvPr id="29" name="text-143">
            <a:extLst xmlns:a="http://schemas.openxmlformats.org/drawingml/2006/main">
              <a:ext uri="{FF2B5EF4-FFF2-40B4-BE49-F238E27FC236}">
                <a16:creationId xmlns:a16="http://schemas.microsoft.com/office/drawing/2014/main" id="{541AB347-1F04-4DF0-B45A-540138B86724}"/>
              </a:ext>
            </a:extLst>
          </p:cNvPr>
          <p:cNvSpPr>
            <a:spLocks xmlns:a="http://schemas.openxmlformats.org/drawingml/2006/main" noGrp="1"/>
          </p:cNvSpPr>
          <p:nvPr/>
        </p:nvSpPr>
        <p:spPr>
          <a:xfrm xmlns:a="http://schemas.openxmlformats.org/drawingml/2006/main">
            <a:off x="279400" y="67056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Process context</a:t>
            </a:r>
          </a:p>
        </p:txBody>
      </p:sp>
      <p:sp>
        <p:nvSpPr>
          <p:cNvPr id="30" name="text-145">
            <a:extLst xmlns:a="http://schemas.openxmlformats.org/drawingml/2006/main">
              <a:ext uri="{FF2B5EF4-FFF2-40B4-BE49-F238E27FC236}">
                <a16:creationId xmlns:a16="http://schemas.microsoft.com/office/drawing/2014/main" id="{DE0FFE77-343E-4E93-BCD0-D588BB35A668}"/>
              </a:ext>
            </a:extLst>
          </p:cNvPr>
          <p:cNvSpPr>
            <a:spLocks xmlns:a="http://schemas.openxmlformats.org/drawingml/2006/main" noGrp="1"/>
          </p:cNvSpPr>
          <p:nvPr/>
        </p:nvSpPr>
        <p:spPr>
          <a:xfrm xmlns:a="http://schemas.openxmlformats.org/drawingml/2006/main">
            <a:off x="254000" y="70358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Repetitive task estimate</a:t>
            </a:r>
          </a:p>
        </p:txBody>
      </p:sp>
      <p:sp>
        <p:nvSpPr>
          <p:cNvPr id="31" name="text-147">
            <a:extLst xmlns:a="http://schemas.openxmlformats.org/drawingml/2006/main">
              <a:ext uri="{FF2B5EF4-FFF2-40B4-BE49-F238E27FC236}">
                <a16:creationId xmlns:a16="http://schemas.microsoft.com/office/drawing/2014/main" id="{B4AAC7A2-8D50-4E91-A98B-5ECE97FF3BDC}"/>
              </a:ext>
            </a:extLst>
          </p:cNvPr>
          <p:cNvSpPr>
            <a:spLocks xmlns:a="http://schemas.openxmlformats.org/drawingml/2006/main" noGrp="1"/>
          </p:cNvSpPr>
          <p:nvPr/>
        </p:nvSpPr>
        <p:spPr>
          <a:xfrm xmlns:a="http://schemas.openxmlformats.org/drawingml/2006/main">
            <a:off x="3949700" y="1511300"/>
            <a:ext cx="551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00" b="1" i="0">
                <a:solidFill>
                  <a:srgbClr val="000000"/>
                </a:solidFill>
                <a:latin typeface="Times New Roman"/>
                <a:ea typeface="Times New Roman"/>
                <a:cs typeface="Times New Roman"/>
              </a:defRPr>
            </a:defPPr>
          </a:lstStyle>
          <a:p xmlns:a="http://schemas.openxmlformats.org/drawingml/2006/main">
            <a:pPr algn="ctr">
              <a:defRPr sz="2500" b="1" i="0">
                <a:solidFill>
                  <a:srgbClr val="000000"/>
                </a:solidFill>
                <a:latin typeface="Times New Roman"/>
                <a:ea typeface="Times New Roman"/>
                <a:cs typeface="Times New Roman"/>
              </a:defRPr>
            </a:pPr>
            <a:r>
              <a:rPr sz="2500" b="1" i="0">
                <a:solidFill>
                  <a:srgbClr val="000000"/>
                </a:solidFill>
                <a:latin typeface="Times New Roman"/>
                <a:ea typeface="Times New Roman"/>
                <a:cs typeface="Times New Roman"/>
              </a:rPr>
              <a:t>Evidence and Integration</a:t>
            </a:r>
          </a:p>
        </p:txBody>
      </p:sp>
      <p:sp>
        <p:nvSpPr>
          <p:cNvPr id="32" name="text-149">
            <a:extLst xmlns:a="http://schemas.openxmlformats.org/drawingml/2006/main">
              <a:ext uri="{FF2B5EF4-FFF2-40B4-BE49-F238E27FC236}">
                <a16:creationId xmlns:a16="http://schemas.microsoft.com/office/drawing/2014/main" id="{C5E05468-5540-4114-AF70-5347E9EBE77B}"/>
              </a:ext>
            </a:extLst>
          </p:cNvPr>
          <p:cNvSpPr>
            <a:spLocks xmlns:a="http://schemas.openxmlformats.org/drawingml/2006/main" noGrp="1"/>
          </p:cNvSpPr>
          <p:nvPr/>
        </p:nvSpPr>
        <p:spPr>
          <a:xfrm xmlns:a="http://schemas.openxmlformats.org/drawingml/2006/main">
            <a:off x="3390900" y="2044700"/>
            <a:ext cx="6096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00" b="0" i="0">
                <a:solidFill>
                  <a:srgbClr val="000000"/>
                </a:solidFill>
                <a:latin typeface="Times New Roman"/>
                <a:ea typeface="Times New Roman"/>
                <a:cs typeface="Times New Roman"/>
              </a:defRPr>
            </a:defPPr>
          </a:lstStyle>
          <a:p xmlns:a="http://schemas.openxmlformats.org/drawingml/2006/main">
            <a:pPr algn="ctr">
              <a:defRPr sz="1900" b="0" i="0">
                <a:solidFill>
                  <a:srgbClr val="000000"/>
                </a:solidFill>
                <a:latin typeface="Times New Roman"/>
                <a:ea typeface="Times New Roman"/>
                <a:cs typeface="Times New Roman"/>
              </a:defRPr>
            </a:pPr>
            <a:r>
              <a:rPr sz="1900" b="0" i="0">
                <a:solidFill>
                  <a:srgbClr val="000000"/>
                </a:solidFill>
                <a:latin typeface="Times New Roman"/>
                <a:ea typeface="Times New Roman"/>
                <a:cs typeface="Times New Roman"/>
              </a:rPr>
              <a:t>Source-backed records, with unknown values kept explicit</a:t>
            </a:r>
          </a:p>
        </p:txBody>
      </p:sp>
      <p:sp>
        <p:nvSpPr>
          <p:cNvPr id="33" name="shape-150">
            <a:extLst xmlns:a="http://schemas.openxmlformats.org/drawingml/2006/main">
              <a:ext uri="{FF2B5EF4-FFF2-40B4-BE49-F238E27FC236}">
                <a16:creationId xmlns:a16="http://schemas.microsoft.com/office/drawing/2014/main" id="{8296207A-2E9C-4E2B-ACC8-D76B57666631}"/>
              </a:ext>
            </a:extLst>
          </p:cNvPr>
          <p:cNvSpPr>
            <a:spLocks xmlns:a="http://schemas.openxmlformats.org/drawingml/2006/main" noGrp="1"/>
          </p:cNvSpPr>
          <p:nvPr/>
        </p:nvSpPr>
        <p:spPr>
          <a:xfrm xmlns:a="http://schemas.openxmlformats.org/drawingml/2006/main">
            <a:off x="3340100" y="2413000"/>
            <a:ext cx="6197600" cy="685800"/>
          </a:xfrm>
          <a:prstGeom xmlns:a="http://schemas.openxmlformats.org/drawingml/2006/main" prst="roundRect">
            <a:avLst>
              <a:gd name="adj" fmla="val 22222"/>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000" b="0">
                <a:solidFill>
                  <a:srgbClr val="000000"/>
                </a:solidFill>
                <a:latin typeface="Times New Roman"/>
                <a:ea typeface="Times New Roman"/>
                <a:cs typeface="Times New Roman"/>
              </a:defRPr>
            </a:defPPr>
          </a:lstStyle>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Core: Next.js APIs, Zod validation and Neon PostgreSQL</a:t>
            </a:r>
          </a:p>
        </p:txBody>
      </p:sp>
      <p:sp>
        <p:nvSpPr>
          <p:cNvPr id="34" name="shape-151">
            <a:extLst xmlns:a="http://schemas.openxmlformats.org/drawingml/2006/main">
              <a:ext uri="{FF2B5EF4-FFF2-40B4-BE49-F238E27FC236}">
                <a16:creationId xmlns:a16="http://schemas.microsoft.com/office/drawing/2014/main" id="{66723A6E-6BCC-40B6-ADEF-95CF0E381DB6}"/>
              </a:ext>
            </a:extLst>
          </p:cNvPr>
          <p:cNvSpPr>
            <a:spLocks xmlns:a="http://schemas.openxmlformats.org/drawingml/2006/main" noGrp="1"/>
          </p:cNvSpPr>
          <p:nvPr/>
        </p:nvSpPr>
        <p:spPr>
          <a:xfrm xmlns:a="http://schemas.openxmlformats.org/drawingml/2006/main">
            <a:off x="3365500" y="3327400"/>
            <a:ext cx="4013200" cy="1549400"/>
          </a:xfrm>
          <a:prstGeom xmlns:a="http://schemas.openxmlformats.org/drawingml/2006/main" prst="roundRect">
            <a:avLst>
              <a:gd name="adj" fmla="val 9836"/>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l">
              <a:defRPr sz="1900" b="0">
                <a:solidFill>
                  <a:srgbClr val="000000"/>
                </a:solidFill>
                <a:latin typeface="Times New Roman"/>
                <a:ea typeface="Times New Roman"/>
                <a:cs typeface="Times New Roman"/>
              </a:defRPr>
            </a:def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AUTHORIZED WORKFORCE DATA</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HRIS employees and assessed skills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ATS candidates and expectations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VMS contractors and reported interest</a:t>
            </a:r>
          </a:p>
        </p:txBody>
      </p:sp>
      <p:sp>
        <p:nvSpPr>
          <p:cNvPr id="35" name="shape-152">
            <a:extLst xmlns:a="http://schemas.openxmlformats.org/drawingml/2006/main">
              <a:ext uri="{FF2B5EF4-FFF2-40B4-BE49-F238E27FC236}">
                <a16:creationId xmlns:a16="http://schemas.microsoft.com/office/drawing/2014/main" id="{06EC7E68-2C16-4CB8-BA56-A692824789BD}"/>
              </a:ext>
            </a:extLst>
          </p:cNvPr>
          <p:cNvSpPr>
            <a:spLocks xmlns:a="http://schemas.openxmlformats.org/drawingml/2006/main" noGrp="1"/>
          </p:cNvSpPr>
          <p:nvPr/>
        </p:nvSpPr>
        <p:spPr>
          <a:xfrm xmlns:a="http://schemas.openxmlformats.org/drawingml/2006/main">
            <a:off x="7607300" y="3390900"/>
            <a:ext cx="1790700" cy="181610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2000" b="1">
                <a:solidFill>
                  <a:srgbClr val="000000"/>
                </a:solidFill>
                <a:latin typeface="Times New Roman"/>
                <a:ea typeface="Times New Roman"/>
                <a:cs typeface="Times New Roman"/>
              </a:defRPr>
            </a:defPPr>
          </a:lstStyle>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NEON</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PostgreSQL</a:t>
            </a:r>
          </a:p>
          <a:p xmlns:a="http://schemas.openxmlformats.org/drawingml/2006/main">
            <a:r>
              <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Records</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Provenance</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Decisions</a:t>
            </a:r>
          </a:p>
        </p:txBody>
      </p:sp>
      <p:sp>
        <p:nvSpPr>
          <p:cNvPr id="36" name="shape-153">
            <a:extLst xmlns:a="http://schemas.openxmlformats.org/drawingml/2006/main">
              <a:ext uri="{FF2B5EF4-FFF2-40B4-BE49-F238E27FC236}">
                <a16:creationId xmlns:a16="http://schemas.microsoft.com/office/drawing/2014/main" id="{97BE5C10-B976-47DA-94FC-0A473DD5F13B}"/>
              </a:ext>
            </a:extLst>
          </p:cNvPr>
          <p:cNvSpPr>
            <a:spLocks xmlns:a="http://schemas.openxmlformats.org/drawingml/2006/main" noGrp="1"/>
          </p:cNvSpPr>
          <p:nvPr/>
        </p:nvSpPr>
        <p:spPr>
          <a:xfrm xmlns:a="http://schemas.openxmlformats.org/drawingml/2006/main">
            <a:off x="3378200" y="5194300"/>
            <a:ext cx="2794000" cy="1231900"/>
          </a:xfrm>
          <a:prstGeom xmlns:a="http://schemas.openxmlformats.org/drawingml/2006/main" prst="roundRect">
            <a:avLst>
              <a:gd name="adj" fmla="val 12371"/>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l">
              <a:defRPr sz="1900" b="0">
                <a:solidFill>
                  <a:srgbClr val="000000"/>
                </a:solidFill>
                <a:latin typeface="Times New Roman"/>
                <a:ea typeface="Times New Roman"/>
                <a:cs typeface="Times New Roman"/>
              </a:defRPr>
            </a:def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OFFICIAL REFERENCE</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O*NET roles and titles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Microsoft Learn modules</a:t>
            </a:r>
          </a:p>
        </p:txBody>
      </p:sp>
      <p:sp>
        <p:nvSpPr>
          <p:cNvPr id="37" name="shape-154">
            <a:extLst xmlns:a="http://schemas.openxmlformats.org/drawingml/2006/main">
              <a:ext uri="{FF2B5EF4-FFF2-40B4-BE49-F238E27FC236}">
                <a16:creationId xmlns:a16="http://schemas.microsoft.com/office/drawing/2014/main" id="{BCE1749E-E015-4150-9857-248E04378D48}"/>
              </a:ext>
            </a:extLst>
          </p:cNvPr>
          <p:cNvSpPr>
            <a:spLocks xmlns:a="http://schemas.openxmlformats.org/drawingml/2006/main" noGrp="1"/>
          </p:cNvSpPr>
          <p:nvPr/>
        </p:nvSpPr>
        <p:spPr>
          <a:xfrm xmlns:a="http://schemas.openxmlformats.org/drawingml/2006/main">
            <a:off x="6350000" y="5397500"/>
            <a:ext cx="3136900" cy="1803400"/>
          </a:xfrm>
          <a:prstGeom xmlns:a="http://schemas.openxmlformats.org/drawingml/2006/main" prst="roundRect">
            <a:avLst>
              <a:gd name="adj" fmla="val 8451"/>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l">
              <a:defRPr sz="1900" b="0">
                <a:solidFill>
                  <a:srgbClr val="000000"/>
                </a:solidFill>
                <a:latin typeface="Times New Roman"/>
                <a:ea typeface="Times New Roman"/>
                <a:cs typeface="Times New Roman"/>
              </a:defRPr>
            </a:def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MARKET OBSERVATIONS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Remotive public ads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Optional Adzuna / JSON</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Source date and currency</a:t>
            </a:r>
          </a:p>
        </p:txBody>
      </p:sp>
      <p:sp>
        <p:nvSpPr>
          <p:cNvPr id="38" name="text-156">
            <a:extLst xmlns:a="http://schemas.openxmlformats.org/drawingml/2006/main">
              <a:ext uri="{FF2B5EF4-FFF2-40B4-BE49-F238E27FC236}">
                <a16:creationId xmlns:a16="http://schemas.microsoft.com/office/drawing/2014/main" id="{3E040EE4-221E-4E01-87AD-8CF3AC674405}"/>
              </a:ext>
            </a:extLst>
          </p:cNvPr>
          <p:cNvSpPr>
            <a:spLocks xmlns:a="http://schemas.openxmlformats.org/drawingml/2006/main" noGrp="1"/>
          </p:cNvSpPr>
          <p:nvPr/>
        </p:nvSpPr>
        <p:spPr>
          <a:xfrm xmlns:a="http://schemas.openxmlformats.org/drawingml/2006/main">
            <a:off x="3416300" y="6629400"/>
            <a:ext cx="2717800" cy="97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Normalize canonical skills and reviewed aliases. Keep registrations separate from measured assessments.</a:t>
            </a:r>
          </a:p>
        </p:txBody>
      </p:sp>
      <p:sp>
        <p:nvSpPr>
          <p:cNvPr id="39" name="text-158">
            <a:extLst xmlns:a="http://schemas.openxmlformats.org/drawingml/2006/main">
              <a:ext uri="{FF2B5EF4-FFF2-40B4-BE49-F238E27FC236}">
                <a16:creationId xmlns:a16="http://schemas.microsoft.com/office/drawing/2014/main" id="{51909BE2-C3BC-45FA-B78B-8CA5C46C552A}"/>
              </a:ext>
            </a:extLst>
          </p:cNvPr>
          <p:cNvSpPr>
            <a:spLocks xmlns:a="http://schemas.openxmlformats.org/drawingml/2006/main" noGrp="1"/>
          </p:cNvSpPr>
          <p:nvPr/>
        </p:nvSpPr>
        <p:spPr>
          <a:xfrm xmlns:a="http://schemas.openxmlformats.org/drawingml/2006/main">
            <a:off x="10642600" y="1473200"/>
            <a:ext cx="2552700" cy="71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i="0">
                <a:solidFill>
                  <a:srgbClr val="000000"/>
                </a:solidFill>
                <a:latin typeface="Times New Roman"/>
                <a:ea typeface="Times New Roman"/>
                <a:cs typeface="Times New Roman"/>
              </a:defRPr>
            </a:defPPr>
          </a:lstStyle>
          <a:p xmlns:a="http://schemas.openxmlformats.org/drawingml/2006/main">
            <a:pPr algn="ctr">
              <a:defRPr sz="2400" b="1" i="0">
                <a:solidFill>
                  <a:srgbClr val="000000"/>
                </a:solidFill>
                <a:latin typeface="Times New Roman"/>
                <a:ea typeface="Times New Roman"/>
                <a:cs typeface="Times New Roman"/>
              </a:defRPr>
            </a:pPr>
            <a:r>
              <a:rPr sz="2400" b="1" i="0">
                <a:solidFill>
                  <a:srgbClr val="000000"/>
                </a:solidFill>
                <a:latin typeface="Times New Roman"/>
                <a:ea typeface="Times New Roman"/>
                <a:cs typeface="Times New Roman"/>
              </a:rPr>
              <a:t>Decision</a:t>
            </a:r>
          </a:p>
          <a:p xmlns:a="http://schemas.openxmlformats.org/drawingml/2006/main">
            <a:pPr algn="ctr">
              <a:defRPr sz="2400" b="1" i="0">
                <a:solidFill>
                  <a:srgbClr val="000000"/>
                </a:solidFill>
                <a:latin typeface="Times New Roman"/>
                <a:ea typeface="Times New Roman"/>
                <a:cs typeface="Times New Roman"/>
              </a:defRPr>
            </a:pPr>
            <a:r>
              <a:rPr sz="2400" b="1" i="0">
                <a:solidFill>
                  <a:srgbClr val="000000"/>
                </a:solidFill>
                <a:latin typeface="Times New Roman"/>
                <a:ea typeface="Times New Roman"/>
                <a:cs typeface="Times New Roman"/>
              </a:rPr>
              <a:t>Engine</a:t>
            </a:r>
          </a:p>
        </p:txBody>
      </p:sp>
      <p:sp>
        <p:nvSpPr>
          <p:cNvPr id="40" name="text-160">
            <a:extLst xmlns:a="http://schemas.openxmlformats.org/drawingml/2006/main">
              <a:ext uri="{FF2B5EF4-FFF2-40B4-BE49-F238E27FC236}">
                <a16:creationId xmlns:a16="http://schemas.microsoft.com/office/drawing/2014/main" id="{C2557ABB-D9B5-4AA1-94C9-8FBDCB0B0DBE}"/>
              </a:ext>
            </a:extLst>
          </p:cNvPr>
          <p:cNvSpPr>
            <a:spLocks xmlns:a="http://schemas.openxmlformats.org/drawingml/2006/main" noGrp="1"/>
          </p:cNvSpPr>
          <p:nvPr/>
        </p:nvSpPr>
        <p:spPr>
          <a:xfrm xmlns:a="http://schemas.openxmlformats.org/drawingml/2006/main">
            <a:off x="10109200" y="2298700"/>
            <a:ext cx="31115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00" b="0" i="0">
                <a:solidFill>
                  <a:srgbClr val="000000"/>
                </a:solidFill>
                <a:latin typeface="Times New Roman"/>
                <a:ea typeface="Times New Roman"/>
                <a:cs typeface="Times New Roman"/>
              </a:defRPr>
            </a:defPPr>
          </a:lstStyle>
          <a:p xmlns:a="http://schemas.openxmlformats.org/drawingml/2006/main">
            <a:pPr algn="ctr">
              <a:defRPr sz="1900" b="0" i="0">
                <a:solidFill>
                  <a:srgbClr val="000000"/>
                </a:solidFill>
                <a:latin typeface="Times New Roman"/>
                <a:ea typeface="Times New Roman"/>
                <a:cs typeface="Times New Roman"/>
              </a:defRPr>
            </a:pPr>
            <a:r>
              <a:rPr sz="1900" b="0" i="0">
                <a:solidFill>
                  <a:srgbClr val="000000"/>
                </a:solidFill>
                <a:latin typeface="Times New Roman"/>
                <a:ea typeface="Times New Roman"/>
                <a:cs typeface="Times New Roman"/>
              </a:rPr>
              <a:t>Deterministic scoring and explicit forecast assumptions</a:t>
            </a:r>
          </a:p>
        </p:txBody>
      </p:sp>
      <p:sp>
        <p:nvSpPr>
          <p:cNvPr id="41" name="shape-161">
            <a:extLst xmlns:a="http://schemas.openxmlformats.org/drawingml/2006/main">
              <a:ext uri="{FF2B5EF4-FFF2-40B4-BE49-F238E27FC236}">
                <a16:creationId xmlns:a16="http://schemas.microsoft.com/office/drawing/2014/main" id="{8B8E55A7-910F-4E93-999C-F7EAAA1B633A}"/>
              </a:ext>
            </a:extLst>
          </p:cNvPr>
          <p:cNvSpPr>
            <a:spLocks xmlns:a="http://schemas.openxmlformats.org/drawingml/2006/main" noGrp="1"/>
          </p:cNvSpPr>
          <p:nvPr/>
        </p:nvSpPr>
        <p:spPr>
          <a:xfrm xmlns:a="http://schemas.openxmlformats.org/drawingml/2006/main">
            <a:off x="10312400" y="30226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Role / skill normalization</a:t>
            </a:r>
          </a:p>
        </p:txBody>
      </p:sp>
      <p:sp>
        <p:nvSpPr>
          <p:cNvPr id="42" name="shape-162">
            <a:extLst xmlns:a="http://schemas.openxmlformats.org/drawingml/2006/main">
              <a:ext uri="{FF2B5EF4-FFF2-40B4-BE49-F238E27FC236}">
                <a16:creationId xmlns:a16="http://schemas.microsoft.com/office/drawing/2014/main" id="{2A57BDBF-4157-4E48-B459-9A43A36FA651}"/>
              </a:ext>
            </a:extLst>
          </p:cNvPr>
          <p:cNvSpPr>
            <a:spLocks xmlns:a="http://schemas.openxmlformats.org/drawingml/2006/main" noGrp="1"/>
          </p:cNvSpPr>
          <p:nvPr/>
        </p:nvSpPr>
        <p:spPr>
          <a:xfrm xmlns:a="http://schemas.openxmlformats.org/drawingml/2006/main">
            <a:off x="10312400" y="40005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Internal and contractor match</a:t>
            </a:r>
          </a:p>
        </p:txBody>
      </p:sp>
      <p:cxnSp>
        <p:nvCxnSpPr>
          <p:cNvPr id="43" name="">
            <a:extLst xmlns:a="http://schemas.openxmlformats.org/drawingml/2006/main">
              <a:ext uri="{FF2B5EF4-FFF2-40B4-BE49-F238E27FC236}">
                <a16:creationId xmlns:a16="http://schemas.microsoft.com/office/drawing/2014/main" id="{BD143CA4-ACFF-44CE-A014-F26C368AE9E0}"/>
              </a:ext>
            </a:extLst>
          </p:cNvPr>
          <p:cNvCxnSpPr/>
          <p:nvPr/>
        </p:nvCxnSpPr>
        <p:spPr>
          <a:xfrm xmlns:a="http://schemas.openxmlformats.org/drawingml/2006/main" flipH="0" flipV="0">
            <a:off x="11690350" y="3695700"/>
            <a:ext cx="0" cy="304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4" name="shape-163">
            <a:extLst xmlns:a="http://schemas.openxmlformats.org/drawingml/2006/main">
              <a:ext uri="{FF2B5EF4-FFF2-40B4-BE49-F238E27FC236}">
                <a16:creationId xmlns:a16="http://schemas.microsoft.com/office/drawing/2014/main" id="{ECDF84BC-AE8E-4B63-888A-4A5CD5462602}"/>
              </a:ext>
            </a:extLst>
          </p:cNvPr>
          <p:cNvSpPr>
            <a:spLocks xmlns:a="http://schemas.openxmlformats.org/drawingml/2006/main" noGrp="1"/>
          </p:cNvSpPr>
          <p:nvPr/>
        </p:nvSpPr>
        <p:spPr>
          <a:xfrm xmlns:a="http://schemas.openxmlformats.org/drawingml/2006/main">
            <a:off x="10312400" y="49784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Market / location comparison</a:t>
            </a:r>
          </a:p>
        </p:txBody>
      </p:sp>
      <p:cxnSp>
        <p:nvCxnSpPr>
          <p:cNvPr id="45" name="">
            <a:extLst xmlns:a="http://schemas.openxmlformats.org/drawingml/2006/main">
              <a:ext uri="{FF2B5EF4-FFF2-40B4-BE49-F238E27FC236}">
                <a16:creationId xmlns:a16="http://schemas.microsoft.com/office/drawing/2014/main" id="{20D71C6C-5697-4595-97E6-3C75D40A88CF}"/>
              </a:ext>
            </a:extLst>
          </p:cNvPr>
          <p:cNvCxnSpPr/>
          <p:nvPr/>
        </p:nvCxnSpPr>
        <p:spPr>
          <a:xfrm xmlns:a="http://schemas.openxmlformats.org/drawingml/2006/main" flipH="0" flipV="0">
            <a:off x="11690350" y="4673600"/>
            <a:ext cx="0" cy="304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6" name="shape-164">
            <a:extLst xmlns:a="http://schemas.openxmlformats.org/drawingml/2006/main">
              <a:ext uri="{FF2B5EF4-FFF2-40B4-BE49-F238E27FC236}">
                <a16:creationId xmlns:a16="http://schemas.microsoft.com/office/drawing/2014/main" id="{056B722D-962F-4CC6-8BD3-EC5EE9E5A56E}"/>
              </a:ext>
            </a:extLst>
          </p:cNvPr>
          <p:cNvSpPr>
            <a:spLocks xmlns:a="http://schemas.openxmlformats.org/drawingml/2006/main" noGrp="1"/>
          </p:cNvSpPr>
          <p:nvPr/>
        </p:nvSpPr>
        <p:spPr>
          <a:xfrm xmlns:a="http://schemas.openxmlformats.org/drawingml/2006/main">
            <a:off x="10312400" y="59563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Five-strategy scoring</a:t>
            </a:r>
          </a:p>
        </p:txBody>
      </p:sp>
      <p:cxnSp>
        <p:nvCxnSpPr>
          <p:cNvPr id="47" name="">
            <a:extLst xmlns:a="http://schemas.openxmlformats.org/drawingml/2006/main">
              <a:ext uri="{FF2B5EF4-FFF2-40B4-BE49-F238E27FC236}">
                <a16:creationId xmlns:a16="http://schemas.microsoft.com/office/drawing/2014/main" id="{5780EF94-F506-4266-9D8D-ED339CF3627F}"/>
              </a:ext>
            </a:extLst>
          </p:cNvPr>
          <p:cNvCxnSpPr/>
          <p:nvPr/>
        </p:nvCxnSpPr>
        <p:spPr>
          <a:xfrm xmlns:a="http://schemas.openxmlformats.org/drawingml/2006/main" flipH="0" flipV="0">
            <a:off x="11690350" y="5651500"/>
            <a:ext cx="0" cy="304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8" name="text-166">
            <a:extLst xmlns:a="http://schemas.openxmlformats.org/drawingml/2006/main">
              <a:ext uri="{FF2B5EF4-FFF2-40B4-BE49-F238E27FC236}">
                <a16:creationId xmlns:a16="http://schemas.microsoft.com/office/drawing/2014/main" id="{9A71F004-89B6-4BFF-B63A-4979B48E9580}"/>
              </a:ext>
            </a:extLst>
          </p:cNvPr>
          <p:cNvSpPr>
            <a:spLocks xmlns:a="http://schemas.openxmlformats.org/drawingml/2006/main" noGrp="1"/>
          </p:cNvSpPr>
          <p:nvPr/>
        </p:nvSpPr>
        <p:spPr>
          <a:xfrm xmlns:a="http://schemas.openxmlformats.org/drawingml/2006/main">
            <a:off x="10185400" y="6972300"/>
            <a:ext cx="2933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i="0">
                <a:solidFill>
                  <a:srgbClr val="000000"/>
                </a:solidFill>
                <a:latin typeface="Times New Roman"/>
                <a:ea typeface="Times New Roman"/>
                <a:cs typeface="Times New Roman"/>
              </a:defRPr>
            </a:defPPr>
          </a:lstStyle>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Recheck capacity under locks before approval.</a:t>
            </a:r>
          </a:p>
        </p:txBody>
      </p:sp>
      <p:sp>
        <p:nvSpPr>
          <p:cNvPr id="49" name="text-168">
            <a:extLst xmlns:a="http://schemas.openxmlformats.org/drawingml/2006/main">
              <a:ext uri="{FF2B5EF4-FFF2-40B4-BE49-F238E27FC236}">
                <a16:creationId xmlns:a16="http://schemas.microsoft.com/office/drawing/2014/main" id="{934A1D7A-0396-4A19-BAB8-E31C5E7DC189}"/>
              </a:ext>
            </a:extLst>
          </p:cNvPr>
          <p:cNvSpPr>
            <a:spLocks xmlns:a="http://schemas.openxmlformats.org/drawingml/2006/main" noGrp="1"/>
          </p:cNvSpPr>
          <p:nvPr/>
        </p:nvSpPr>
        <p:spPr>
          <a:xfrm xmlns:a="http://schemas.openxmlformats.org/drawingml/2006/main">
            <a:off x="14389100" y="1473200"/>
            <a:ext cx="3632200" cy="71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00" b="1" i="0">
                <a:solidFill>
                  <a:srgbClr val="000000"/>
                </a:solidFill>
                <a:latin typeface="Times New Roman"/>
                <a:ea typeface="Times New Roman"/>
                <a:cs typeface="Times New Roman"/>
              </a:defRPr>
            </a:defPPr>
          </a:lstStyle>
          <a:p xmlns:a="http://schemas.openxmlformats.org/drawingml/2006/main">
            <a:pPr algn="ctr">
              <a:defRPr sz="2500" b="1" i="0">
                <a:solidFill>
                  <a:srgbClr val="000000"/>
                </a:solidFill>
                <a:latin typeface="Times New Roman"/>
                <a:ea typeface="Times New Roman"/>
                <a:cs typeface="Times New Roman"/>
              </a:defRPr>
            </a:pPr>
            <a:r>
              <a:rPr sz="2500" b="1" i="0">
                <a:solidFill>
                  <a:srgbClr val="000000"/>
                </a:solidFill>
                <a:latin typeface="Times New Roman"/>
                <a:ea typeface="Times New Roman"/>
                <a:cs typeface="Times New Roman"/>
              </a:rPr>
              <a:t>Human Decision</a:t>
            </a:r>
          </a:p>
          <a:p xmlns:a="http://schemas.openxmlformats.org/drawingml/2006/main">
            <a:pPr algn="ctr">
              <a:defRPr sz="2500" b="1" i="0">
                <a:solidFill>
                  <a:srgbClr val="000000"/>
                </a:solidFill>
                <a:latin typeface="Times New Roman"/>
                <a:ea typeface="Times New Roman"/>
                <a:cs typeface="Times New Roman"/>
              </a:defRPr>
            </a:pPr>
            <a:r>
              <a:rPr sz="2500" b="1" i="0">
                <a:solidFill>
                  <a:srgbClr val="000000"/>
                </a:solidFill>
                <a:latin typeface="Times New Roman"/>
                <a:ea typeface="Times New Roman"/>
                <a:cs typeface="Times New Roman"/>
              </a:rPr>
              <a:t>and Execution</a:t>
            </a:r>
          </a:p>
        </p:txBody>
      </p:sp>
      <p:sp>
        <p:nvSpPr>
          <p:cNvPr id="50" name="shape-169">
            <a:extLst xmlns:a="http://schemas.openxmlformats.org/drawingml/2006/main">
              <a:ext uri="{FF2B5EF4-FFF2-40B4-BE49-F238E27FC236}">
                <a16:creationId xmlns:a16="http://schemas.microsoft.com/office/drawing/2014/main" id="{31B1340F-FBA5-49B8-9819-9B1C9592DC98}"/>
              </a:ext>
            </a:extLst>
          </p:cNvPr>
          <p:cNvSpPr>
            <a:spLocks xmlns:a="http://schemas.openxmlformats.org/drawingml/2006/main" noGrp="1"/>
          </p:cNvSpPr>
          <p:nvPr/>
        </p:nvSpPr>
        <p:spPr>
          <a:xfrm xmlns:a="http://schemas.openxmlformats.org/drawingml/2006/main">
            <a:off x="13855700" y="2413000"/>
            <a:ext cx="4152900" cy="88900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1">
                <a:solidFill>
                  <a:srgbClr val="000000"/>
                </a:solidFill>
                <a:latin typeface="Times New Roman"/>
                <a:ea typeface="Times New Roman"/>
                <a:cs typeface="Times New Roman"/>
              </a:defRPr>
            </a:defPPr>
          </a:lstStyle>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BUILD     BUY     BORROW</a:t>
            </a:r>
          </a:p>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AUTOMATE     RELOCATE</a:t>
            </a:r>
          </a:p>
        </p:txBody>
      </p:sp>
      <p:sp>
        <p:nvSpPr>
          <p:cNvPr id="51" name="shape-170">
            <a:extLst xmlns:a="http://schemas.openxmlformats.org/drawingml/2006/main">
              <a:ext uri="{FF2B5EF4-FFF2-40B4-BE49-F238E27FC236}">
                <a16:creationId xmlns:a16="http://schemas.microsoft.com/office/drawing/2014/main" id="{5F376962-A072-426F-993B-8C8E514AC15E}"/>
              </a:ext>
            </a:extLst>
          </p:cNvPr>
          <p:cNvSpPr>
            <a:spLocks xmlns:a="http://schemas.openxmlformats.org/drawingml/2006/main" noGrp="1"/>
          </p:cNvSpPr>
          <p:nvPr/>
        </p:nvSpPr>
        <p:spPr>
          <a:xfrm xmlns:a="http://schemas.openxmlformats.org/drawingml/2006/main">
            <a:off x="14287500" y="3733800"/>
            <a:ext cx="3251200" cy="787400"/>
          </a:xfrm>
          <a:prstGeom xmlns:a="http://schemas.openxmlformats.org/drawingml/2006/main" prst="roundRect">
            <a:avLst>
              <a:gd name="adj" fmla="val 19355"/>
            </a:avLst>
          </a:prstGeom>
          <a:solidFill xmlns:a="http://schemas.openxmlformats.org/drawingml/2006/main">
            <a:srgbClr val="F8E7E7"/>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Reviewer rationale</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and saved decision brief</a:t>
            </a:r>
          </a:p>
        </p:txBody>
      </p:sp>
      <p:cxnSp>
        <p:nvCxnSpPr>
          <p:cNvPr id="52" name="">
            <a:extLst xmlns:a="http://schemas.openxmlformats.org/drawingml/2006/main">
              <a:ext uri="{FF2B5EF4-FFF2-40B4-BE49-F238E27FC236}">
                <a16:creationId xmlns:a16="http://schemas.microsoft.com/office/drawing/2014/main" id="{AD538EAF-DABC-410A-B466-19FBE23281AC}"/>
              </a:ext>
            </a:extLst>
          </p:cNvPr>
          <p:cNvCxnSpPr/>
          <p:nvPr/>
        </p:nvCxnSpPr>
        <p:spPr>
          <a:xfrm xmlns:a="http://schemas.openxmlformats.org/drawingml/2006/main" flipH="1" flipV="0">
            <a:off x="15913100" y="3302000"/>
            <a:ext cx="19050" cy="431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3" name="shape-171">
            <a:extLst xmlns:a="http://schemas.openxmlformats.org/drawingml/2006/main">
              <a:ext uri="{FF2B5EF4-FFF2-40B4-BE49-F238E27FC236}">
                <a16:creationId xmlns:a16="http://schemas.microsoft.com/office/drawing/2014/main" id="{91CBA147-5E64-40F3-9ED5-14D0C4E56AEB}"/>
              </a:ext>
            </a:extLst>
          </p:cNvPr>
          <p:cNvSpPr>
            <a:spLocks xmlns:a="http://schemas.openxmlformats.org/drawingml/2006/main" noGrp="1"/>
          </p:cNvSpPr>
          <p:nvPr/>
        </p:nvSpPr>
        <p:spPr>
          <a:xfrm xmlns:a="http://schemas.openxmlformats.org/drawingml/2006/main">
            <a:off x="14287500" y="4889500"/>
            <a:ext cx="3251200" cy="787400"/>
          </a:xfrm>
          <a:prstGeom xmlns:a="http://schemas.openxmlformats.org/drawingml/2006/main" prst="roundRect">
            <a:avLst>
              <a:gd name="adj" fmla="val 19355"/>
            </a:avLst>
          </a:prstGeom>
          <a:solidFill xmlns:a="http://schemas.openxmlformats.org/drawingml/2006/main">
            <a:srgbClr val="F8E7E7"/>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Reserve capacity</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Create accountable work</a:t>
            </a:r>
          </a:p>
        </p:txBody>
      </p:sp>
      <p:cxnSp>
        <p:nvCxnSpPr>
          <p:cNvPr id="54" name="">
            <a:extLst xmlns:a="http://schemas.openxmlformats.org/drawingml/2006/main">
              <a:ext uri="{FF2B5EF4-FFF2-40B4-BE49-F238E27FC236}">
                <a16:creationId xmlns:a16="http://schemas.microsoft.com/office/drawing/2014/main" id="{16700085-B41E-4304-8D04-3A79D52B8968}"/>
              </a:ext>
            </a:extLst>
          </p:cNvPr>
          <p:cNvCxnSpPr/>
          <p:nvPr/>
        </p:nvCxnSpPr>
        <p:spPr>
          <a:xfrm xmlns:a="http://schemas.openxmlformats.org/drawingml/2006/main" flipH="0" flipV="0">
            <a:off x="15913100" y="4521200"/>
            <a:ext cx="0" cy="3683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5" name="shape-172">
            <a:extLst xmlns:a="http://schemas.openxmlformats.org/drawingml/2006/main">
              <a:ext uri="{FF2B5EF4-FFF2-40B4-BE49-F238E27FC236}">
                <a16:creationId xmlns:a16="http://schemas.microsoft.com/office/drawing/2014/main" id="{9F67301D-255A-42A4-91CF-ED55EAA9A8B3}"/>
              </a:ext>
            </a:extLst>
          </p:cNvPr>
          <p:cNvSpPr>
            <a:spLocks xmlns:a="http://schemas.openxmlformats.org/drawingml/2006/main" noGrp="1"/>
          </p:cNvSpPr>
          <p:nvPr/>
        </p:nvSpPr>
        <p:spPr>
          <a:xfrm xmlns:a="http://schemas.openxmlformats.org/drawingml/2006/main">
            <a:off x="14109700" y="6045200"/>
            <a:ext cx="3606800" cy="863600"/>
          </a:xfrm>
          <a:prstGeom xmlns:a="http://schemas.openxmlformats.org/drawingml/2006/main" prst="roundRect">
            <a:avLst>
              <a:gd name="adj" fmla="val 17647"/>
            </a:avLst>
          </a:prstGeom>
          <a:solidFill xmlns:a="http://schemas.openxmlformats.org/drawingml/2006/main">
            <a:srgbClr val="F8E7E7"/>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Recruitment pipeline</a:t>
            </a:r>
          </a:p>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Screen, interview, offer, hire</a:t>
            </a:r>
          </a:p>
        </p:txBody>
      </p:sp>
      <p:cxnSp>
        <p:nvCxnSpPr>
          <p:cNvPr id="56" name="">
            <a:extLst xmlns:a="http://schemas.openxmlformats.org/drawingml/2006/main">
              <a:ext uri="{FF2B5EF4-FFF2-40B4-BE49-F238E27FC236}">
                <a16:creationId xmlns:a16="http://schemas.microsoft.com/office/drawing/2014/main" id="{79D486AC-2A68-4FA9-89E9-0DC2BD0B8ADE}"/>
              </a:ext>
            </a:extLst>
          </p:cNvPr>
          <p:cNvCxnSpPr/>
          <p:nvPr/>
        </p:nvCxnSpPr>
        <p:spPr>
          <a:xfrm xmlns:a="http://schemas.openxmlformats.org/drawingml/2006/main" flipH="0" flipV="0">
            <a:off x="15913100" y="5676900"/>
            <a:ext cx="0" cy="3683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7" name="text-174">
            <a:extLst xmlns:a="http://schemas.openxmlformats.org/drawingml/2006/main">
              <a:ext uri="{FF2B5EF4-FFF2-40B4-BE49-F238E27FC236}">
                <a16:creationId xmlns:a16="http://schemas.microsoft.com/office/drawing/2014/main" id="{215FFEA1-E672-4CEE-AEDA-F4B004BFB4C9}"/>
              </a:ext>
            </a:extLst>
          </p:cNvPr>
          <p:cNvSpPr>
            <a:spLocks xmlns:a="http://schemas.openxmlformats.org/drawingml/2006/main" noGrp="1"/>
          </p:cNvSpPr>
          <p:nvPr/>
        </p:nvSpPr>
        <p:spPr>
          <a:xfrm xmlns:a="http://schemas.openxmlformats.org/drawingml/2006/main">
            <a:off x="13906500" y="7188200"/>
            <a:ext cx="41275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0" i="1">
                <a:solidFill>
                  <a:srgbClr val="000000"/>
                </a:solidFill>
                <a:latin typeface="Times New Roman"/>
                <a:ea typeface="Times New Roman"/>
                <a:cs typeface="Times New Roman"/>
              </a:defRPr>
            </a:defPPr>
          </a:lstStyle>
          <a:p xmlns:a="http://schemas.openxmlformats.org/drawingml/2006/main">
            <a:pPr algn="ctr">
              <a:defRPr sz="2000" b="0" i="1">
                <a:solidFill>
                  <a:srgbClr val="000000"/>
                </a:solidFill>
                <a:latin typeface="Times New Roman"/>
                <a:ea typeface="Times New Roman"/>
                <a:cs typeface="Times New Roman"/>
              </a:defRPr>
            </a:pPr>
            <a:r>
              <a:rPr sz="2000" b="0" i="1">
                <a:solidFill>
                  <a:srgbClr val="000000"/>
                </a:solidFill>
                <a:latin typeface="Times New Roman"/>
                <a:ea typeface="Times New Roman"/>
                <a:cs typeface="Times New Roman"/>
              </a:rPr>
              <a:t>Owners record evidence and outcomes</a:t>
            </a:r>
          </a:p>
        </p:txBody>
      </p:sp>
      <p:sp>
        <p:nvSpPr>
          <p:cNvPr id="58" name="shape-175">
            <a:extLst xmlns:a="http://schemas.openxmlformats.org/drawingml/2006/main">
              <a:ext uri="{FF2B5EF4-FFF2-40B4-BE49-F238E27FC236}">
                <a16:creationId xmlns:a16="http://schemas.microsoft.com/office/drawing/2014/main" id="{A1DF2F7A-5D14-43F0-B515-124F9018AE4E}"/>
              </a:ext>
            </a:extLst>
          </p:cNvPr>
          <p:cNvSpPr>
            <a:spLocks xmlns:a="http://schemas.openxmlformats.org/drawingml/2006/main" noGrp="1"/>
          </p:cNvSpPr>
          <p:nvPr/>
        </p:nvSpPr>
        <p:spPr>
          <a:xfrm xmlns:a="http://schemas.openxmlformats.org/drawingml/2006/main">
            <a:off x="2933700" y="4470400"/>
            <a:ext cx="279400" cy="2159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59" name="shape-176">
            <a:extLst xmlns:a="http://schemas.openxmlformats.org/drawingml/2006/main">
              <a:ext uri="{FF2B5EF4-FFF2-40B4-BE49-F238E27FC236}">
                <a16:creationId xmlns:a16="http://schemas.microsoft.com/office/drawing/2014/main" id="{B73FBF37-B0C8-4257-89ED-CCBFD751EE54}"/>
              </a:ext>
            </a:extLst>
          </p:cNvPr>
          <p:cNvSpPr>
            <a:spLocks xmlns:a="http://schemas.openxmlformats.org/drawingml/2006/main" noGrp="1"/>
          </p:cNvSpPr>
          <p:nvPr/>
        </p:nvSpPr>
        <p:spPr>
          <a:xfrm xmlns:a="http://schemas.openxmlformats.org/drawingml/2006/main">
            <a:off x="9664700" y="4470400"/>
            <a:ext cx="279400" cy="2159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60" name="shape-177">
            <a:extLst xmlns:a="http://schemas.openxmlformats.org/drawingml/2006/main">
              <a:ext uri="{FF2B5EF4-FFF2-40B4-BE49-F238E27FC236}">
                <a16:creationId xmlns:a16="http://schemas.microsoft.com/office/drawing/2014/main" id="{548C5ED9-8203-443E-8489-E6019870B22B}"/>
              </a:ext>
            </a:extLst>
          </p:cNvPr>
          <p:cNvSpPr>
            <a:spLocks xmlns:a="http://schemas.openxmlformats.org/drawingml/2006/main" noGrp="1"/>
          </p:cNvSpPr>
          <p:nvPr/>
        </p:nvSpPr>
        <p:spPr>
          <a:xfrm xmlns:a="http://schemas.openxmlformats.org/drawingml/2006/main">
            <a:off x="13373100" y="4470400"/>
            <a:ext cx="279400" cy="2159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61" name="shape-178">
            <a:extLst xmlns:a="http://schemas.openxmlformats.org/drawingml/2006/main">
              <a:ext uri="{FF2B5EF4-FFF2-40B4-BE49-F238E27FC236}">
                <a16:creationId xmlns:a16="http://schemas.microsoft.com/office/drawing/2014/main" id="{E49A5296-4250-4A5E-800C-CFC363E985B4}"/>
              </a:ext>
            </a:extLst>
          </p:cNvPr>
          <p:cNvSpPr>
            <a:spLocks xmlns:a="http://schemas.openxmlformats.org/drawingml/2006/main" noGrp="1"/>
          </p:cNvSpPr>
          <p:nvPr/>
        </p:nvSpPr>
        <p:spPr>
          <a:xfrm xmlns:a="http://schemas.openxmlformats.org/drawingml/2006/main">
            <a:off x="6819900" y="8026400"/>
            <a:ext cx="6057900" cy="698500"/>
          </a:xfrm>
          <a:prstGeom xmlns:a="http://schemas.openxmlformats.org/drawingml/2006/main" prst="roundRect">
            <a:avLst>
              <a:gd name="adj" fmla="val 50000"/>
            </a:avLst>
          </a:prstGeom>
          <a:solidFill xmlns:a="http://schemas.openxmlformats.org/drawingml/2006/main">
            <a:srgbClr val="E0EDF6"/>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Feedback: updated assessments, learning evidence and hiring outcomes</a:t>
            </a:r>
          </a:p>
        </p:txBody>
      </p:sp>
      <p:sp>
        <p:nvSpPr>
          <p:cNvPr id="62" name="text-180">
            <a:extLst xmlns:a="http://schemas.openxmlformats.org/drawingml/2006/main">
              <a:ext uri="{FF2B5EF4-FFF2-40B4-BE49-F238E27FC236}">
                <a16:creationId xmlns:a16="http://schemas.microsoft.com/office/drawing/2014/main" id="{0D1AD1DB-2A1F-417E-83A6-80035605B9C3}"/>
              </a:ext>
            </a:extLst>
          </p:cNvPr>
          <p:cNvSpPr>
            <a:spLocks xmlns:a="http://schemas.openxmlformats.org/drawingml/2006/main" noGrp="1"/>
          </p:cNvSpPr>
          <p:nvPr/>
        </p:nvSpPr>
        <p:spPr>
          <a:xfrm xmlns:a="http://schemas.openxmlformats.org/drawingml/2006/main">
            <a:off x="152400" y="8458200"/>
            <a:ext cx="30480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u="sng">
                <a:solidFill>
                  <a:srgbClr val="000000"/>
                </a:solidFill>
                <a:latin typeface="Times New Roman"/>
                <a:ea typeface="Times New Roman"/>
                <a:cs typeface="Times New Roman"/>
              </a:defRPr>
            </a:defPPr>
          </a:lstStyle>
          <a:p xmlns:a="http://schemas.openxmlformats.org/drawingml/2006/main">
            <a:pPr algn="l">
              <a:defRPr sz="2000" b="1" i="0" u="sng">
                <a:solidFill>
                  <a:srgbClr val="000000"/>
                </a:solidFill>
                <a:latin typeface="Times New Roman"/>
                <a:ea typeface="Times New Roman"/>
                <a:cs typeface="Times New Roman"/>
              </a:defRPr>
            </a:pPr>
            <a:r>
              <a:rPr sz="2000" b="1" i="0" u="sng">
                <a:solidFill>
                  <a:srgbClr val="000000"/>
                </a:solidFill>
                <a:latin typeface="Times New Roman"/>
                <a:ea typeface="Times New Roman"/>
                <a:cs typeface="Times New Roman"/>
              </a:rPr>
              <a:t>Software Stack:</a:t>
            </a:r>
          </a:p>
        </p:txBody>
      </p:sp>
      <p:sp>
        <p:nvSpPr>
          <p:cNvPr id="63" name="text-182">
            <a:extLst xmlns:a="http://schemas.openxmlformats.org/drawingml/2006/main">
              <a:ext uri="{FF2B5EF4-FFF2-40B4-BE49-F238E27FC236}">
                <a16:creationId xmlns:a16="http://schemas.microsoft.com/office/drawing/2014/main" id="{BDC12C65-D719-4BDC-8558-0001226DCAA6}"/>
              </a:ext>
            </a:extLst>
          </p:cNvPr>
          <p:cNvSpPr>
            <a:spLocks xmlns:a="http://schemas.openxmlformats.org/drawingml/2006/main" noGrp="1"/>
          </p:cNvSpPr>
          <p:nvPr/>
        </p:nvSpPr>
        <p:spPr>
          <a:xfrm xmlns:a="http://schemas.openxmlformats.org/drawingml/2006/main">
            <a:off x="330200" y="8801100"/>
            <a:ext cx="11087100" cy="78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Next.js / React interface     TypeScript / Zod validation</a:t>
            </a:r>
          </a:p>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PostgreSQL / Neon storage     Better Auth sessions</a:t>
            </a:r>
          </a:p>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Optional Gemini: non-confidential requirement parsing</a:t>
            </a:r>
          </a:p>
        </p:txBody>
      </p:sp>
      <p:sp>
        <p:nvSpPr>
          <p:cNvPr id="64" name="text-184">
            <a:extLst xmlns:a="http://schemas.openxmlformats.org/drawingml/2006/main">
              <a:ext uri="{FF2B5EF4-FFF2-40B4-BE49-F238E27FC236}">
                <a16:creationId xmlns:a16="http://schemas.microsoft.com/office/drawing/2014/main" id="{6B5CC2B6-BEBD-4CA0-B49A-F766A279115E}"/>
              </a:ext>
            </a:extLst>
          </p:cNvPr>
          <p:cNvSpPr>
            <a:spLocks xmlns:a="http://schemas.openxmlformats.org/drawingml/2006/main" noGrp="1"/>
          </p:cNvSpPr>
          <p:nvPr/>
        </p:nvSpPr>
        <p:spPr>
          <a:xfrm xmlns:a="http://schemas.openxmlformats.org/drawingml/2006/main">
            <a:off x="12014200" y="8851900"/>
            <a:ext cx="57785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214E83"/>
                </a:solidFill>
                <a:latin typeface="Times New Roman"/>
                <a:ea typeface="Times New Roman"/>
                <a:cs typeface="Times New Roman"/>
              </a:defRPr>
            </a:defPPr>
          </a:lstStyle>
          <a:p xmlns:a="http://schemas.openxmlformats.org/drawingml/2006/main">
            <a:pPr algn="l">
              <a:defRPr sz="2100" b="0" i="0">
                <a:solidFill>
                  <a:srgbClr val="214E83"/>
                </a:solidFill>
                <a:latin typeface="Times New Roman"/>
                <a:ea typeface="Times New Roman"/>
                <a:cs typeface="Times New Roman"/>
              </a:defRPr>
            </a:pPr>
            <a:r>
              <a:rPr sz="2100" b="0" i="0">
                <a:solidFill>
                  <a:srgbClr val="214E83"/>
                </a:solidFill>
                <a:latin typeface="Times New Roman"/>
                <a:ea typeface="Times New Roman"/>
                <a:cs typeface="Times New Roman"/>
              </a:rPr>
              <a:t>Prototype workflow: /presentation</a:t>
            </a:r>
          </a:p>
          <a:p xmlns:a="http://schemas.openxmlformats.org/drawingml/2006/main">
            <a:pPr algn="l">
              <a:defRPr sz="2100" b="0" i="0">
                <a:solidFill>
                  <a:srgbClr val="214E83"/>
                </a:solidFill>
                <a:latin typeface="Times New Roman"/>
                <a:ea typeface="Times New Roman"/>
                <a:cs typeface="Times New Roman"/>
              </a:defRPr>
            </a:pPr>
            <a:r>
              <a:rPr sz="2100" b="0" i="0">
                <a:solidFill>
                  <a:srgbClr val="214E83"/>
                </a:solidFill>
                <a:latin typeface="Times New Roman"/>
                <a:ea typeface="Times New Roman"/>
                <a:cs typeface="Times New Roman"/>
              </a:rPr>
              <a:t>Private data stays in the workspace</a:t>
            </a:r>
          </a:p>
        </p:txBody>
      </p:sp>
    </p:spTree>
    <p:extLst>
      <p:ext uri="{BB962C8B-B14F-4D97-AF65-F5344CB8AC3E}">
        <p14:creationId xmlns:p14="http://schemas.microsoft.com/office/powerpoint/2010/main" val="12189315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shape-185">
            <a:extLst xmlns:a="http://schemas.openxmlformats.org/drawingml/2006/main">
              <a:ext uri="{FF2B5EF4-FFF2-40B4-BE49-F238E27FC236}">
                <a16:creationId xmlns:a16="http://schemas.microsoft.com/office/drawing/2014/main" id="{00BF4A66-37CB-4ED1-8081-80F5AE5A8BAB}"/>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187">
            <a:extLst xmlns:a="http://schemas.openxmlformats.org/drawingml/2006/main">
              <a:ext uri="{FF2B5EF4-FFF2-40B4-BE49-F238E27FC236}">
                <a16:creationId xmlns:a16="http://schemas.microsoft.com/office/drawing/2014/main" id="{CE572968-F9AD-4D14-9A98-ED86D6FEFAE7}"/>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960A15A3-0CC9-4EDC-A645-C04CDB6EDBFA}"/>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BUSINESS SCALABILITY</a:t>
            </a:r>
          </a:p>
        </p:txBody>
      </p:sp>
      <p:sp>
        <p:nvSpPr>
          <p:cNvPr id="4" name="text-190">
            <a:extLst xmlns:a="http://schemas.openxmlformats.org/drawingml/2006/main">
              <a:ext uri="{FF2B5EF4-FFF2-40B4-BE49-F238E27FC236}">
                <a16:creationId xmlns:a16="http://schemas.microsoft.com/office/drawing/2014/main" id="{DCAA8E48-E74A-46CB-9816-E7F056261063}"/>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191">
            <a:extLst xmlns:a="http://schemas.openxmlformats.org/drawingml/2006/main">
              <a:ext uri="{FF2B5EF4-FFF2-40B4-BE49-F238E27FC236}">
                <a16:creationId xmlns:a16="http://schemas.microsoft.com/office/drawing/2014/main" id="{A28E722E-0C44-4320-8F37-947ED765703F}"/>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193">
            <a:extLst xmlns:a="http://schemas.openxmlformats.org/drawingml/2006/main">
              <a:ext uri="{FF2B5EF4-FFF2-40B4-BE49-F238E27FC236}">
                <a16:creationId xmlns:a16="http://schemas.microsoft.com/office/drawing/2014/main" id="{58DB43C0-3E39-4B86-BAB7-01D9C4531D4B}"/>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4</a:t>
            </a:r>
          </a:p>
        </p:txBody>
      </p:sp>
      <p:sp>
        <p:nvSpPr>
          <p:cNvPr id="7" name="text-195">
            <a:extLst xmlns:a="http://schemas.openxmlformats.org/drawingml/2006/main">
              <a:ext uri="{FF2B5EF4-FFF2-40B4-BE49-F238E27FC236}">
                <a16:creationId xmlns:a16="http://schemas.microsoft.com/office/drawing/2014/main" id="{40DF8F9D-EE52-44EC-A287-9E53EC9887DF}"/>
              </a:ext>
            </a:extLst>
          </p:cNvPr>
          <p:cNvSpPr>
            <a:spLocks xmlns:a="http://schemas.openxmlformats.org/drawingml/2006/main" noGrp="1"/>
          </p:cNvSpPr>
          <p:nvPr/>
        </p:nvSpPr>
        <p:spPr>
          <a:xfrm xmlns:a="http://schemas.openxmlformats.org/drawingml/2006/main">
            <a:off x="342900" y="1181100"/>
            <a:ext cx="7531100" cy="43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00" b="1" i="0" u="sng">
                <a:solidFill>
                  <a:srgbClr val="214E83"/>
                </a:solidFill>
                <a:latin typeface="Times New Roman"/>
                <a:ea typeface="Times New Roman"/>
                <a:cs typeface="Times New Roman"/>
              </a:defRPr>
            </a:defPPr>
          </a:lstStyle>
          <a:p xmlns:a="http://schemas.openxmlformats.org/drawingml/2006/main">
            <a:pPr algn="l">
              <a:defRPr sz="2600" b="1" i="0" u="sng">
                <a:solidFill>
                  <a:srgbClr val="214E83"/>
                </a:solidFill>
                <a:latin typeface="Times New Roman"/>
                <a:ea typeface="Times New Roman"/>
                <a:cs typeface="Times New Roman"/>
              </a:defRPr>
            </a:pPr>
            <a:r>
              <a:rPr sz="2600" b="1" i="0" u="sng">
                <a:solidFill>
                  <a:srgbClr val="214E83"/>
                </a:solidFill>
                <a:latin typeface="Times New Roman"/>
                <a:ea typeface="Times New Roman"/>
                <a:cs typeface="Times New Roman"/>
              </a:rPr>
              <a:t>BUSINESS MODEL AND CUSTOMER VALUE</a:t>
            </a:r>
          </a:p>
        </p:txBody>
      </p:sp>
      <p:sp>
        <p:nvSpPr>
          <p:cNvPr id="8" name="text-197">
            <a:extLst xmlns:a="http://schemas.openxmlformats.org/drawingml/2006/main">
              <a:ext uri="{FF2B5EF4-FFF2-40B4-BE49-F238E27FC236}">
                <a16:creationId xmlns:a16="http://schemas.microsoft.com/office/drawing/2014/main" id="{11BDC5A9-4351-4468-8A24-E5E67007261C}"/>
              </a:ext>
            </a:extLst>
          </p:cNvPr>
          <p:cNvSpPr>
            <a:spLocks xmlns:a="http://schemas.openxmlformats.org/drawingml/2006/main" noGrp="1"/>
          </p:cNvSpPr>
          <p:nvPr/>
        </p:nvSpPr>
        <p:spPr>
          <a:xfrm xmlns:a="http://schemas.openxmlformats.org/drawingml/2006/main">
            <a:off x="8648700" y="1117600"/>
            <a:ext cx="9334500" cy="48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00" b="1" i="0" u="sng">
                <a:solidFill>
                  <a:srgbClr val="214E83"/>
                </a:solidFill>
                <a:latin typeface="Times New Roman"/>
                <a:ea typeface="Times New Roman"/>
                <a:cs typeface="Times New Roman"/>
              </a:defRPr>
            </a:defPPr>
          </a:lstStyle>
          <a:p xmlns:a="http://schemas.openxmlformats.org/drawingml/2006/main">
            <a:pPr algn="l">
              <a:defRPr sz="2800" b="1" i="0" u="sng">
                <a:solidFill>
                  <a:srgbClr val="214E83"/>
                </a:solidFill>
                <a:latin typeface="Times New Roman"/>
                <a:ea typeface="Times New Roman"/>
                <a:cs typeface="Times New Roman"/>
              </a:defRPr>
            </a:pPr>
            <a:r>
              <a:rPr sz="2800" b="1" i="0" u="sng">
                <a:solidFill>
                  <a:srgbClr val="214E83"/>
                </a:solidFill>
                <a:latin typeface="Times New Roman"/>
                <a:ea typeface="Times New Roman"/>
                <a:cs typeface="Times New Roman"/>
              </a:rPr>
              <a:t>PROPOSED EXPANSION PATH</a:t>
            </a:r>
          </a:p>
        </p:txBody>
      </p:sp>
      <p:sp>
        <p:nvSpPr>
          <p:cNvPr id="9" name="shape-198">
            <a:extLst xmlns:a="http://schemas.openxmlformats.org/drawingml/2006/main">
              <a:ext uri="{FF2B5EF4-FFF2-40B4-BE49-F238E27FC236}">
                <a16:creationId xmlns:a16="http://schemas.microsoft.com/office/drawing/2014/main" id="{7C1DA3FC-EF09-4AA4-A44C-A553CAE31409}"/>
              </a:ext>
            </a:extLst>
          </p:cNvPr>
          <p:cNvSpPr>
            <a:spLocks xmlns:a="http://schemas.openxmlformats.org/drawingml/2006/main" noGrp="1"/>
          </p:cNvSpPr>
          <p:nvPr/>
        </p:nvSpPr>
        <p:spPr>
          <a:xfrm xmlns:a="http://schemas.openxmlformats.org/drawingml/2006/main">
            <a:off x="114300" y="1816100"/>
            <a:ext cx="7874000" cy="7594600"/>
          </a:xfrm>
          <a:prstGeom xmlns:a="http://schemas.openxmlformats.org/drawingml/2006/main" prst="rect">
            <a:avLst/>
          </a:prstGeom>
          <a:solidFill xmlns:a="http://schemas.openxmlformats.org/drawingml/2006/main">
            <a:srgbClr val="FFFFFF"/>
          </a:solidFill>
          <a:ln xmlns:a="http://schemas.openxmlformats.org/drawingml/2006/main" w="17780">
            <a:solidFill>
              <a:srgbClr val="000000"/>
            </a:solidFill>
            <a:prstDash val="solid"/>
          </a:ln>
        </p:spPr>
      </p:sp>
      <p:sp>
        <p:nvSpPr>
          <p:cNvPr id="10" name="text-200">
            <a:extLst xmlns:a="http://schemas.openxmlformats.org/drawingml/2006/main">
              <a:ext uri="{FF2B5EF4-FFF2-40B4-BE49-F238E27FC236}">
                <a16:creationId xmlns:a16="http://schemas.microsoft.com/office/drawing/2014/main" id="{11598723-1685-479C-9CE2-F4E5603CD0DF}"/>
              </a:ext>
            </a:extLst>
          </p:cNvPr>
          <p:cNvSpPr>
            <a:spLocks xmlns:a="http://schemas.openxmlformats.org/drawingml/2006/main" noGrp="1"/>
          </p:cNvSpPr>
          <p:nvPr/>
        </p:nvSpPr>
        <p:spPr>
          <a:xfrm xmlns:a="http://schemas.openxmlformats.org/drawingml/2006/main">
            <a:off x="368300" y="2019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Initial customers</a:t>
            </a:r>
          </a:p>
        </p:txBody>
      </p:sp>
      <p:sp>
        <p:nvSpPr>
          <p:cNvPr id="11" name="text-202">
            <a:extLst xmlns:a="http://schemas.openxmlformats.org/drawingml/2006/main">
              <a:ext uri="{FF2B5EF4-FFF2-40B4-BE49-F238E27FC236}">
                <a16:creationId xmlns:a16="http://schemas.microsoft.com/office/drawing/2014/main" id="{2B523BDD-6D57-4865-852A-147B738D1AC8}"/>
              </a:ext>
            </a:extLst>
          </p:cNvPr>
          <p:cNvSpPr>
            <a:spLocks xmlns:a="http://schemas.openxmlformats.org/drawingml/2006/main" noGrp="1"/>
          </p:cNvSpPr>
          <p:nvPr/>
        </p:nvSpPr>
        <p:spPr>
          <a:xfrm xmlns:a="http://schemas.openxmlformats.org/drawingml/2006/main">
            <a:off x="368300" y="2476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HR teams in IT services, staffing firms and growing enterprises. Begin with one department and its authorized records.</a:t>
            </a:r>
          </a:p>
        </p:txBody>
      </p:sp>
      <p:sp>
        <p:nvSpPr>
          <p:cNvPr id="12" name="text-204">
            <a:extLst xmlns:a="http://schemas.openxmlformats.org/drawingml/2006/main">
              <a:ext uri="{FF2B5EF4-FFF2-40B4-BE49-F238E27FC236}">
                <a16:creationId xmlns:a16="http://schemas.microsoft.com/office/drawing/2014/main" id="{6B445665-92D2-4442-8CEB-D13786A656F7}"/>
              </a:ext>
            </a:extLst>
          </p:cNvPr>
          <p:cNvSpPr>
            <a:spLocks xmlns:a="http://schemas.openxmlformats.org/drawingml/2006/main" noGrp="1"/>
          </p:cNvSpPr>
          <p:nvPr/>
        </p:nvSpPr>
        <p:spPr>
          <a:xfrm xmlns:a="http://schemas.openxmlformats.org/drawingml/2006/main">
            <a:off x="368300" y="3416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Value proposition</a:t>
            </a:r>
          </a:p>
        </p:txBody>
      </p:sp>
      <p:sp>
        <p:nvSpPr>
          <p:cNvPr id="13" name="text-206">
            <a:extLst xmlns:a="http://schemas.openxmlformats.org/drawingml/2006/main">
              <a:ext uri="{FF2B5EF4-FFF2-40B4-BE49-F238E27FC236}">
                <a16:creationId xmlns:a16="http://schemas.microsoft.com/office/drawing/2014/main" id="{ACE57FB2-EA35-4919-A409-7BDCC670E483}"/>
              </a:ext>
            </a:extLst>
          </p:cNvPr>
          <p:cNvSpPr>
            <a:spLocks xmlns:a="http://schemas.openxmlformats.org/drawingml/2006/main" noGrp="1"/>
          </p:cNvSpPr>
          <p:nvPr/>
        </p:nvSpPr>
        <p:spPr>
          <a:xfrm xmlns:a="http://schemas.openxmlformats.org/drawingml/2006/main">
            <a:off x="368300" y="3873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Compare internal development, contractor capacity and external sourcing before committing a requisition or budget.</a:t>
            </a:r>
          </a:p>
        </p:txBody>
      </p:sp>
      <p:sp>
        <p:nvSpPr>
          <p:cNvPr id="14" name="text-208">
            <a:extLst xmlns:a="http://schemas.openxmlformats.org/drawingml/2006/main">
              <a:ext uri="{FF2B5EF4-FFF2-40B4-BE49-F238E27FC236}">
                <a16:creationId xmlns:a16="http://schemas.microsoft.com/office/drawing/2014/main" id="{DC2E6432-0672-42BA-B993-EB43FDE0268E}"/>
              </a:ext>
            </a:extLst>
          </p:cNvPr>
          <p:cNvSpPr>
            <a:spLocks xmlns:a="http://schemas.openxmlformats.org/drawingml/2006/main" noGrp="1"/>
          </p:cNvSpPr>
          <p:nvPr/>
        </p:nvSpPr>
        <p:spPr>
          <a:xfrm xmlns:a="http://schemas.openxmlformats.org/drawingml/2006/main">
            <a:off x="368300" y="4813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Proposed revenue model</a:t>
            </a:r>
          </a:p>
        </p:txBody>
      </p:sp>
      <p:sp>
        <p:nvSpPr>
          <p:cNvPr id="15" name="text-210">
            <a:extLst xmlns:a="http://schemas.openxmlformats.org/drawingml/2006/main">
              <a:ext uri="{FF2B5EF4-FFF2-40B4-BE49-F238E27FC236}">
                <a16:creationId xmlns:a16="http://schemas.microsoft.com/office/drawing/2014/main" id="{E7995EF9-E0E8-44DA-9F2E-E2BA01801520}"/>
              </a:ext>
            </a:extLst>
          </p:cNvPr>
          <p:cNvSpPr>
            <a:spLocks xmlns:a="http://schemas.openxmlformats.org/drawingml/2006/main" noGrp="1"/>
          </p:cNvSpPr>
          <p:nvPr/>
        </p:nvSpPr>
        <p:spPr>
          <a:xfrm xmlns:a="http://schemas.openxmlformats.org/drawingml/2006/main">
            <a:off x="368300" y="5270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Workspace subscriptions, with optional integration and onboarding services. Pricing requires a customer pilot and cost validation.</a:t>
            </a:r>
          </a:p>
        </p:txBody>
      </p:sp>
      <p:sp>
        <p:nvSpPr>
          <p:cNvPr id="16" name="text-212">
            <a:extLst xmlns:a="http://schemas.openxmlformats.org/drawingml/2006/main">
              <a:ext uri="{FF2B5EF4-FFF2-40B4-BE49-F238E27FC236}">
                <a16:creationId xmlns:a16="http://schemas.microsoft.com/office/drawing/2014/main" id="{2570CBDB-A0FA-461D-BD34-FF0F0B0FF1B7}"/>
              </a:ext>
            </a:extLst>
          </p:cNvPr>
          <p:cNvSpPr>
            <a:spLocks xmlns:a="http://schemas.openxmlformats.org/drawingml/2006/main" noGrp="1"/>
          </p:cNvSpPr>
          <p:nvPr/>
        </p:nvSpPr>
        <p:spPr>
          <a:xfrm xmlns:a="http://schemas.openxmlformats.org/drawingml/2006/main">
            <a:off x="368300" y="6210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Adoption and retention</a:t>
            </a:r>
          </a:p>
        </p:txBody>
      </p:sp>
      <p:sp>
        <p:nvSpPr>
          <p:cNvPr id="17" name="text-214">
            <a:extLst xmlns:a="http://schemas.openxmlformats.org/drawingml/2006/main">
              <a:ext uri="{FF2B5EF4-FFF2-40B4-BE49-F238E27FC236}">
                <a16:creationId xmlns:a16="http://schemas.microsoft.com/office/drawing/2014/main" id="{78022002-EEB7-4B92-97CB-7EB184FE084D}"/>
              </a:ext>
            </a:extLst>
          </p:cNvPr>
          <p:cNvSpPr>
            <a:spLocks xmlns:a="http://schemas.openxmlformats.org/drawingml/2006/main" noGrp="1"/>
          </p:cNvSpPr>
          <p:nvPr/>
        </p:nvSpPr>
        <p:spPr>
          <a:xfrm xmlns:a="http://schemas.openxmlformats.org/drawingml/2006/main">
            <a:off x="368300" y="6667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Begin with mapped exports, then extend to approved connectors. Measure realized outcomes against the customer’s baseline.</a:t>
            </a:r>
          </a:p>
        </p:txBody>
      </p:sp>
      <p:sp>
        <p:nvSpPr>
          <p:cNvPr id="18" name="text-216">
            <a:extLst xmlns:a="http://schemas.openxmlformats.org/drawingml/2006/main">
              <a:ext uri="{FF2B5EF4-FFF2-40B4-BE49-F238E27FC236}">
                <a16:creationId xmlns:a16="http://schemas.microsoft.com/office/drawing/2014/main" id="{F89EB5FC-D62D-4BAF-8654-D46DEB07CDAB}"/>
              </a:ext>
            </a:extLst>
          </p:cNvPr>
          <p:cNvSpPr>
            <a:spLocks xmlns:a="http://schemas.openxmlformats.org/drawingml/2006/main" noGrp="1"/>
          </p:cNvSpPr>
          <p:nvPr/>
        </p:nvSpPr>
        <p:spPr>
          <a:xfrm xmlns:a="http://schemas.openxmlformats.org/drawingml/2006/main">
            <a:off x="368300" y="7607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Scale requirements</a:t>
            </a:r>
          </a:p>
        </p:txBody>
      </p:sp>
      <p:sp>
        <p:nvSpPr>
          <p:cNvPr id="19" name="text-218">
            <a:extLst xmlns:a="http://schemas.openxmlformats.org/drawingml/2006/main">
              <a:ext uri="{FF2B5EF4-FFF2-40B4-BE49-F238E27FC236}">
                <a16:creationId xmlns:a16="http://schemas.microsoft.com/office/drawing/2014/main" id="{502F827D-4FD0-4276-AFC0-0E7733F3CD30}"/>
              </a:ext>
            </a:extLst>
          </p:cNvPr>
          <p:cNvSpPr>
            <a:spLocks xmlns:a="http://schemas.openxmlformats.org/drawingml/2006/main" noGrp="1"/>
          </p:cNvSpPr>
          <p:nvPr/>
        </p:nvSpPr>
        <p:spPr>
          <a:xfrm xmlns:a="http://schemas.openxmlformats.org/drawingml/2006/main">
            <a:off x="368300" y="8064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Shared tenant roles, background ingestion, vendor API scopes, monitoring, backups and formal production verification.</a:t>
            </a:r>
          </a:p>
        </p:txBody>
      </p:sp>
      <p:sp>
        <p:nvSpPr>
          <p:cNvPr id="20" name="shape-219">
            <a:extLst xmlns:a="http://schemas.openxmlformats.org/drawingml/2006/main">
              <a:ext uri="{FF2B5EF4-FFF2-40B4-BE49-F238E27FC236}">
                <a16:creationId xmlns:a16="http://schemas.microsoft.com/office/drawing/2014/main" id="{8F6B070C-3A28-43C2-8AA9-C9417609D604}"/>
              </a:ext>
            </a:extLst>
          </p:cNvPr>
          <p:cNvSpPr>
            <a:spLocks xmlns:a="http://schemas.openxmlformats.org/drawingml/2006/main" noGrp="1"/>
          </p:cNvSpPr>
          <p:nvPr/>
        </p:nvSpPr>
        <p:spPr>
          <a:xfrm xmlns:a="http://schemas.openxmlformats.org/drawingml/2006/main">
            <a:off x="8166100" y="1536700"/>
            <a:ext cx="3073400" cy="6286500"/>
          </a:xfrm>
          <a:prstGeom xmlns:a="http://schemas.openxmlformats.org/drawingml/2006/main" prst="roundRect">
            <a:avLst>
              <a:gd name="adj" fmla="val 11570"/>
            </a:avLst>
          </a:prstGeom>
          <a:solidFill xmlns:a="http://schemas.openxmlformats.org/drawingml/2006/main">
            <a:srgbClr val="D7EED0"/>
          </a:solidFill>
          <a:ln xmlns:a="http://schemas.openxmlformats.org/drawingml/2006/main" w="16510">
            <a:solidFill>
              <a:srgbClr val="65984F"/>
            </a:solidFill>
            <a:prstDash val="solid"/>
          </a:ln>
        </p:spPr>
      </p:sp>
      <p:sp>
        <p:nvSpPr>
          <p:cNvPr id="21" name="text-221">
            <a:extLst xmlns:a="http://schemas.openxmlformats.org/drawingml/2006/main">
              <a:ext uri="{FF2B5EF4-FFF2-40B4-BE49-F238E27FC236}">
                <a16:creationId xmlns:a16="http://schemas.microsoft.com/office/drawing/2014/main" id="{A7A79607-CD74-4E78-9DC0-2A320FF1671B}"/>
              </a:ext>
            </a:extLst>
          </p:cNvPr>
          <p:cNvSpPr>
            <a:spLocks xmlns:a="http://schemas.openxmlformats.org/drawingml/2006/main" noGrp="1"/>
          </p:cNvSpPr>
          <p:nvPr/>
        </p:nvSpPr>
        <p:spPr>
          <a:xfrm xmlns:a="http://schemas.openxmlformats.org/drawingml/2006/main">
            <a:off x="8318500" y="1689100"/>
            <a:ext cx="276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00" b="1" i="0">
                <a:solidFill>
                  <a:srgbClr val="000000"/>
                </a:solidFill>
                <a:latin typeface="Times New Roman"/>
                <a:ea typeface="Times New Roman"/>
                <a:cs typeface="Times New Roman"/>
              </a:defRPr>
            </a:defPPr>
          </a:lstStyle>
          <a:p xmlns:a="http://schemas.openxmlformats.org/drawingml/2006/main">
            <a:pPr algn="ctr">
              <a:defRPr sz="2600" b="1" i="0">
                <a:solidFill>
                  <a:srgbClr val="000000"/>
                </a:solidFill>
                <a:latin typeface="Times New Roman"/>
                <a:ea typeface="Times New Roman"/>
                <a:cs typeface="Times New Roman"/>
              </a:defRPr>
            </a:pPr>
            <a:r>
              <a:rPr sz="2600" b="1" i="0">
                <a:solidFill>
                  <a:srgbClr val="000000"/>
                </a:solidFill>
                <a:latin typeface="Times New Roman"/>
                <a:ea typeface="Times New Roman"/>
                <a:cs typeface="Times New Roman"/>
              </a:rPr>
              <a:t>Phase 1</a:t>
            </a:r>
          </a:p>
        </p:txBody>
      </p:sp>
      <p:sp>
        <p:nvSpPr>
          <p:cNvPr id="22" name="text-223">
            <a:extLst xmlns:a="http://schemas.openxmlformats.org/drawingml/2006/main">
              <a:ext uri="{FF2B5EF4-FFF2-40B4-BE49-F238E27FC236}">
                <a16:creationId xmlns:a16="http://schemas.microsoft.com/office/drawing/2014/main" id="{9776B0A1-3CA3-4964-902F-9D1D258355A9}"/>
              </a:ext>
            </a:extLst>
          </p:cNvPr>
          <p:cNvSpPr>
            <a:spLocks xmlns:a="http://schemas.openxmlformats.org/drawingml/2006/main" noGrp="1"/>
          </p:cNvSpPr>
          <p:nvPr/>
        </p:nvSpPr>
        <p:spPr>
          <a:xfrm xmlns:a="http://schemas.openxmlformats.org/drawingml/2006/main">
            <a:off x="8305800" y="2235200"/>
            <a:ext cx="279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DEPARTMENT PILOT</a:t>
            </a:r>
          </a:p>
        </p:txBody>
      </p:sp>
      <p:sp>
        <p:nvSpPr>
          <p:cNvPr id="23" name="shape-224">
            <a:extLst xmlns:a="http://schemas.openxmlformats.org/drawingml/2006/main">
              <a:ext uri="{FF2B5EF4-FFF2-40B4-BE49-F238E27FC236}">
                <a16:creationId xmlns:a16="http://schemas.microsoft.com/office/drawing/2014/main" id="{6D239E88-E3C2-46A6-9B8D-67ED0F54C0D2}"/>
              </a:ext>
            </a:extLst>
          </p:cNvPr>
          <p:cNvSpPr>
            <a:spLocks xmlns:a="http://schemas.openxmlformats.org/drawingml/2006/main" noGrp="1"/>
          </p:cNvSpPr>
          <p:nvPr/>
        </p:nvSpPr>
        <p:spPr>
          <a:xfrm xmlns:a="http://schemas.openxmlformats.org/drawingml/2006/main">
            <a:off x="8318500" y="30734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Authorized exports</a:t>
            </a:r>
          </a:p>
        </p:txBody>
      </p:sp>
      <p:sp>
        <p:nvSpPr>
          <p:cNvPr id="24" name="shape-225">
            <a:extLst xmlns:a="http://schemas.openxmlformats.org/drawingml/2006/main">
              <a:ext uri="{FF2B5EF4-FFF2-40B4-BE49-F238E27FC236}">
                <a16:creationId xmlns:a16="http://schemas.microsoft.com/office/drawing/2014/main" id="{C9C0093D-A9B2-4D98-9A37-527074EEB38D}"/>
              </a:ext>
            </a:extLst>
          </p:cNvPr>
          <p:cNvSpPr>
            <a:spLocks xmlns:a="http://schemas.openxmlformats.org/drawingml/2006/main" noGrp="1"/>
          </p:cNvSpPr>
          <p:nvPr/>
        </p:nvSpPr>
        <p:spPr>
          <a:xfrm xmlns:a="http://schemas.openxmlformats.org/drawingml/2006/main">
            <a:off x="8318500" y="42545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One planning team</a:t>
            </a:r>
          </a:p>
        </p:txBody>
      </p:sp>
      <p:cxnSp>
        <p:nvCxnSpPr>
          <p:cNvPr id="25" name="">
            <a:extLst xmlns:a="http://schemas.openxmlformats.org/drawingml/2006/main">
              <a:ext uri="{FF2B5EF4-FFF2-40B4-BE49-F238E27FC236}">
                <a16:creationId xmlns:a16="http://schemas.microsoft.com/office/drawing/2014/main" id="{F149CA56-BC68-4C97-8088-D5EC05D030E3}"/>
              </a:ext>
            </a:extLst>
          </p:cNvPr>
          <p:cNvCxnSpPr/>
          <p:nvPr/>
        </p:nvCxnSpPr>
        <p:spPr>
          <a:xfrm xmlns:a="http://schemas.openxmlformats.org/drawingml/2006/main" flipH="0" flipV="0">
            <a:off x="9709150" y="39116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26" name="shape-226">
            <a:extLst xmlns:a="http://schemas.openxmlformats.org/drawingml/2006/main">
              <a:ext uri="{FF2B5EF4-FFF2-40B4-BE49-F238E27FC236}">
                <a16:creationId xmlns:a16="http://schemas.microsoft.com/office/drawing/2014/main" id="{F9E7EF8A-66AC-4527-B5C2-EF38C0EADD2A}"/>
              </a:ext>
            </a:extLst>
          </p:cNvPr>
          <p:cNvSpPr>
            <a:spLocks xmlns:a="http://schemas.openxmlformats.org/drawingml/2006/main" noGrp="1"/>
          </p:cNvSpPr>
          <p:nvPr/>
        </p:nvSpPr>
        <p:spPr>
          <a:xfrm xmlns:a="http://schemas.openxmlformats.org/drawingml/2006/main">
            <a:off x="8318500" y="54356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Human decision workflow</a:t>
            </a:r>
          </a:p>
        </p:txBody>
      </p:sp>
      <p:cxnSp>
        <p:nvCxnSpPr>
          <p:cNvPr id="27" name="">
            <a:extLst xmlns:a="http://schemas.openxmlformats.org/drawingml/2006/main">
              <a:ext uri="{FF2B5EF4-FFF2-40B4-BE49-F238E27FC236}">
                <a16:creationId xmlns:a16="http://schemas.microsoft.com/office/drawing/2014/main" id="{40E62CE8-DC44-417C-8E9D-1D79DC44C60C}"/>
              </a:ext>
            </a:extLst>
          </p:cNvPr>
          <p:cNvCxnSpPr/>
          <p:nvPr/>
        </p:nvCxnSpPr>
        <p:spPr>
          <a:xfrm xmlns:a="http://schemas.openxmlformats.org/drawingml/2006/main" flipH="0" flipV="0">
            <a:off x="9709150" y="50927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28" name="shape-227">
            <a:extLst xmlns:a="http://schemas.openxmlformats.org/drawingml/2006/main">
              <a:ext uri="{FF2B5EF4-FFF2-40B4-BE49-F238E27FC236}">
                <a16:creationId xmlns:a16="http://schemas.microsoft.com/office/drawing/2014/main" id="{A0B64A7E-076C-41CE-9F9A-62DD6BFADB95}"/>
              </a:ext>
            </a:extLst>
          </p:cNvPr>
          <p:cNvSpPr>
            <a:spLocks xmlns:a="http://schemas.openxmlformats.org/drawingml/2006/main" noGrp="1"/>
          </p:cNvSpPr>
          <p:nvPr/>
        </p:nvSpPr>
        <p:spPr>
          <a:xfrm xmlns:a="http://schemas.openxmlformats.org/drawingml/2006/main">
            <a:off x="8318500" y="66167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Measure baseline outcomes</a:t>
            </a:r>
          </a:p>
        </p:txBody>
      </p:sp>
      <p:cxnSp>
        <p:nvCxnSpPr>
          <p:cNvPr id="29" name="">
            <a:extLst xmlns:a="http://schemas.openxmlformats.org/drawingml/2006/main">
              <a:ext uri="{FF2B5EF4-FFF2-40B4-BE49-F238E27FC236}">
                <a16:creationId xmlns:a16="http://schemas.microsoft.com/office/drawing/2014/main" id="{943847E3-9116-4557-80C8-01A7A066B4FB}"/>
              </a:ext>
            </a:extLst>
          </p:cNvPr>
          <p:cNvCxnSpPr/>
          <p:nvPr/>
        </p:nvCxnSpPr>
        <p:spPr>
          <a:xfrm xmlns:a="http://schemas.openxmlformats.org/drawingml/2006/main" flipH="0" flipV="0">
            <a:off x="9709150" y="62738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30" name="shape-228">
            <a:extLst xmlns:a="http://schemas.openxmlformats.org/drawingml/2006/main">
              <a:ext uri="{FF2B5EF4-FFF2-40B4-BE49-F238E27FC236}">
                <a16:creationId xmlns:a16="http://schemas.microsoft.com/office/drawing/2014/main" id="{BA144EB0-0ADF-4E23-98CF-86C92473B704}"/>
              </a:ext>
            </a:extLst>
          </p:cNvPr>
          <p:cNvSpPr>
            <a:spLocks xmlns:a="http://schemas.openxmlformats.org/drawingml/2006/main" noGrp="1"/>
          </p:cNvSpPr>
          <p:nvPr/>
        </p:nvSpPr>
        <p:spPr>
          <a:xfrm xmlns:a="http://schemas.openxmlformats.org/drawingml/2006/main">
            <a:off x="11671300" y="1536700"/>
            <a:ext cx="3073400" cy="6286500"/>
          </a:xfrm>
          <a:prstGeom xmlns:a="http://schemas.openxmlformats.org/drawingml/2006/main" prst="roundRect">
            <a:avLst>
              <a:gd name="adj" fmla="val 11570"/>
            </a:avLst>
          </a:prstGeom>
          <a:solidFill xmlns:a="http://schemas.openxmlformats.org/drawingml/2006/main">
            <a:srgbClr val="AED0E8"/>
          </a:solidFill>
          <a:ln xmlns:a="http://schemas.openxmlformats.org/drawingml/2006/main" w="16510">
            <a:solidFill>
              <a:srgbClr val="2386CA"/>
            </a:solidFill>
            <a:prstDash val="solid"/>
          </a:ln>
        </p:spPr>
      </p:sp>
      <p:sp>
        <p:nvSpPr>
          <p:cNvPr id="31" name="text-230">
            <a:extLst xmlns:a="http://schemas.openxmlformats.org/drawingml/2006/main">
              <a:ext uri="{FF2B5EF4-FFF2-40B4-BE49-F238E27FC236}">
                <a16:creationId xmlns:a16="http://schemas.microsoft.com/office/drawing/2014/main" id="{7BCE15DE-1624-4E92-8ADF-E7C43326F293}"/>
              </a:ext>
            </a:extLst>
          </p:cNvPr>
          <p:cNvSpPr>
            <a:spLocks xmlns:a="http://schemas.openxmlformats.org/drawingml/2006/main" noGrp="1"/>
          </p:cNvSpPr>
          <p:nvPr/>
        </p:nvSpPr>
        <p:spPr>
          <a:xfrm xmlns:a="http://schemas.openxmlformats.org/drawingml/2006/main">
            <a:off x="11823700" y="1689100"/>
            <a:ext cx="276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00" b="1" i="0">
                <a:solidFill>
                  <a:srgbClr val="000000"/>
                </a:solidFill>
                <a:latin typeface="Times New Roman"/>
                <a:ea typeface="Times New Roman"/>
                <a:cs typeface="Times New Roman"/>
              </a:defRPr>
            </a:defPPr>
          </a:lstStyle>
          <a:p xmlns:a="http://schemas.openxmlformats.org/drawingml/2006/main">
            <a:pPr algn="ctr">
              <a:defRPr sz="2600" b="1" i="0">
                <a:solidFill>
                  <a:srgbClr val="000000"/>
                </a:solidFill>
                <a:latin typeface="Times New Roman"/>
                <a:ea typeface="Times New Roman"/>
                <a:cs typeface="Times New Roman"/>
              </a:defRPr>
            </a:pPr>
            <a:r>
              <a:rPr sz="2600" b="1" i="0">
                <a:solidFill>
                  <a:srgbClr val="000000"/>
                </a:solidFill>
                <a:latin typeface="Times New Roman"/>
                <a:ea typeface="Times New Roman"/>
                <a:cs typeface="Times New Roman"/>
              </a:rPr>
              <a:t>Phase 2</a:t>
            </a:r>
          </a:p>
        </p:txBody>
      </p:sp>
      <p:sp>
        <p:nvSpPr>
          <p:cNvPr id="32" name="text-232">
            <a:extLst xmlns:a="http://schemas.openxmlformats.org/drawingml/2006/main">
              <a:ext uri="{FF2B5EF4-FFF2-40B4-BE49-F238E27FC236}">
                <a16:creationId xmlns:a16="http://schemas.microsoft.com/office/drawing/2014/main" id="{37D2C6D8-C934-439E-89D9-836BB00073E8}"/>
              </a:ext>
            </a:extLst>
          </p:cNvPr>
          <p:cNvSpPr>
            <a:spLocks xmlns:a="http://schemas.openxmlformats.org/drawingml/2006/main" noGrp="1"/>
          </p:cNvSpPr>
          <p:nvPr/>
        </p:nvSpPr>
        <p:spPr>
          <a:xfrm xmlns:a="http://schemas.openxmlformats.org/drawingml/2006/main">
            <a:off x="11811000" y="2235200"/>
            <a:ext cx="279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1727A1"/>
                </a:solidFill>
                <a:latin typeface="Times New Roman"/>
                <a:ea typeface="Times New Roman"/>
                <a:cs typeface="Times New Roman"/>
              </a:defRPr>
            </a:defPPr>
          </a:lstStyle>
          <a:p xmlns:a="http://schemas.openxmlformats.org/drawingml/2006/main">
            <a:pPr algn="ctr">
              <a:defRPr sz="2100" b="1" i="0">
                <a:solidFill>
                  <a:srgbClr val="1727A1"/>
                </a:solidFill>
                <a:latin typeface="Times New Roman"/>
                <a:ea typeface="Times New Roman"/>
                <a:cs typeface="Times New Roman"/>
              </a:defRPr>
            </a:pPr>
            <a:r>
              <a:rPr sz="2100" b="1" i="0">
                <a:solidFill>
                  <a:srgbClr val="1727A1"/>
                </a:solidFill>
                <a:latin typeface="Times New Roman"/>
                <a:ea typeface="Times New Roman"/>
                <a:cs typeface="Times New Roman"/>
              </a:rPr>
              <a:t>SHARED WORKSPACES</a:t>
            </a:r>
          </a:p>
        </p:txBody>
      </p:sp>
      <p:sp>
        <p:nvSpPr>
          <p:cNvPr id="33" name="shape-233">
            <a:extLst xmlns:a="http://schemas.openxmlformats.org/drawingml/2006/main">
              <a:ext uri="{FF2B5EF4-FFF2-40B4-BE49-F238E27FC236}">
                <a16:creationId xmlns:a16="http://schemas.microsoft.com/office/drawing/2014/main" id="{B4114052-FD84-4BB4-8325-06D905152051}"/>
              </a:ext>
            </a:extLst>
          </p:cNvPr>
          <p:cNvSpPr>
            <a:spLocks xmlns:a="http://schemas.openxmlformats.org/drawingml/2006/main" noGrp="1"/>
          </p:cNvSpPr>
          <p:nvPr/>
        </p:nvSpPr>
        <p:spPr>
          <a:xfrm xmlns:a="http://schemas.openxmlformats.org/drawingml/2006/main">
            <a:off x="11823700" y="30734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Tenant membership</a:t>
            </a:r>
          </a:p>
        </p:txBody>
      </p:sp>
      <p:sp>
        <p:nvSpPr>
          <p:cNvPr id="34" name="shape-234">
            <a:extLst xmlns:a="http://schemas.openxmlformats.org/drawingml/2006/main">
              <a:ext uri="{FF2B5EF4-FFF2-40B4-BE49-F238E27FC236}">
                <a16:creationId xmlns:a16="http://schemas.microsoft.com/office/drawing/2014/main" id="{F074156D-C47D-43EE-96AF-D18C1B61A56C}"/>
              </a:ext>
            </a:extLst>
          </p:cNvPr>
          <p:cNvSpPr>
            <a:spLocks xmlns:a="http://schemas.openxmlformats.org/drawingml/2006/main" noGrp="1"/>
          </p:cNvSpPr>
          <p:nvPr/>
        </p:nvSpPr>
        <p:spPr>
          <a:xfrm xmlns:a="http://schemas.openxmlformats.org/drawingml/2006/main">
            <a:off x="11823700" y="42545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Department access rules</a:t>
            </a:r>
          </a:p>
        </p:txBody>
      </p:sp>
      <p:cxnSp>
        <p:nvCxnSpPr>
          <p:cNvPr id="35" name="">
            <a:extLst xmlns:a="http://schemas.openxmlformats.org/drawingml/2006/main">
              <a:ext uri="{FF2B5EF4-FFF2-40B4-BE49-F238E27FC236}">
                <a16:creationId xmlns:a16="http://schemas.microsoft.com/office/drawing/2014/main" id="{A13CAAF8-2F2A-4A4D-99DB-5090AF576A6D}"/>
              </a:ext>
            </a:extLst>
          </p:cNvPr>
          <p:cNvCxnSpPr/>
          <p:nvPr/>
        </p:nvCxnSpPr>
        <p:spPr>
          <a:xfrm xmlns:a="http://schemas.openxmlformats.org/drawingml/2006/main" flipH="0" flipV="0">
            <a:off x="13214350" y="39116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36" name="shape-235">
            <a:extLst xmlns:a="http://schemas.openxmlformats.org/drawingml/2006/main">
              <a:ext uri="{FF2B5EF4-FFF2-40B4-BE49-F238E27FC236}">
                <a16:creationId xmlns:a16="http://schemas.microsoft.com/office/drawing/2014/main" id="{CADB2C74-603F-47DD-B8E4-A796F6E8FA22}"/>
              </a:ext>
            </a:extLst>
          </p:cNvPr>
          <p:cNvSpPr>
            <a:spLocks xmlns:a="http://schemas.openxmlformats.org/drawingml/2006/main" noGrp="1"/>
          </p:cNvSpPr>
          <p:nvPr/>
        </p:nvSpPr>
        <p:spPr>
          <a:xfrm xmlns:a="http://schemas.openxmlformats.org/drawingml/2006/main">
            <a:off x="11823700" y="54356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Scheduled data ingestion</a:t>
            </a:r>
          </a:p>
        </p:txBody>
      </p:sp>
      <p:cxnSp>
        <p:nvCxnSpPr>
          <p:cNvPr id="37" name="">
            <a:extLst xmlns:a="http://schemas.openxmlformats.org/drawingml/2006/main">
              <a:ext uri="{FF2B5EF4-FFF2-40B4-BE49-F238E27FC236}">
                <a16:creationId xmlns:a16="http://schemas.microsoft.com/office/drawing/2014/main" id="{EC0A8263-AF78-46C9-8AE2-BFB94AEEB27F}"/>
              </a:ext>
            </a:extLst>
          </p:cNvPr>
          <p:cNvCxnSpPr/>
          <p:nvPr/>
        </p:nvCxnSpPr>
        <p:spPr>
          <a:xfrm xmlns:a="http://schemas.openxmlformats.org/drawingml/2006/main" flipH="0" flipV="0">
            <a:off x="13214350" y="50927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38" name="shape-236">
            <a:extLst xmlns:a="http://schemas.openxmlformats.org/drawingml/2006/main">
              <a:ext uri="{FF2B5EF4-FFF2-40B4-BE49-F238E27FC236}">
                <a16:creationId xmlns:a16="http://schemas.microsoft.com/office/drawing/2014/main" id="{FAED15EC-B324-4A23-8238-7F155FB32D3A}"/>
              </a:ext>
            </a:extLst>
          </p:cNvPr>
          <p:cNvSpPr>
            <a:spLocks xmlns:a="http://schemas.openxmlformats.org/drawingml/2006/main" noGrp="1"/>
          </p:cNvSpPr>
          <p:nvPr/>
        </p:nvSpPr>
        <p:spPr>
          <a:xfrm xmlns:a="http://schemas.openxmlformats.org/drawingml/2006/main">
            <a:off x="11823700" y="66167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Approved ATS / LMS links</a:t>
            </a:r>
          </a:p>
        </p:txBody>
      </p:sp>
      <p:cxnSp>
        <p:nvCxnSpPr>
          <p:cNvPr id="39" name="">
            <a:extLst xmlns:a="http://schemas.openxmlformats.org/drawingml/2006/main">
              <a:ext uri="{FF2B5EF4-FFF2-40B4-BE49-F238E27FC236}">
                <a16:creationId xmlns:a16="http://schemas.microsoft.com/office/drawing/2014/main" id="{391EB27B-9909-447E-A54B-F43E33AF1FB5}"/>
              </a:ext>
            </a:extLst>
          </p:cNvPr>
          <p:cNvCxnSpPr/>
          <p:nvPr/>
        </p:nvCxnSpPr>
        <p:spPr>
          <a:xfrm xmlns:a="http://schemas.openxmlformats.org/drawingml/2006/main" flipH="0" flipV="0">
            <a:off x="13214350" y="62738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0" name="shape-237">
            <a:extLst xmlns:a="http://schemas.openxmlformats.org/drawingml/2006/main">
              <a:ext uri="{FF2B5EF4-FFF2-40B4-BE49-F238E27FC236}">
                <a16:creationId xmlns:a16="http://schemas.microsoft.com/office/drawing/2014/main" id="{387294EC-FB6E-4579-8D73-5207082FB27D}"/>
              </a:ext>
            </a:extLst>
          </p:cNvPr>
          <p:cNvSpPr>
            <a:spLocks xmlns:a="http://schemas.openxmlformats.org/drawingml/2006/main" noGrp="1"/>
          </p:cNvSpPr>
          <p:nvPr/>
        </p:nvSpPr>
        <p:spPr>
          <a:xfrm xmlns:a="http://schemas.openxmlformats.org/drawingml/2006/main">
            <a:off x="15151100" y="1536700"/>
            <a:ext cx="3073400" cy="6286500"/>
          </a:xfrm>
          <a:prstGeom xmlns:a="http://schemas.openxmlformats.org/drawingml/2006/main" prst="roundRect">
            <a:avLst>
              <a:gd name="adj" fmla="val 11570"/>
            </a:avLst>
          </a:prstGeom>
          <a:solidFill xmlns:a="http://schemas.openxmlformats.org/drawingml/2006/main">
            <a:srgbClr val="FBEFB6"/>
          </a:solidFill>
          <a:ln xmlns:a="http://schemas.openxmlformats.org/drawingml/2006/main" w="16510">
            <a:solidFill>
              <a:srgbClr val="FFD348"/>
            </a:solidFill>
            <a:prstDash val="solid"/>
          </a:ln>
        </p:spPr>
      </p:sp>
      <p:sp>
        <p:nvSpPr>
          <p:cNvPr id="41" name="text-239">
            <a:extLst xmlns:a="http://schemas.openxmlformats.org/drawingml/2006/main">
              <a:ext uri="{FF2B5EF4-FFF2-40B4-BE49-F238E27FC236}">
                <a16:creationId xmlns:a16="http://schemas.microsoft.com/office/drawing/2014/main" id="{09FF3A2F-5EFC-4989-86C1-B51E24961651}"/>
              </a:ext>
            </a:extLst>
          </p:cNvPr>
          <p:cNvSpPr>
            <a:spLocks xmlns:a="http://schemas.openxmlformats.org/drawingml/2006/main" noGrp="1"/>
          </p:cNvSpPr>
          <p:nvPr/>
        </p:nvSpPr>
        <p:spPr>
          <a:xfrm xmlns:a="http://schemas.openxmlformats.org/drawingml/2006/main">
            <a:off x="15303500" y="1689100"/>
            <a:ext cx="276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00" b="1" i="0">
                <a:solidFill>
                  <a:srgbClr val="000000"/>
                </a:solidFill>
                <a:latin typeface="Times New Roman"/>
                <a:ea typeface="Times New Roman"/>
                <a:cs typeface="Times New Roman"/>
              </a:defRPr>
            </a:defPPr>
          </a:lstStyle>
          <a:p xmlns:a="http://schemas.openxmlformats.org/drawingml/2006/main">
            <a:pPr algn="ctr">
              <a:defRPr sz="2600" b="1" i="0">
                <a:solidFill>
                  <a:srgbClr val="000000"/>
                </a:solidFill>
                <a:latin typeface="Times New Roman"/>
                <a:ea typeface="Times New Roman"/>
                <a:cs typeface="Times New Roman"/>
              </a:defRPr>
            </a:pPr>
            <a:r>
              <a:rPr sz="2600" b="1" i="0">
                <a:solidFill>
                  <a:srgbClr val="000000"/>
                </a:solidFill>
                <a:latin typeface="Times New Roman"/>
                <a:ea typeface="Times New Roman"/>
                <a:cs typeface="Times New Roman"/>
              </a:rPr>
              <a:t>Phase 3</a:t>
            </a:r>
          </a:p>
        </p:txBody>
      </p:sp>
      <p:sp>
        <p:nvSpPr>
          <p:cNvPr id="42" name="text-241">
            <a:extLst xmlns:a="http://schemas.openxmlformats.org/drawingml/2006/main">
              <a:ext uri="{FF2B5EF4-FFF2-40B4-BE49-F238E27FC236}">
                <a16:creationId xmlns:a16="http://schemas.microsoft.com/office/drawing/2014/main" id="{0C659C4F-E906-461D-A594-6442FE1C9D8A}"/>
              </a:ext>
            </a:extLst>
          </p:cNvPr>
          <p:cNvSpPr>
            <a:spLocks xmlns:a="http://schemas.openxmlformats.org/drawingml/2006/main" noGrp="1"/>
          </p:cNvSpPr>
          <p:nvPr/>
        </p:nvSpPr>
        <p:spPr>
          <a:xfrm xmlns:a="http://schemas.openxmlformats.org/drawingml/2006/main">
            <a:off x="15290800" y="2235200"/>
            <a:ext cx="279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ENTERPRISE ROLLOUT</a:t>
            </a:r>
          </a:p>
        </p:txBody>
      </p:sp>
      <p:sp>
        <p:nvSpPr>
          <p:cNvPr id="43" name="shape-242">
            <a:extLst xmlns:a="http://schemas.openxmlformats.org/drawingml/2006/main">
              <a:ext uri="{FF2B5EF4-FFF2-40B4-BE49-F238E27FC236}">
                <a16:creationId xmlns:a16="http://schemas.microsoft.com/office/drawing/2014/main" id="{FAC695C9-925F-4F65-A641-2ED9E032F40B}"/>
              </a:ext>
            </a:extLst>
          </p:cNvPr>
          <p:cNvSpPr>
            <a:spLocks xmlns:a="http://schemas.openxmlformats.org/drawingml/2006/main" noGrp="1"/>
          </p:cNvSpPr>
          <p:nvPr/>
        </p:nvSpPr>
        <p:spPr>
          <a:xfrm xmlns:a="http://schemas.openxmlformats.org/drawingml/2006/main">
            <a:off x="15303500" y="30734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Native vendor connectors</a:t>
            </a:r>
          </a:p>
        </p:txBody>
      </p:sp>
      <p:sp>
        <p:nvSpPr>
          <p:cNvPr id="44" name="shape-243">
            <a:extLst xmlns:a="http://schemas.openxmlformats.org/drawingml/2006/main">
              <a:ext uri="{FF2B5EF4-FFF2-40B4-BE49-F238E27FC236}">
                <a16:creationId xmlns:a16="http://schemas.microsoft.com/office/drawing/2014/main" id="{F72BD1D5-685E-4FC8-B5D0-2BDAE2C070A2}"/>
              </a:ext>
            </a:extLst>
          </p:cNvPr>
          <p:cNvSpPr>
            <a:spLocks xmlns:a="http://schemas.openxmlformats.org/drawingml/2006/main" noGrp="1"/>
          </p:cNvSpPr>
          <p:nvPr/>
        </p:nvSpPr>
        <p:spPr>
          <a:xfrm xmlns:a="http://schemas.openxmlformats.org/drawingml/2006/main">
            <a:off x="15303500" y="42545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Regional data licensing</a:t>
            </a:r>
          </a:p>
        </p:txBody>
      </p:sp>
      <p:cxnSp>
        <p:nvCxnSpPr>
          <p:cNvPr id="45" name="">
            <a:extLst xmlns:a="http://schemas.openxmlformats.org/drawingml/2006/main">
              <a:ext uri="{FF2B5EF4-FFF2-40B4-BE49-F238E27FC236}">
                <a16:creationId xmlns:a16="http://schemas.microsoft.com/office/drawing/2014/main" id="{5A1B077B-A394-4D16-9402-60825191A755}"/>
              </a:ext>
            </a:extLst>
          </p:cNvPr>
          <p:cNvCxnSpPr/>
          <p:nvPr/>
        </p:nvCxnSpPr>
        <p:spPr>
          <a:xfrm xmlns:a="http://schemas.openxmlformats.org/drawingml/2006/main" flipH="0" flipV="0">
            <a:off x="16694150" y="39116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6" name="shape-244">
            <a:extLst xmlns:a="http://schemas.openxmlformats.org/drawingml/2006/main">
              <a:ext uri="{FF2B5EF4-FFF2-40B4-BE49-F238E27FC236}">
                <a16:creationId xmlns:a16="http://schemas.microsoft.com/office/drawing/2014/main" id="{A7572247-C756-4C5D-B536-41DF446B2EAF}"/>
              </a:ext>
            </a:extLst>
          </p:cNvPr>
          <p:cNvSpPr>
            <a:spLocks xmlns:a="http://schemas.openxmlformats.org/drawingml/2006/main" noGrp="1"/>
          </p:cNvSpPr>
          <p:nvPr/>
        </p:nvSpPr>
        <p:spPr>
          <a:xfrm xmlns:a="http://schemas.openxmlformats.org/drawingml/2006/main">
            <a:off x="15303500" y="54356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Operational service targets</a:t>
            </a:r>
          </a:p>
        </p:txBody>
      </p:sp>
      <p:cxnSp>
        <p:nvCxnSpPr>
          <p:cNvPr id="47" name="">
            <a:extLst xmlns:a="http://schemas.openxmlformats.org/drawingml/2006/main">
              <a:ext uri="{FF2B5EF4-FFF2-40B4-BE49-F238E27FC236}">
                <a16:creationId xmlns:a16="http://schemas.microsoft.com/office/drawing/2014/main" id="{330369A9-6815-4D07-A617-EBDDA675D066}"/>
              </a:ext>
            </a:extLst>
          </p:cNvPr>
          <p:cNvCxnSpPr/>
          <p:nvPr/>
        </p:nvCxnSpPr>
        <p:spPr>
          <a:xfrm xmlns:a="http://schemas.openxmlformats.org/drawingml/2006/main" flipH="0" flipV="0">
            <a:off x="16694150" y="50927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8" name="shape-245">
            <a:extLst xmlns:a="http://schemas.openxmlformats.org/drawingml/2006/main">
              <a:ext uri="{FF2B5EF4-FFF2-40B4-BE49-F238E27FC236}">
                <a16:creationId xmlns:a16="http://schemas.microsoft.com/office/drawing/2014/main" id="{C814D4DB-409B-4A2E-91B5-84B74FAF1444}"/>
              </a:ext>
            </a:extLst>
          </p:cNvPr>
          <p:cNvSpPr>
            <a:spLocks xmlns:a="http://schemas.openxmlformats.org/drawingml/2006/main" noGrp="1"/>
          </p:cNvSpPr>
          <p:nvPr/>
        </p:nvSpPr>
        <p:spPr>
          <a:xfrm xmlns:a="http://schemas.openxmlformats.org/drawingml/2006/main">
            <a:off x="15303500" y="66167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Partner-led expansion</a:t>
            </a:r>
          </a:p>
        </p:txBody>
      </p:sp>
      <p:cxnSp>
        <p:nvCxnSpPr>
          <p:cNvPr id="49" name="">
            <a:extLst xmlns:a="http://schemas.openxmlformats.org/drawingml/2006/main">
              <a:ext uri="{FF2B5EF4-FFF2-40B4-BE49-F238E27FC236}">
                <a16:creationId xmlns:a16="http://schemas.microsoft.com/office/drawing/2014/main" id="{9289B40D-2DDC-462A-AABA-436C794989A1}"/>
              </a:ext>
            </a:extLst>
          </p:cNvPr>
          <p:cNvCxnSpPr/>
          <p:nvPr/>
        </p:nvCxnSpPr>
        <p:spPr>
          <a:xfrm xmlns:a="http://schemas.openxmlformats.org/drawingml/2006/main" flipH="0" flipV="0">
            <a:off x="16694150" y="62738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0" name="shape-246">
            <a:extLst xmlns:a="http://schemas.openxmlformats.org/drawingml/2006/main">
              <a:ext uri="{FF2B5EF4-FFF2-40B4-BE49-F238E27FC236}">
                <a16:creationId xmlns:a16="http://schemas.microsoft.com/office/drawing/2014/main" id="{CA809840-1A31-4F8F-8E24-11F4822C1795}"/>
              </a:ext>
            </a:extLst>
          </p:cNvPr>
          <p:cNvSpPr>
            <a:spLocks xmlns:a="http://schemas.openxmlformats.org/drawingml/2006/main" noGrp="1"/>
          </p:cNvSpPr>
          <p:nvPr/>
        </p:nvSpPr>
        <p:spPr>
          <a:xfrm xmlns:a="http://schemas.openxmlformats.org/drawingml/2006/main">
            <a:off x="11252200" y="4419600"/>
            <a:ext cx="393700" cy="1524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51" name="shape-247">
            <a:extLst xmlns:a="http://schemas.openxmlformats.org/drawingml/2006/main">
              <a:ext uri="{FF2B5EF4-FFF2-40B4-BE49-F238E27FC236}">
                <a16:creationId xmlns:a16="http://schemas.microsoft.com/office/drawing/2014/main" id="{E78911C1-9DC1-4271-8DFB-8667183DDD89}"/>
              </a:ext>
            </a:extLst>
          </p:cNvPr>
          <p:cNvSpPr>
            <a:spLocks xmlns:a="http://schemas.openxmlformats.org/drawingml/2006/main" noGrp="1"/>
          </p:cNvSpPr>
          <p:nvPr/>
        </p:nvSpPr>
        <p:spPr>
          <a:xfrm xmlns:a="http://schemas.openxmlformats.org/drawingml/2006/main">
            <a:off x="14757400" y="4419600"/>
            <a:ext cx="381000" cy="1524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52" name="shape-248">
            <a:extLst xmlns:a="http://schemas.openxmlformats.org/drawingml/2006/main">
              <a:ext uri="{FF2B5EF4-FFF2-40B4-BE49-F238E27FC236}">
                <a16:creationId xmlns:a16="http://schemas.microsoft.com/office/drawing/2014/main" id="{8C78F92E-B169-4AAA-9308-67E4CA71DA50}"/>
              </a:ext>
            </a:extLst>
          </p:cNvPr>
          <p:cNvSpPr>
            <a:spLocks xmlns:a="http://schemas.openxmlformats.org/drawingml/2006/main" noGrp="1"/>
          </p:cNvSpPr>
          <p:nvPr/>
        </p:nvSpPr>
        <p:spPr>
          <a:xfrm xmlns:a="http://schemas.openxmlformats.org/drawingml/2006/main">
            <a:off x="10363200" y="7988300"/>
            <a:ext cx="5321300" cy="698500"/>
          </a:xfrm>
          <a:prstGeom xmlns:a="http://schemas.openxmlformats.org/drawingml/2006/main" prst="roundRect">
            <a:avLst>
              <a:gd name="adj" fmla="val 49091"/>
            </a:avLst>
          </a:prstGeom>
          <a:solidFill xmlns:a="http://schemas.openxmlformats.org/drawingml/2006/main">
            <a:srgbClr val="E0EDF6"/>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Expansion gate: verified customer value and approved data access</a:t>
            </a:r>
          </a:p>
        </p:txBody>
      </p:sp>
      <p:sp>
        <p:nvSpPr>
          <p:cNvPr id="53" name="text-250">
            <a:extLst xmlns:a="http://schemas.openxmlformats.org/drawingml/2006/main">
              <a:ext uri="{FF2B5EF4-FFF2-40B4-BE49-F238E27FC236}">
                <a16:creationId xmlns:a16="http://schemas.microsoft.com/office/drawing/2014/main" id="{C751EAD5-8CA6-4DA8-9F3B-7B750E166821}"/>
              </a:ext>
            </a:extLst>
          </p:cNvPr>
          <p:cNvSpPr>
            <a:spLocks xmlns:a="http://schemas.openxmlformats.org/drawingml/2006/main" noGrp="1"/>
          </p:cNvSpPr>
          <p:nvPr/>
        </p:nvSpPr>
        <p:spPr>
          <a:xfrm xmlns:a="http://schemas.openxmlformats.org/drawingml/2006/main">
            <a:off x="8534400" y="8940800"/>
            <a:ext cx="94234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0" i="0">
                <a:solidFill>
                  <a:srgbClr val="000000"/>
                </a:solidFill>
                <a:latin typeface="Times New Roman"/>
                <a:ea typeface="Times New Roman"/>
                <a:cs typeface="Times New Roman"/>
              </a:defRPr>
            </a:defPPr>
          </a:lstStyle>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Pilot measures: time to fill, internal fill share and realized cost</a:t>
            </a:r>
          </a:p>
        </p:txBody>
      </p:sp>
      <p:sp>
        <p:nvSpPr>
          <p:cNvPr id="54" name="text-252">
            <a:extLst xmlns:a="http://schemas.openxmlformats.org/drawingml/2006/main">
              <a:ext uri="{FF2B5EF4-FFF2-40B4-BE49-F238E27FC236}">
                <a16:creationId xmlns:a16="http://schemas.microsoft.com/office/drawing/2014/main" id="{D9E6B9E9-A8B9-450D-857A-543433A671B3}"/>
              </a:ext>
            </a:extLst>
          </p:cNvPr>
          <p:cNvSpPr>
            <a:spLocks xmlns:a="http://schemas.openxmlformats.org/drawingml/2006/main" noGrp="1"/>
          </p:cNvSpPr>
          <p:nvPr/>
        </p:nvSpPr>
        <p:spPr>
          <a:xfrm xmlns:a="http://schemas.openxmlformats.org/drawingml/2006/main">
            <a:off x="8534400" y="9321800"/>
            <a:ext cx="942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1">
                <a:solidFill>
                  <a:srgbClr val="000000"/>
                </a:solidFill>
                <a:latin typeface="Times New Roman"/>
                <a:ea typeface="Times New Roman"/>
                <a:cs typeface="Times New Roman"/>
              </a:defRPr>
            </a:defPPr>
          </a:lstStyle>
          <a:p xmlns:a="http://schemas.openxmlformats.org/drawingml/2006/main">
            <a:pPr algn="ctr">
              <a:defRPr sz="1700" b="0" i="1">
                <a:solidFill>
                  <a:srgbClr val="000000"/>
                </a:solidFill>
                <a:latin typeface="Times New Roman"/>
                <a:ea typeface="Times New Roman"/>
                <a:cs typeface="Times New Roman"/>
              </a:defRPr>
            </a:pPr>
            <a:r>
              <a:rPr sz="1700" b="0" i="1">
                <a:solidFill>
                  <a:srgbClr val="000000"/>
                </a:solidFill>
                <a:latin typeface="Times New Roman"/>
                <a:ea typeface="Times New Roman"/>
                <a:cs typeface="Times New Roman"/>
              </a:rPr>
              <a:t>Commercial model and expansion phases are proposals</a:t>
            </a:r>
          </a:p>
        </p:txBody>
      </p:sp>
    </p:spTree>
    <p:extLst>
      <p:ext uri="{BB962C8B-B14F-4D97-AF65-F5344CB8AC3E}">
        <p14:creationId xmlns:p14="http://schemas.microsoft.com/office/powerpoint/2010/main" val="12451632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hape-253">
            <a:extLst xmlns:a="http://schemas.openxmlformats.org/drawingml/2006/main">
              <a:ext uri="{FF2B5EF4-FFF2-40B4-BE49-F238E27FC236}">
                <a16:creationId xmlns:a16="http://schemas.microsoft.com/office/drawing/2014/main" id="{18D971CB-B8D0-4684-A5D6-36D2978C6E46}"/>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255">
            <a:extLst xmlns:a="http://schemas.openxmlformats.org/drawingml/2006/main">
              <a:ext uri="{FF2B5EF4-FFF2-40B4-BE49-F238E27FC236}">
                <a16:creationId xmlns:a16="http://schemas.microsoft.com/office/drawing/2014/main" id="{78144B7A-4622-4205-8233-3D5D95DCC0F7}"/>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532EDD95-8430-4342-B3DC-F2511E6810AD}"/>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FEASIBILITY AND VIABILITY</a:t>
            </a:r>
          </a:p>
        </p:txBody>
      </p:sp>
      <p:sp>
        <p:nvSpPr>
          <p:cNvPr id="4" name="text-258">
            <a:extLst xmlns:a="http://schemas.openxmlformats.org/drawingml/2006/main">
              <a:ext uri="{FF2B5EF4-FFF2-40B4-BE49-F238E27FC236}">
                <a16:creationId xmlns:a16="http://schemas.microsoft.com/office/drawing/2014/main" id="{16A7017E-8EC6-4A13-B552-8DDBC4CC3A64}"/>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259">
            <a:extLst xmlns:a="http://schemas.openxmlformats.org/drawingml/2006/main">
              <a:ext uri="{FF2B5EF4-FFF2-40B4-BE49-F238E27FC236}">
                <a16:creationId xmlns:a16="http://schemas.microsoft.com/office/drawing/2014/main" id="{5E758BF0-8729-4A30-9872-ACEC640013BE}"/>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261">
            <a:extLst xmlns:a="http://schemas.openxmlformats.org/drawingml/2006/main">
              <a:ext uri="{FF2B5EF4-FFF2-40B4-BE49-F238E27FC236}">
                <a16:creationId xmlns:a16="http://schemas.microsoft.com/office/drawing/2014/main" id="{73024AF6-40E6-449D-BCE5-50F501A0B2A8}"/>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5</a:t>
            </a:r>
          </a:p>
        </p:txBody>
      </p:sp>
      <p:sp>
        <p:nvSpPr>
          <p:cNvPr id="7" name="shape-262">
            <a:extLst xmlns:a="http://schemas.openxmlformats.org/drawingml/2006/main">
              <a:ext uri="{FF2B5EF4-FFF2-40B4-BE49-F238E27FC236}">
                <a16:creationId xmlns:a16="http://schemas.microsoft.com/office/drawing/2014/main" id="{4092BDD4-A4F1-431E-90EE-55ACE33FF069}"/>
              </a:ext>
            </a:extLst>
          </p:cNvPr>
          <p:cNvSpPr>
            <a:spLocks xmlns:a="http://schemas.openxmlformats.org/drawingml/2006/main" noGrp="1"/>
          </p:cNvSpPr>
          <p:nvPr/>
        </p:nvSpPr>
        <p:spPr>
          <a:xfrm xmlns:a="http://schemas.openxmlformats.org/drawingml/2006/main">
            <a:off x="165100" y="1308100"/>
            <a:ext cx="17970500" cy="457200"/>
          </a:xfrm>
          <a:prstGeom xmlns:a="http://schemas.openxmlformats.org/drawingml/2006/main" prst="roundRect">
            <a:avLst>
              <a:gd name="adj" fmla="val 27778"/>
            </a:avLst>
          </a:prstGeom>
          <a:solidFill xmlns:a="http://schemas.openxmlformats.org/drawingml/2006/main">
            <a:srgbClr val="0071BC"/>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3200" b="1">
                <a:solidFill>
                  <a:srgbClr val="FFFFFF"/>
                </a:solidFill>
                <a:latin typeface="Times New Roman"/>
                <a:ea typeface="Times New Roman"/>
                <a:cs typeface="Times New Roman"/>
              </a:defRPr>
            </a:defPPr>
          </a:lstStyle>
          <a:p xmlns:a="http://schemas.openxmlformats.org/drawingml/2006/main">
            <a:pPr algn="ctr">
              <a:defRPr sz="3200" b="1">
                <a:solidFill>
                  <a:srgbClr val="FFFFFF"/>
                </a:solidFill>
                <a:latin typeface="Times New Roman"/>
                <a:ea typeface="Times New Roman"/>
                <a:cs typeface="Times New Roman"/>
              </a:defRPr>
            </a:pPr>
            <a:r>
              <a:rPr sz="3200" b="1">
                <a:solidFill>
                  <a:srgbClr val="FFFFFF"/>
                </a:solidFill>
                <a:latin typeface="Times New Roman"/>
                <a:ea typeface="Times New Roman"/>
                <a:cs typeface="Times New Roman"/>
              </a:rPr>
              <a:t>FEASIBILITY ANALYSIS</a:t>
            </a:r>
          </a:p>
        </p:txBody>
      </p:sp>
      <p:graphicFrame>
        <p:nvGraphicFramePr>
          <p:cNvPr id="8" name="">
            <a:extLst xmlns:a="http://schemas.openxmlformats.org/drawingml/2006/main">
              <a:ext uri="{FF2B5EF4-FFF2-40B4-BE49-F238E27FC236}">
                <a16:creationId xmlns:a16="http://schemas.microsoft.com/office/drawing/2014/main" id="{159A56B3-FAC2-4A4A-B263-DD6F61DCD9C7}"/>
              </a:ext>
            </a:extLst>
          </p:cNvPr>
          <p:cNvGraphicFramePr/>
          <p:nvPr/>
        </p:nvGraphicFramePr>
        <p:xfrm>
          <a:off xmlns:a="http://schemas.openxmlformats.org/drawingml/2006/main" x="241300" y="1943100"/>
          <a:ext xmlns:a="http://schemas.openxmlformats.org/drawingml/2006/main" cx="17792700" cy="3352800"/>
        </p:xfrm>
        <a:graphic xmlns:a="http://schemas.openxmlformats.org/drawingml/2006/main">
          <a:graphicData uri="http://schemas.openxmlformats.org/drawingml/2006/table">
            <a:tbl>
              <a:tblPr/>
              <a:tblGrid>
                <a:gridCol w="3558540"/>
                <a:gridCol w="3558540"/>
                <a:gridCol w="3558540"/>
                <a:gridCol w="3558540"/>
                <a:gridCol w="3558540"/>
              </a:tblGrid>
              <a:tr h="673100">
                <a:tc>
                  <a:txBody>
                    <a:bodyPr wrap="square" lIns="101600" tIns="101600" rIns="101600" bIns="101600">
                      <a:noAutofit/>
                    </a:bodyPr>
                    <a:lstStyle/>
                    <a:p>
                      <a:pPr algn="ctr"/>
                      <a:r>
                        <a:rPr sz="2900" b="1">
                          <a:solidFill>
                            <a:srgbClr val="000000"/>
                          </a:solidFill>
                          <a:latin typeface="Times New Roman"/>
                          <a:ea typeface="Times New Roman"/>
                          <a:cs typeface="Times New Roman"/>
                        </a:rPr>
                        <a:t>Technical</a:t>
                      </a:r>
                    </a:p>
                  </a:txBody>
                  <a:tcPr marL="50800" marR="50800" marT="38100" marB="3810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Deployment</a:t>
                      </a:r>
                    </a:p>
                  </a:txBody>
                  <a:tcPr marL="50800" marR="50800" marT="38100" marB="3810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Operational</a:t>
                      </a:r>
                    </a:p>
                  </a:txBody>
                  <a:tcPr marL="50800" marR="50800" marT="38100" marB="3810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Scalable</a:t>
                      </a:r>
                    </a:p>
                  </a:txBody>
                  <a:tcPr marL="50800" marR="50800" marT="38100" marB="3810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Economic</a:t>
                      </a:r>
                    </a:p>
                  </a:txBody>
                  <a:tcPr marL="50800" marR="50800" marT="38100" marB="38100" anchor="ctr">
                    <a:solidFill>
                      <a:srgbClr val="D9EAF8"/>
                    </a:solidFill>
                  </a:tcPr>
                </a:tc>
              </a:tr>
              <a:tr h="2679700">
                <a:tc>
                  <a:txBody>
                    <a:bodyPr wrap="square" lIns="101600" tIns="101600" rIns="101600" bIns="101600">
                      <a:noAutofit/>
                    </a:bodyPr>
                    <a:lstStyle/>
                    <a:p>
                      <a:pPr algn="ctr"/>
                      <a:r>
                        <a:rPr sz="2300" b="1">
                          <a:solidFill>
                            <a:srgbClr val="000000"/>
                          </a:solidFill>
                          <a:latin typeface="Times New Roman"/>
                          <a:ea typeface="Times New Roman"/>
                          <a:cs typeface="Times New Roman"/>
                        </a:rPr>
                        <a:t>Next.js, TypeScript and PostgreSQL support the implemented workflow with explicit schemas and transactions.</a:t>
                      </a:r>
                    </a:p>
                  </a:txBody>
                  <a:tcPr marL="50800" marR="50800" marT="38100" marB="3810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The local web app uses Neon storage. Hosted release needs reviewed authentication, secrets and backups.</a:t>
                      </a:r>
                    </a:p>
                  </a:txBody>
                  <a:tcPr marL="50800" marR="50800" marT="38100" marB="3810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Human approval, source history and work notes connect planning with accountable recruitment actions.</a:t>
                      </a:r>
                    </a:p>
                  </a:txBody>
                  <a:tcPr marL="50800" marR="50800" marT="38100" marB="3810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Modular APIs and normalized records provide a base. Shared tenants and queued ingestion are next steps.</a:t>
                      </a:r>
                    </a:p>
                  </a:txBody>
                  <a:tcPr marL="50800" marR="50800" marT="38100" marB="3810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Public reference data supports a low-cost pilot. Licensed feeds and native connectors add operating cost.</a:t>
                      </a:r>
                    </a:p>
                  </a:txBody>
                  <a:tcPr marL="50800" marR="50800" marT="38100" marB="38100" anchor="ctr">
                    <a:solidFill>
                      <a:srgbClr val="E1F3FC"/>
                    </a:solidFill>
                  </a:tcPr>
                </a:tc>
              </a:tr>
            </a:tbl>
          </a:graphicData>
        </a:graphic>
      </p:graphicFrame>
      <p:sp>
        <p:nvSpPr>
          <p:cNvPr id="9" name="shape-263">
            <a:extLst xmlns:a="http://schemas.openxmlformats.org/drawingml/2006/main">
              <a:ext uri="{FF2B5EF4-FFF2-40B4-BE49-F238E27FC236}">
                <a16:creationId xmlns:a16="http://schemas.microsoft.com/office/drawing/2014/main" id="{860F88A5-1649-4AB5-BCD9-287F2F5F5D4D}"/>
              </a:ext>
            </a:extLst>
          </p:cNvPr>
          <p:cNvSpPr>
            <a:spLocks xmlns:a="http://schemas.openxmlformats.org/drawingml/2006/main" noGrp="1"/>
          </p:cNvSpPr>
          <p:nvPr/>
        </p:nvSpPr>
        <p:spPr>
          <a:xfrm xmlns:a="http://schemas.openxmlformats.org/drawingml/2006/main">
            <a:off x="215900" y="5842000"/>
            <a:ext cx="9169400" cy="3670300"/>
          </a:xfrm>
          <a:prstGeom xmlns:a="http://schemas.openxmlformats.org/drawingml/2006/main" prst="roundRect">
            <a:avLst>
              <a:gd name="adj" fmla="val 4152"/>
            </a:avLst>
          </a:prstGeom>
          <a:solidFill xmlns:a="http://schemas.openxmlformats.org/drawingml/2006/main">
            <a:srgbClr val="F9E9E9"/>
          </a:solidFill>
          <a:ln xmlns:a="http://schemas.openxmlformats.org/drawingml/2006/main" w="22860">
            <a:solidFill>
              <a:srgbClr val="CF3444"/>
            </a:solidFill>
            <a:prstDash val="solid"/>
          </a:ln>
        </p:spPr>
      </p:sp>
      <p:sp>
        <p:nvSpPr>
          <p:cNvPr id="10" name="shape-264">
            <a:extLst xmlns:a="http://schemas.openxmlformats.org/drawingml/2006/main">
              <a:ext uri="{FF2B5EF4-FFF2-40B4-BE49-F238E27FC236}">
                <a16:creationId xmlns:a16="http://schemas.microsoft.com/office/drawing/2014/main" id="{21DF250D-837B-4F6B-8C0A-20C067F61940}"/>
              </a:ext>
            </a:extLst>
          </p:cNvPr>
          <p:cNvSpPr>
            <a:spLocks xmlns:a="http://schemas.openxmlformats.org/drawingml/2006/main" noGrp="1"/>
          </p:cNvSpPr>
          <p:nvPr/>
        </p:nvSpPr>
        <p:spPr>
          <a:xfrm xmlns:a="http://schemas.openxmlformats.org/drawingml/2006/main">
            <a:off x="9436100" y="5842000"/>
            <a:ext cx="8699500" cy="3670300"/>
          </a:xfrm>
          <a:prstGeom xmlns:a="http://schemas.openxmlformats.org/drawingml/2006/main" prst="roundRect">
            <a:avLst>
              <a:gd name="adj" fmla="val 4152"/>
            </a:avLst>
          </a:prstGeom>
          <a:solidFill xmlns:a="http://schemas.openxmlformats.org/drawingml/2006/main">
            <a:srgbClr val="E8F4E6"/>
          </a:solidFill>
          <a:ln xmlns:a="http://schemas.openxmlformats.org/drawingml/2006/main" w="22860">
            <a:solidFill>
              <a:srgbClr val="7AA565"/>
            </a:solidFill>
            <a:prstDash val="solid"/>
          </a:ln>
        </p:spPr>
      </p:sp>
      <p:sp>
        <p:nvSpPr>
          <p:cNvPr id="11" name="shape-265">
            <a:extLst xmlns:a="http://schemas.openxmlformats.org/drawingml/2006/main">
              <a:ext uri="{FF2B5EF4-FFF2-40B4-BE49-F238E27FC236}">
                <a16:creationId xmlns:a16="http://schemas.microsoft.com/office/drawing/2014/main" id="{15C57C01-A461-4B35-A21C-AE5D6ED975B3}"/>
              </a:ext>
            </a:extLst>
          </p:cNvPr>
          <p:cNvSpPr>
            <a:spLocks xmlns:a="http://schemas.openxmlformats.org/drawingml/2006/main" noGrp="1"/>
          </p:cNvSpPr>
          <p:nvPr/>
        </p:nvSpPr>
        <p:spPr>
          <a:xfrm xmlns:a="http://schemas.openxmlformats.org/drawingml/2006/main">
            <a:off x="292100" y="5461000"/>
            <a:ext cx="8915400" cy="457200"/>
          </a:xfrm>
          <a:prstGeom xmlns:a="http://schemas.openxmlformats.org/drawingml/2006/main" prst="roundRect">
            <a:avLst>
              <a:gd name="adj" fmla="val 27778"/>
            </a:avLst>
          </a:prstGeom>
          <a:solidFill xmlns:a="http://schemas.openxmlformats.org/drawingml/2006/main">
            <a:srgbClr val="BC4848"/>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3200" b="1">
                <a:solidFill>
                  <a:srgbClr val="FFFFFF"/>
                </a:solidFill>
                <a:latin typeface="Times New Roman"/>
                <a:ea typeface="Times New Roman"/>
                <a:cs typeface="Times New Roman"/>
              </a:defRPr>
            </a:defPPr>
          </a:lstStyle>
          <a:p xmlns:a="http://schemas.openxmlformats.org/drawingml/2006/main">
            <a:pPr algn="ctr">
              <a:defRPr sz="3200" b="1">
                <a:solidFill>
                  <a:srgbClr val="FFFFFF"/>
                </a:solidFill>
                <a:latin typeface="Times New Roman"/>
                <a:ea typeface="Times New Roman"/>
                <a:cs typeface="Times New Roman"/>
              </a:defRPr>
            </a:pPr>
            <a:r>
              <a:rPr sz="3200" b="1">
                <a:solidFill>
                  <a:srgbClr val="FFFFFF"/>
                </a:solidFill>
                <a:latin typeface="Times New Roman"/>
                <a:ea typeface="Times New Roman"/>
                <a:cs typeface="Times New Roman"/>
              </a:rPr>
              <a:t>Potential Challenges</a:t>
            </a:r>
          </a:p>
        </p:txBody>
      </p:sp>
      <p:sp>
        <p:nvSpPr>
          <p:cNvPr id="12" name="shape-266">
            <a:extLst xmlns:a="http://schemas.openxmlformats.org/drawingml/2006/main">
              <a:ext uri="{FF2B5EF4-FFF2-40B4-BE49-F238E27FC236}">
                <a16:creationId xmlns:a16="http://schemas.microsoft.com/office/drawing/2014/main" id="{0C85A3AB-EDC8-43ED-810F-E506D87C87C6}"/>
              </a:ext>
            </a:extLst>
          </p:cNvPr>
          <p:cNvSpPr>
            <a:spLocks xmlns:a="http://schemas.openxmlformats.org/drawingml/2006/main" noGrp="1"/>
          </p:cNvSpPr>
          <p:nvPr/>
        </p:nvSpPr>
        <p:spPr>
          <a:xfrm xmlns:a="http://schemas.openxmlformats.org/drawingml/2006/main">
            <a:off x="9525000" y="5461000"/>
            <a:ext cx="8483600" cy="457200"/>
          </a:xfrm>
          <a:prstGeom xmlns:a="http://schemas.openxmlformats.org/drawingml/2006/main" prst="roundRect">
            <a:avLst>
              <a:gd name="adj" fmla="val 27778"/>
            </a:avLst>
          </a:prstGeom>
          <a:solidFill xmlns:a="http://schemas.openxmlformats.org/drawingml/2006/main">
            <a:srgbClr val="2E9D58"/>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3200" b="1">
                <a:solidFill>
                  <a:srgbClr val="FFFFFF"/>
                </a:solidFill>
                <a:latin typeface="Times New Roman"/>
                <a:ea typeface="Times New Roman"/>
                <a:cs typeface="Times New Roman"/>
              </a:defRPr>
            </a:defPPr>
          </a:lstStyle>
          <a:p xmlns:a="http://schemas.openxmlformats.org/drawingml/2006/main">
            <a:pPr algn="ctr">
              <a:defRPr sz="3200" b="1">
                <a:solidFill>
                  <a:srgbClr val="FFFFFF"/>
                </a:solidFill>
                <a:latin typeface="Times New Roman"/>
                <a:ea typeface="Times New Roman"/>
                <a:cs typeface="Times New Roman"/>
              </a:defRPr>
            </a:pPr>
            <a:r>
              <a:rPr sz="3200" b="1">
                <a:solidFill>
                  <a:srgbClr val="FFFFFF"/>
                </a:solidFill>
                <a:latin typeface="Times New Roman"/>
                <a:ea typeface="Times New Roman"/>
                <a:cs typeface="Times New Roman"/>
              </a:rPr>
              <a:t>Mitigation Strategy</a:t>
            </a:r>
          </a:p>
        </p:txBody>
      </p:sp>
      <p:sp>
        <p:nvSpPr>
          <p:cNvPr id="13" name="text-268">
            <a:extLst xmlns:a="http://schemas.openxmlformats.org/drawingml/2006/main">
              <a:ext uri="{FF2B5EF4-FFF2-40B4-BE49-F238E27FC236}">
                <a16:creationId xmlns:a16="http://schemas.microsoft.com/office/drawing/2014/main" id="{84302225-DF5D-4919-8761-3A7724F7DE2D}"/>
              </a:ext>
            </a:extLst>
          </p:cNvPr>
          <p:cNvSpPr>
            <a:spLocks xmlns:a="http://schemas.openxmlformats.org/drawingml/2006/main" noGrp="1"/>
          </p:cNvSpPr>
          <p:nvPr/>
        </p:nvSpPr>
        <p:spPr>
          <a:xfrm xmlns:a="http://schemas.openxmlformats.org/drawingml/2006/main">
            <a:off x="342900" y="63500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1. Incomplete profiles or outdated assessments</a:t>
            </a:r>
          </a:p>
        </p:txBody>
      </p:sp>
      <p:sp>
        <p:nvSpPr>
          <p:cNvPr id="14" name="text-270">
            <a:extLst xmlns:a="http://schemas.openxmlformats.org/drawingml/2006/main">
              <a:ext uri="{FF2B5EF4-FFF2-40B4-BE49-F238E27FC236}">
                <a16:creationId xmlns:a16="http://schemas.microsoft.com/office/drawing/2014/main" id="{62785334-6459-4F45-A50E-13355FBA11BE}"/>
              </a:ext>
            </a:extLst>
          </p:cNvPr>
          <p:cNvSpPr>
            <a:spLocks xmlns:a="http://schemas.openxmlformats.org/drawingml/2006/main" noGrp="1"/>
          </p:cNvSpPr>
          <p:nvPr/>
        </p:nvSpPr>
        <p:spPr>
          <a:xfrm xmlns:a="http://schemas.openxmlformats.org/drawingml/2006/main">
            <a:off x="342900" y="69342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2. Duplicate people across source systems</a:t>
            </a:r>
          </a:p>
        </p:txBody>
      </p:sp>
      <p:sp>
        <p:nvSpPr>
          <p:cNvPr id="15" name="text-272">
            <a:extLst xmlns:a="http://schemas.openxmlformats.org/drawingml/2006/main">
              <a:ext uri="{FF2B5EF4-FFF2-40B4-BE49-F238E27FC236}">
                <a16:creationId xmlns:a16="http://schemas.microsoft.com/office/drawing/2014/main" id="{91D83A5D-8CD1-4604-A6A7-0816E6C4ADEA}"/>
              </a:ext>
            </a:extLst>
          </p:cNvPr>
          <p:cNvSpPr>
            <a:spLocks xmlns:a="http://schemas.openxmlformats.org/drawingml/2006/main" noGrp="1"/>
          </p:cNvSpPr>
          <p:nvPr/>
        </p:nvSpPr>
        <p:spPr>
          <a:xfrm xmlns:a="http://schemas.openxmlformats.org/drawingml/2006/main">
            <a:off x="342900" y="75184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3. Unsupported market and AI assumptions</a:t>
            </a:r>
          </a:p>
        </p:txBody>
      </p:sp>
      <p:sp>
        <p:nvSpPr>
          <p:cNvPr id="16" name="text-274">
            <a:extLst xmlns:a="http://schemas.openxmlformats.org/drawingml/2006/main">
              <a:ext uri="{FF2B5EF4-FFF2-40B4-BE49-F238E27FC236}">
                <a16:creationId xmlns:a16="http://schemas.microsoft.com/office/drawing/2014/main" id="{F9720A0A-A9DA-4DF7-B650-67AC6BCD3315}"/>
              </a:ext>
            </a:extLst>
          </p:cNvPr>
          <p:cNvSpPr>
            <a:spLocks xmlns:a="http://schemas.openxmlformats.org/drawingml/2006/main" noGrp="1"/>
          </p:cNvSpPr>
          <p:nvPr/>
        </p:nvSpPr>
        <p:spPr>
          <a:xfrm xmlns:a="http://schemas.openxmlformats.org/drawingml/2006/main">
            <a:off x="342900" y="81026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4. Restricted enterprise APIs and data licenses</a:t>
            </a:r>
          </a:p>
        </p:txBody>
      </p:sp>
      <p:sp>
        <p:nvSpPr>
          <p:cNvPr id="17" name="text-276">
            <a:extLst xmlns:a="http://schemas.openxmlformats.org/drawingml/2006/main">
              <a:ext uri="{FF2B5EF4-FFF2-40B4-BE49-F238E27FC236}">
                <a16:creationId xmlns:a16="http://schemas.microsoft.com/office/drawing/2014/main" id="{D6B619CB-86F2-47E4-9237-F5C6A1CC6EB1}"/>
              </a:ext>
            </a:extLst>
          </p:cNvPr>
          <p:cNvSpPr>
            <a:spLocks xmlns:a="http://schemas.openxmlformats.org/drawingml/2006/main" noGrp="1"/>
          </p:cNvSpPr>
          <p:nvPr/>
        </p:nvSpPr>
        <p:spPr>
          <a:xfrm xmlns:a="http://schemas.openxmlformats.org/drawingml/2006/main">
            <a:off x="342900" y="86868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5. Privacy, fairness and production reliability</a:t>
            </a:r>
          </a:p>
        </p:txBody>
      </p:sp>
      <p:sp>
        <p:nvSpPr>
          <p:cNvPr id="18" name="text-278">
            <a:extLst xmlns:a="http://schemas.openxmlformats.org/drawingml/2006/main">
              <a:ext uri="{FF2B5EF4-FFF2-40B4-BE49-F238E27FC236}">
                <a16:creationId xmlns:a16="http://schemas.microsoft.com/office/drawing/2014/main" id="{4D8FD39A-1A9E-4E43-A9A4-C0C1C39445D6}"/>
              </a:ext>
            </a:extLst>
          </p:cNvPr>
          <p:cNvSpPr>
            <a:spLocks xmlns:a="http://schemas.openxmlformats.org/drawingml/2006/main" noGrp="1"/>
          </p:cNvSpPr>
          <p:nvPr/>
        </p:nvSpPr>
        <p:spPr>
          <a:xfrm xmlns:a="http://schemas.openxmlformats.org/drawingml/2006/main">
            <a:off x="9639300" y="63500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19" name="text-280">
            <a:extLst xmlns:a="http://schemas.openxmlformats.org/drawingml/2006/main">
              <a:ext uri="{FF2B5EF4-FFF2-40B4-BE49-F238E27FC236}">
                <a16:creationId xmlns:a16="http://schemas.microsoft.com/office/drawing/2014/main" id="{1C2FD4DA-B680-498B-B90F-615E1E8EA03C}"/>
              </a:ext>
            </a:extLst>
          </p:cNvPr>
          <p:cNvSpPr>
            <a:spLocks xmlns:a="http://schemas.openxmlformats.org/drawingml/2006/main" noGrp="1"/>
          </p:cNvSpPr>
          <p:nvPr/>
        </p:nvSpPr>
        <p:spPr>
          <a:xfrm xmlns:a="http://schemas.openxmlformats.org/drawingml/2006/main">
            <a:off x="10287000" y="63500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Collect consented evidence and retain observation dates</a:t>
            </a:r>
          </a:p>
        </p:txBody>
      </p:sp>
      <p:sp>
        <p:nvSpPr>
          <p:cNvPr id="20" name="text-282">
            <a:extLst xmlns:a="http://schemas.openxmlformats.org/drawingml/2006/main">
              <a:ext uri="{FF2B5EF4-FFF2-40B4-BE49-F238E27FC236}">
                <a16:creationId xmlns:a16="http://schemas.microsoft.com/office/drawing/2014/main" id="{988ADCC8-4305-4A78-8C38-254A1CDB032E}"/>
              </a:ext>
            </a:extLst>
          </p:cNvPr>
          <p:cNvSpPr>
            <a:spLocks xmlns:a="http://schemas.openxmlformats.org/drawingml/2006/main" noGrp="1"/>
          </p:cNvSpPr>
          <p:nvPr/>
        </p:nvSpPr>
        <p:spPr>
          <a:xfrm xmlns:a="http://schemas.openxmlformats.org/drawingml/2006/main">
            <a:off x="9639300" y="69342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1" name="text-284">
            <a:extLst xmlns:a="http://schemas.openxmlformats.org/drawingml/2006/main">
              <a:ext uri="{FF2B5EF4-FFF2-40B4-BE49-F238E27FC236}">
                <a16:creationId xmlns:a16="http://schemas.microsoft.com/office/drawing/2014/main" id="{A5FA6CF1-7A5B-4513-BBE6-145AB5427C2A}"/>
              </a:ext>
            </a:extLst>
          </p:cNvPr>
          <p:cNvSpPr>
            <a:spLocks xmlns:a="http://schemas.openxmlformats.org/drawingml/2006/main" noGrp="1"/>
          </p:cNvSpPr>
          <p:nvPr/>
        </p:nvSpPr>
        <p:spPr>
          <a:xfrm xmlns:a="http://schemas.openxmlformats.org/drawingml/2006/main">
            <a:off x="10287000" y="69342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Use stable IDs and reconcile source identities</a:t>
            </a:r>
          </a:p>
        </p:txBody>
      </p:sp>
      <p:sp>
        <p:nvSpPr>
          <p:cNvPr id="22" name="text-286">
            <a:extLst xmlns:a="http://schemas.openxmlformats.org/drawingml/2006/main">
              <a:ext uri="{FF2B5EF4-FFF2-40B4-BE49-F238E27FC236}">
                <a16:creationId xmlns:a16="http://schemas.microsoft.com/office/drawing/2014/main" id="{D7F503F3-A510-4734-A034-3BD3F1D5C5C0}"/>
              </a:ext>
            </a:extLst>
          </p:cNvPr>
          <p:cNvSpPr>
            <a:spLocks xmlns:a="http://schemas.openxmlformats.org/drawingml/2006/main" noGrp="1"/>
          </p:cNvSpPr>
          <p:nvPr/>
        </p:nvSpPr>
        <p:spPr>
          <a:xfrm xmlns:a="http://schemas.openxmlformats.org/drawingml/2006/main">
            <a:off x="9639300" y="75184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3" name="text-288">
            <a:extLst xmlns:a="http://schemas.openxmlformats.org/drawingml/2006/main">
              <a:ext uri="{FF2B5EF4-FFF2-40B4-BE49-F238E27FC236}">
                <a16:creationId xmlns:a16="http://schemas.microsoft.com/office/drawing/2014/main" id="{E50DE182-721F-4FAE-9551-6CE9561DE73F}"/>
              </a:ext>
            </a:extLst>
          </p:cNvPr>
          <p:cNvSpPr>
            <a:spLocks xmlns:a="http://schemas.openxmlformats.org/drawingml/2006/main" noGrp="1"/>
          </p:cNvSpPr>
          <p:nvPr/>
        </p:nvSpPr>
        <p:spPr>
          <a:xfrm xmlns:a="http://schemas.openxmlformats.org/drawingml/2006/main">
            <a:off x="10287000" y="75184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Show missing evidence and keep humans accountable</a:t>
            </a:r>
          </a:p>
        </p:txBody>
      </p:sp>
      <p:sp>
        <p:nvSpPr>
          <p:cNvPr id="24" name="text-290">
            <a:extLst xmlns:a="http://schemas.openxmlformats.org/drawingml/2006/main">
              <a:ext uri="{FF2B5EF4-FFF2-40B4-BE49-F238E27FC236}">
                <a16:creationId xmlns:a16="http://schemas.microsoft.com/office/drawing/2014/main" id="{5C3B3671-6102-42E3-8645-C96B337E1465}"/>
              </a:ext>
            </a:extLst>
          </p:cNvPr>
          <p:cNvSpPr>
            <a:spLocks xmlns:a="http://schemas.openxmlformats.org/drawingml/2006/main" noGrp="1"/>
          </p:cNvSpPr>
          <p:nvPr/>
        </p:nvSpPr>
        <p:spPr>
          <a:xfrm xmlns:a="http://schemas.openxmlformats.org/drawingml/2006/main">
            <a:off x="9639300" y="81026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5" name="text-292">
            <a:extLst xmlns:a="http://schemas.openxmlformats.org/drawingml/2006/main">
              <a:ext uri="{FF2B5EF4-FFF2-40B4-BE49-F238E27FC236}">
                <a16:creationId xmlns:a16="http://schemas.microsoft.com/office/drawing/2014/main" id="{B1BBC4A7-A62D-475B-AF8A-F3FCF4D8781E}"/>
              </a:ext>
            </a:extLst>
          </p:cNvPr>
          <p:cNvSpPr>
            <a:spLocks xmlns:a="http://schemas.openxmlformats.org/drawingml/2006/main" noGrp="1"/>
          </p:cNvSpPr>
          <p:nvPr/>
        </p:nvSpPr>
        <p:spPr>
          <a:xfrm xmlns:a="http://schemas.openxmlformats.org/drawingml/2006/main">
            <a:off x="10287000" y="81026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Use permitted exports, then authorized vendor connectors</a:t>
            </a:r>
          </a:p>
        </p:txBody>
      </p:sp>
      <p:sp>
        <p:nvSpPr>
          <p:cNvPr id="26" name="text-294">
            <a:extLst xmlns:a="http://schemas.openxmlformats.org/drawingml/2006/main">
              <a:ext uri="{FF2B5EF4-FFF2-40B4-BE49-F238E27FC236}">
                <a16:creationId xmlns:a16="http://schemas.microsoft.com/office/drawing/2014/main" id="{077A7A7F-C0C0-46B8-B9AD-4CDB35C06DE6}"/>
              </a:ext>
            </a:extLst>
          </p:cNvPr>
          <p:cNvSpPr>
            <a:spLocks xmlns:a="http://schemas.openxmlformats.org/drawingml/2006/main" noGrp="1"/>
          </p:cNvSpPr>
          <p:nvPr/>
        </p:nvSpPr>
        <p:spPr>
          <a:xfrm xmlns:a="http://schemas.openxmlformats.org/drawingml/2006/main">
            <a:off x="9639300" y="86868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7" name="text-296">
            <a:extLst xmlns:a="http://schemas.openxmlformats.org/drawingml/2006/main">
              <a:ext uri="{FF2B5EF4-FFF2-40B4-BE49-F238E27FC236}">
                <a16:creationId xmlns:a16="http://schemas.microsoft.com/office/drawing/2014/main" id="{2F82A5CD-BF14-4EB8-83CD-AB1B2321EAC7}"/>
              </a:ext>
            </a:extLst>
          </p:cNvPr>
          <p:cNvSpPr>
            <a:spLocks xmlns:a="http://schemas.openxmlformats.org/drawingml/2006/main" noGrp="1"/>
          </p:cNvSpPr>
          <p:nvPr/>
        </p:nvSpPr>
        <p:spPr>
          <a:xfrm xmlns:a="http://schemas.openxmlformats.org/drawingml/2006/main">
            <a:off x="10287000" y="86868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Add tenant controls, retention and formal verification</a:t>
            </a:r>
          </a:p>
        </p:txBody>
      </p:sp>
    </p:spTree>
    <p:extLst>
      <p:ext uri="{BB962C8B-B14F-4D97-AF65-F5344CB8AC3E}">
        <p14:creationId xmlns:p14="http://schemas.microsoft.com/office/powerpoint/2010/main" val="1319129239"/>
      </p:ext>
    </p:extLst>
  </p:cSld>
</p:sld>
</file>

<file path=ppt/slides/slide6.xml><?xml version="1.0" encoding="utf-8"?>
<p:sld xmlns:p="http://schemas.openxmlformats.org/presentationml/2006/main">
  <p:cSld>
    <p:bg>
      <p:bgPr>
        <a:solidFill xmlns:a="http://schemas.openxmlformats.org/drawingml/2006/main">
          <a:srgbClr val="FAF8FA"/>
        </a:solidFill>
      </p:bgPr>
    </p:bg>
    <p:spTree>
      <p:nvGrpSpPr>
        <p:cNvPr id="1" name=""/>
        <p:cNvGrpSpPr/>
        <p:nvPr/>
      </p:nvGrpSpPr>
      <p:grpSpPr>
        <a:xfrm xmlns:a="http://schemas.openxmlformats.org/drawingml/2006/main"/>
      </p:grpSpPr>
      <p:sp>
        <p:nvSpPr>
          <p:cNvPr id="85" name="shape-297">
            <a:extLst xmlns:a="http://schemas.openxmlformats.org/drawingml/2006/main">
              <a:ext uri="{FF2B5EF4-FFF2-40B4-BE49-F238E27FC236}">
                <a16:creationId xmlns:a16="http://schemas.microsoft.com/office/drawing/2014/main" id="{D20BE7AE-0C31-407E-96F3-AD185F4E2916}"/>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299">
            <a:extLst xmlns:a="http://schemas.openxmlformats.org/drawingml/2006/main">
              <a:ext uri="{FF2B5EF4-FFF2-40B4-BE49-F238E27FC236}">
                <a16:creationId xmlns:a16="http://schemas.microsoft.com/office/drawing/2014/main" id="{791FBEC8-AA9C-4B24-8915-04E2E411C593}"/>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D2F1F55B-5897-4FFC-8FB1-F4D92824562C}"/>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IMPACT AND BENEFITS</a:t>
            </a:r>
          </a:p>
        </p:txBody>
      </p:sp>
      <p:sp>
        <p:nvSpPr>
          <p:cNvPr id="4" name="text-302">
            <a:extLst xmlns:a="http://schemas.openxmlformats.org/drawingml/2006/main">
              <a:ext uri="{FF2B5EF4-FFF2-40B4-BE49-F238E27FC236}">
                <a16:creationId xmlns:a16="http://schemas.microsoft.com/office/drawing/2014/main" id="{013947D1-EBBD-4208-9071-E9D70DFE4AD3}"/>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303">
            <a:extLst xmlns:a="http://schemas.openxmlformats.org/drawingml/2006/main">
              <a:ext uri="{FF2B5EF4-FFF2-40B4-BE49-F238E27FC236}">
                <a16:creationId xmlns:a16="http://schemas.microsoft.com/office/drawing/2014/main" id="{8753174A-1901-4DCE-A19E-591A6F06B497}"/>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305">
            <a:extLst xmlns:a="http://schemas.openxmlformats.org/drawingml/2006/main">
              <a:ext uri="{FF2B5EF4-FFF2-40B4-BE49-F238E27FC236}">
                <a16:creationId xmlns:a16="http://schemas.microsoft.com/office/drawing/2014/main" id="{FF49CE15-EE1A-4755-93BB-A79F45B21423}"/>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6</a:t>
            </a:r>
          </a:p>
        </p:txBody>
      </p:sp>
      <p:sp>
        <p:nvSpPr>
          <p:cNvPr id="7" name="shape-306">
            <a:extLst xmlns:a="http://schemas.openxmlformats.org/drawingml/2006/main">
              <a:ext uri="{FF2B5EF4-FFF2-40B4-BE49-F238E27FC236}">
                <a16:creationId xmlns:a16="http://schemas.microsoft.com/office/drawing/2014/main" id="{3522BA2F-6A37-4E92-A09F-D171BC3FA276}"/>
              </a:ext>
            </a:extLst>
          </p:cNvPr>
          <p:cNvSpPr>
            <a:spLocks xmlns:a="http://schemas.openxmlformats.org/drawingml/2006/main" noGrp="1"/>
          </p:cNvSpPr>
          <p:nvPr/>
        </p:nvSpPr>
        <p:spPr>
          <a:xfrm xmlns:a="http://schemas.openxmlformats.org/drawingml/2006/main">
            <a:off x="342900" y="1562100"/>
            <a:ext cx="5918200" cy="8013700"/>
          </a:xfrm>
          <a:prstGeom xmlns:a="http://schemas.openxmlformats.org/drawingml/2006/main" prst="roundRect">
            <a:avLst>
              <a:gd name="adj" fmla="val 3004"/>
            </a:avLst>
          </a:prstGeom>
          <a:solidFill xmlns:a="http://schemas.openxmlformats.org/drawingml/2006/main">
            <a:srgbClr val="FAF8FA"/>
          </a:solidFill>
          <a:ln xmlns:a="http://schemas.openxmlformats.org/drawingml/2006/main" w="6985">
            <a:solidFill>
              <a:srgbClr val="666666"/>
            </a:solidFill>
            <a:prstDash val="solid"/>
          </a:ln>
        </p:spPr>
      </p:sp>
      <p:sp>
        <p:nvSpPr>
          <p:cNvPr id="8" name="shape-307">
            <a:extLst xmlns:a="http://schemas.openxmlformats.org/drawingml/2006/main">
              <a:ext uri="{FF2B5EF4-FFF2-40B4-BE49-F238E27FC236}">
                <a16:creationId xmlns:a16="http://schemas.microsoft.com/office/drawing/2014/main" id="{B380A4B1-483D-49FD-92FC-D5C8760C2CAA}"/>
              </a:ext>
            </a:extLst>
          </p:cNvPr>
          <p:cNvSpPr>
            <a:spLocks xmlns:a="http://schemas.openxmlformats.org/drawingml/2006/main" noGrp="1"/>
          </p:cNvSpPr>
          <p:nvPr/>
        </p:nvSpPr>
        <p:spPr>
          <a:xfrm xmlns:a="http://schemas.openxmlformats.org/drawingml/2006/main">
            <a:off x="571500" y="1320800"/>
            <a:ext cx="5410200" cy="876300"/>
          </a:xfrm>
          <a:prstGeom xmlns:a="http://schemas.openxmlformats.org/drawingml/2006/main" prst="roundRect">
            <a:avLst>
              <a:gd name="adj" fmla="val 18841"/>
            </a:avLst>
          </a:prstGeom>
          <a:solidFill xmlns:a="http://schemas.openxmlformats.org/drawingml/2006/main">
            <a:srgbClr val="0071BC"/>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FFFFFF"/>
                </a:solidFill>
                <a:latin typeface="Times New Roman"/>
                <a:ea typeface="Times New Roman"/>
                <a:cs typeface="Times New Roman"/>
              </a:defRPr>
            </a:defPPr>
          </a:lstStyle>
          <a:p xmlns:a="http://schemas.openxmlformats.org/drawingml/2006/main">
            <a:pPr algn="ctr">
              <a:defRPr sz="2300" b="1">
                <a:solidFill>
                  <a:srgbClr val="FFFFFF"/>
                </a:solidFill>
                <a:latin typeface="Times New Roman"/>
                <a:ea typeface="Times New Roman"/>
                <a:cs typeface="Times New Roman"/>
              </a:defRPr>
            </a:pPr>
            <a:r>
              <a:rPr sz="2300" b="1">
                <a:solidFill>
                  <a:srgbClr val="FFFFFF"/>
                </a:solidFill>
                <a:latin typeface="Times New Roman"/>
                <a:ea typeface="Times New Roman"/>
                <a:cs typeface="Times New Roman"/>
              </a:rPr>
              <a:t>TARGET BENEFICIARIES</a:t>
            </a:r>
          </a:p>
        </p:txBody>
      </p:sp>
      <p:sp>
        <p:nvSpPr>
          <p:cNvPr id="9" name="shape-308">
            <a:extLst xmlns:a="http://schemas.openxmlformats.org/drawingml/2006/main">
              <a:ext uri="{FF2B5EF4-FFF2-40B4-BE49-F238E27FC236}">
                <a16:creationId xmlns:a16="http://schemas.microsoft.com/office/drawing/2014/main" id="{5C7640E6-BFE9-4C29-BDD9-D6E7154FE622}"/>
              </a:ext>
            </a:extLst>
          </p:cNvPr>
          <p:cNvSpPr>
            <a:spLocks xmlns:a="http://schemas.openxmlformats.org/drawingml/2006/main" noGrp="1"/>
          </p:cNvSpPr>
          <p:nvPr/>
        </p:nvSpPr>
        <p:spPr>
          <a:xfrm xmlns:a="http://schemas.openxmlformats.org/drawingml/2006/main">
            <a:off x="368300" y="3657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0" name="shape-309">
            <a:extLst xmlns:a="http://schemas.openxmlformats.org/drawingml/2006/main">
              <a:ext uri="{FF2B5EF4-FFF2-40B4-BE49-F238E27FC236}">
                <a16:creationId xmlns:a16="http://schemas.microsoft.com/office/drawing/2014/main" id="{E11FDD99-1B31-420B-B3A8-C9010018BC48}"/>
              </a:ext>
            </a:extLst>
          </p:cNvPr>
          <p:cNvSpPr>
            <a:spLocks xmlns:a="http://schemas.openxmlformats.org/drawingml/2006/main" noGrp="1"/>
          </p:cNvSpPr>
          <p:nvPr/>
        </p:nvSpPr>
        <p:spPr>
          <a:xfrm xmlns:a="http://schemas.openxmlformats.org/drawingml/2006/main">
            <a:off x="368300" y="5054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1" name="shape-310">
            <a:extLst xmlns:a="http://schemas.openxmlformats.org/drawingml/2006/main">
              <a:ext uri="{FF2B5EF4-FFF2-40B4-BE49-F238E27FC236}">
                <a16:creationId xmlns:a16="http://schemas.microsoft.com/office/drawing/2014/main" id="{BE17D2CD-7A91-4192-9078-19B9F59C14AB}"/>
              </a:ext>
            </a:extLst>
          </p:cNvPr>
          <p:cNvSpPr>
            <a:spLocks xmlns:a="http://schemas.openxmlformats.org/drawingml/2006/main" noGrp="1"/>
          </p:cNvSpPr>
          <p:nvPr/>
        </p:nvSpPr>
        <p:spPr>
          <a:xfrm xmlns:a="http://schemas.openxmlformats.org/drawingml/2006/main">
            <a:off x="368300" y="6451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2" name="shape-311">
            <a:extLst xmlns:a="http://schemas.openxmlformats.org/drawingml/2006/main">
              <a:ext uri="{FF2B5EF4-FFF2-40B4-BE49-F238E27FC236}">
                <a16:creationId xmlns:a16="http://schemas.microsoft.com/office/drawing/2014/main" id="{FA3800D7-7036-420A-B770-57DCB30D8D1B}"/>
              </a:ext>
            </a:extLst>
          </p:cNvPr>
          <p:cNvSpPr>
            <a:spLocks xmlns:a="http://schemas.openxmlformats.org/drawingml/2006/main" noGrp="1"/>
          </p:cNvSpPr>
          <p:nvPr/>
        </p:nvSpPr>
        <p:spPr>
          <a:xfrm xmlns:a="http://schemas.openxmlformats.org/drawingml/2006/main">
            <a:off x="368300" y="7848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3" name="shape-312">
            <a:extLst xmlns:a="http://schemas.openxmlformats.org/drawingml/2006/main">
              <a:ext uri="{FF2B5EF4-FFF2-40B4-BE49-F238E27FC236}">
                <a16:creationId xmlns:a16="http://schemas.microsoft.com/office/drawing/2014/main" id="{A1EF3FAD-1942-4045-9C06-72946672CA16}"/>
              </a:ext>
            </a:extLst>
          </p:cNvPr>
          <p:cNvSpPr>
            <a:spLocks xmlns:a="http://schemas.openxmlformats.org/drawingml/2006/main" noGrp="1"/>
          </p:cNvSpPr>
          <p:nvPr/>
        </p:nvSpPr>
        <p:spPr>
          <a:xfrm xmlns:a="http://schemas.openxmlformats.org/drawingml/2006/main">
            <a:off x="6426200" y="1562100"/>
            <a:ext cx="5918200" cy="8013700"/>
          </a:xfrm>
          <a:prstGeom xmlns:a="http://schemas.openxmlformats.org/drawingml/2006/main" prst="roundRect">
            <a:avLst>
              <a:gd name="adj" fmla="val 3004"/>
            </a:avLst>
          </a:prstGeom>
          <a:solidFill xmlns:a="http://schemas.openxmlformats.org/drawingml/2006/main">
            <a:srgbClr val="F1F8EC"/>
          </a:solidFill>
          <a:ln xmlns:a="http://schemas.openxmlformats.org/drawingml/2006/main" w="6985">
            <a:solidFill>
              <a:srgbClr val="666666"/>
            </a:solidFill>
            <a:prstDash val="solid"/>
          </a:ln>
        </p:spPr>
      </p:sp>
      <p:sp>
        <p:nvSpPr>
          <p:cNvPr id="14" name="shape-313">
            <a:extLst xmlns:a="http://schemas.openxmlformats.org/drawingml/2006/main">
              <a:ext uri="{FF2B5EF4-FFF2-40B4-BE49-F238E27FC236}">
                <a16:creationId xmlns:a16="http://schemas.microsoft.com/office/drawing/2014/main" id="{B558177A-9055-426F-A797-F75C852CD4B0}"/>
              </a:ext>
            </a:extLst>
          </p:cNvPr>
          <p:cNvSpPr>
            <a:spLocks xmlns:a="http://schemas.openxmlformats.org/drawingml/2006/main" noGrp="1"/>
          </p:cNvSpPr>
          <p:nvPr/>
        </p:nvSpPr>
        <p:spPr>
          <a:xfrm xmlns:a="http://schemas.openxmlformats.org/drawingml/2006/main">
            <a:off x="6654800" y="1320800"/>
            <a:ext cx="5410200" cy="876300"/>
          </a:xfrm>
          <a:prstGeom xmlns:a="http://schemas.openxmlformats.org/drawingml/2006/main" prst="roundRect">
            <a:avLst>
              <a:gd name="adj" fmla="val 18841"/>
            </a:avLst>
          </a:prstGeom>
          <a:solidFill xmlns:a="http://schemas.openxmlformats.org/drawingml/2006/main">
            <a:srgbClr val="5B903E"/>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FFFFFF"/>
                </a:solidFill>
                <a:latin typeface="Times New Roman"/>
                <a:ea typeface="Times New Roman"/>
                <a:cs typeface="Times New Roman"/>
              </a:defRPr>
            </a:defPPr>
          </a:lstStyle>
          <a:p xmlns:a="http://schemas.openxmlformats.org/drawingml/2006/main">
            <a:pPr algn="ctr">
              <a:defRPr sz="2300" b="1">
                <a:solidFill>
                  <a:srgbClr val="FFFFFF"/>
                </a:solidFill>
                <a:latin typeface="Times New Roman"/>
                <a:ea typeface="Times New Roman"/>
                <a:cs typeface="Times New Roman"/>
              </a:defRPr>
            </a:pPr>
            <a:r>
              <a:rPr sz="2300" b="1">
                <a:solidFill>
                  <a:srgbClr val="FFFFFF"/>
                </a:solidFill>
                <a:latin typeface="Times New Roman"/>
                <a:ea typeface="Times New Roman"/>
                <a:cs typeface="Times New Roman"/>
              </a:rPr>
              <a:t>SOCIAL AND INDUSTRIAL IMPACT</a:t>
            </a:r>
          </a:p>
        </p:txBody>
      </p:sp>
      <p:sp>
        <p:nvSpPr>
          <p:cNvPr id="15" name="shape-314">
            <a:extLst xmlns:a="http://schemas.openxmlformats.org/drawingml/2006/main">
              <a:ext uri="{FF2B5EF4-FFF2-40B4-BE49-F238E27FC236}">
                <a16:creationId xmlns:a16="http://schemas.microsoft.com/office/drawing/2014/main" id="{B41A108D-BDBA-44EE-8EDE-AD804174B601}"/>
              </a:ext>
            </a:extLst>
          </p:cNvPr>
          <p:cNvSpPr>
            <a:spLocks xmlns:a="http://schemas.openxmlformats.org/drawingml/2006/main" noGrp="1"/>
          </p:cNvSpPr>
          <p:nvPr/>
        </p:nvSpPr>
        <p:spPr>
          <a:xfrm xmlns:a="http://schemas.openxmlformats.org/drawingml/2006/main">
            <a:off x="6451600" y="3657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6" name="shape-315">
            <a:extLst xmlns:a="http://schemas.openxmlformats.org/drawingml/2006/main">
              <a:ext uri="{FF2B5EF4-FFF2-40B4-BE49-F238E27FC236}">
                <a16:creationId xmlns:a16="http://schemas.microsoft.com/office/drawing/2014/main" id="{88E83A7D-A4C8-44A9-B798-131CF93B58E3}"/>
              </a:ext>
            </a:extLst>
          </p:cNvPr>
          <p:cNvSpPr>
            <a:spLocks xmlns:a="http://schemas.openxmlformats.org/drawingml/2006/main" noGrp="1"/>
          </p:cNvSpPr>
          <p:nvPr/>
        </p:nvSpPr>
        <p:spPr>
          <a:xfrm xmlns:a="http://schemas.openxmlformats.org/drawingml/2006/main">
            <a:off x="6451600" y="5054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7" name="shape-316">
            <a:extLst xmlns:a="http://schemas.openxmlformats.org/drawingml/2006/main">
              <a:ext uri="{FF2B5EF4-FFF2-40B4-BE49-F238E27FC236}">
                <a16:creationId xmlns:a16="http://schemas.microsoft.com/office/drawing/2014/main" id="{897FA3EA-88C6-47F3-8F9B-17E003F3883F}"/>
              </a:ext>
            </a:extLst>
          </p:cNvPr>
          <p:cNvSpPr>
            <a:spLocks xmlns:a="http://schemas.openxmlformats.org/drawingml/2006/main" noGrp="1"/>
          </p:cNvSpPr>
          <p:nvPr/>
        </p:nvSpPr>
        <p:spPr>
          <a:xfrm xmlns:a="http://schemas.openxmlformats.org/drawingml/2006/main">
            <a:off x="6451600" y="6451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8" name="shape-317">
            <a:extLst xmlns:a="http://schemas.openxmlformats.org/drawingml/2006/main">
              <a:ext uri="{FF2B5EF4-FFF2-40B4-BE49-F238E27FC236}">
                <a16:creationId xmlns:a16="http://schemas.microsoft.com/office/drawing/2014/main" id="{93A2959B-F528-42F0-9E51-C0C32698B398}"/>
              </a:ext>
            </a:extLst>
          </p:cNvPr>
          <p:cNvSpPr>
            <a:spLocks xmlns:a="http://schemas.openxmlformats.org/drawingml/2006/main" noGrp="1"/>
          </p:cNvSpPr>
          <p:nvPr/>
        </p:nvSpPr>
        <p:spPr>
          <a:xfrm xmlns:a="http://schemas.openxmlformats.org/drawingml/2006/main">
            <a:off x="6451600" y="7848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9" name="shape-318">
            <a:extLst xmlns:a="http://schemas.openxmlformats.org/drawingml/2006/main">
              <a:ext uri="{FF2B5EF4-FFF2-40B4-BE49-F238E27FC236}">
                <a16:creationId xmlns:a16="http://schemas.microsoft.com/office/drawing/2014/main" id="{942F37D3-E840-4E67-85BD-7AA0AA83C19F}"/>
              </a:ext>
            </a:extLst>
          </p:cNvPr>
          <p:cNvSpPr>
            <a:spLocks xmlns:a="http://schemas.openxmlformats.org/drawingml/2006/main" noGrp="1"/>
          </p:cNvSpPr>
          <p:nvPr/>
        </p:nvSpPr>
        <p:spPr>
          <a:xfrm xmlns:a="http://schemas.openxmlformats.org/drawingml/2006/main">
            <a:off x="12433300" y="1562100"/>
            <a:ext cx="5549900" cy="8013700"/>
          </a:xfrm>
          <a:prstGeom xmlns:a="http://schemas.openxmlformats.org/drawingml/2006/main" prst="roundRect">
            <a:avLst>
              <a:gd name="adj" fmla="val 3204"/>
            </a:avLst>
          </a:prstGeom>
          <a:solidFill xmlns:a="http://schemas.openxmlformats.org/drawingml/2006/main">
            <a:srgbClr val="FAF8FA"/>
          </a:solidFill>
          <a:ln xmlns:a="http://schemas.openxmlformats.org/drawingml/2006/main" w="6985">
            <a:solidFill>
              <a:srgbClr val="666666"/>
            </a:solidFill>
            <a:prstDash val="solid"/>
          </a:ln>
        </p:spPr>
      </p:sp>
      <p:sp>
        <p:nvSpPr>
          <p:cNvPr id="20" name="shape-319">
            <a:extLst xmlns:a="http://schemas.openxmlformats.org/drawingml/2006/main">
              <a:ext uri="{FF2B5EF4-FFF2-40B4-BE49-F238E27FC236}">
                <a16:creationId xmlns:a16="http://schemas.microsoft.com/office/drawing/2014/main" id="{0D1E31A7-B530-410B-A915-C6E22E73C362}"/>
              </a:ext>
            </a:extLst>
          </p:cNvPr>
          <p:cNvSpPr>
            <a:spLocks xmlns:a="http://schemas.openxmlformats.org/drawingml/2006/main" noGrp="1"/>
          </p:cNvSpPr>
          <p:nvPr/>
        </p:nvSpPr>
        <p:spPr>
          <a:xfrm xmlns:a="http://schemas.openxmlformats.org/drawingml/2006/main">
            <a:off x="12661900" y="1320800"/>
            <a:ext cx="5041900" cy="876300"/>
          </a:xfrm>
          <a:prstGeom xmlns:a="http://schemas.openxmlformats.org/drawingml/2006/main" prst="roundRect">
            <a:avLst>
              <a:gd name="adj" fmla="val 18841"/>
            </a:avLst>
          </a:prstGeom>
          <a:solidFill xmlns:a="http://schemas.openxmlformats.org/drawingml/2006/main">
            <a:srgbClr val="835000"/>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FFFFFF"/>
                </a:solidFill>
                <a:latin typeface="Times New Roman"/>
                <a:ea typeface="Times New Roman"/>
                <a:cs typeface="Times New Roman"/>
              </a:defRPr>
            </a:defPPr>
          </a:lstStyle>
          <a:p xmlns:a="http://schemas.openxmlformats.org/drawingml/2006/main">
            <a:pPr algn="ctr">
              <a:defRPr sz="2300" b="1">
                <a:solidFill>
                  <a:srgbClr val="FFFFFF"/>
                </a:solidFill>
                <a:latin typeface="Times New Roman"/>
                <a:ea typeface="Times New Roman"/>
                <a:cs typeface="Times New Roman"/>
              </a:defRPr>
            </a:pPr>
            <a:r>
              <a:rPr sz="2300" b="1">
                <a:solidFill>
                  <a:srgbClr val="FFFFFF"/>
                </a:solidFill>
                <a:latin typeface="Times New Roman"/>
                <a:ea typeface="Times New Roman"/>
                <a:cs typeface="Times New Roman"/>
              </a:rPr>
              <a:t>OUTCOME MEASURES</a:t>
            </a:r>
          </a:p>
        </p:txBody>
      </p:sp>
      <p:sp>
        <p:nvSpPr>
          <p:cNvPr id="21" name="shape-320">
            <a:extLst xmlns:a="http://schemas.openxmlformats.org/drawingml/2006/main">
              <a:ext uri="{FF2B5EF4-FFF2-40B4-BE49-F238E27FC236}">
                <a16:creationId xmlns:a16="http://schemas.microsoft.com/office/drawing/2014/main" id="{C1A7695C-8B66-418E-A2FD-F1F32BF79705}"/>
              </a:ext>
            </a:extLst>
          </p:cNvPr>
          <p:cNvSpPr>
            <a:spLocks xmlns:a="http://schemas.openxmlformats.org/drawingml/2006/main" noGrp="1"/>
          </p:cNvSpPr>
          <p:nvPr/>
        </p:nvSpPr>
        <p:spPr>
          <a:xfrm xmlns:a="http://schemas.openxmlformats.org/drawingml/2006/main">
            <a:off x="12458700" y="3657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2" name="shape-321">
            <a:extLst xmlns:a="http://schemas.openxmlformats.org/drawingml/2006/main">
              <a:ext uri="{FF2B5EF4-FFF2-40B4-BE49-F238E27FC236}">
                <a16:creationId xmlns:a16="http://schemas.microsoft.com/office/drawing/2014/main" id="{3AB4CCBA-AAB8-4755-9E46-7C968A631746}"/>
              </a:ext>
            </a:extLst>
          </p:cNvPr>
          <p:cNvSpPr>
            <a:spLocks xmlns:a="http://schemas.openxmlformats.org/drawingml/2006/main" noGrp="1"/>
          </p:cNvSpPr>
          <p:nvPr/>
        </p:nvSpPr>
        <p:spPr>
          <a:xfrm xmlns:a="http://schemas.openxmlformats.org/drawingml/2006/main">
            <a:off x="12458700" y="5054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3" name="shape-322">
            <a:extLst xmlns:a="http://schemas.openxmlformats.org/drawingml/2006/main">
              <a:ext uri="{FF2B5EF4-FFF2-40B4-BE49-F238E27FC236}">
                <a16:creationId xmlns:a16="http://schemas.microsoft.com/office/drawing/2014/main" id="{93DBBC1A-0C26-4A37-94A8-348184E52FC1}"/>
              </a:ext>
            </a:extLst>
          </p:cNvPr>
          <p:cNvSpPr>
            <a:spLocks xmlns:a="http://schemas.openxmlformats.org/drawingml/2006/main" noGrp="1"/>
          </p:cNvSpPr>
          <p:nvPr/>
        </p:nvSpPr>
        <p:spPr>
          <a:xfrm xmlns:a="http://schemas.openxmlformats.org/drawingml/2006/main">
            <a:off x="12458700" y="6451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4" name="shape-323">
            <a:extLst xmlns:a="http://schemas.openxmlformats.org/drawingml/2006/main">
              <a:ext uri="{FF2B5EF4-FFF2-40B4-BE49-F238E27FC236}">
                <a16:creationId xmlns:a16="http://schemas.microsoft.com/office/drawing/2014/main" id="{D225357A-983D-495E-889D-97A702DCF5B5}"/>
              </a:ext>
            </a:extLst>
          </p:cNvPr>
          <p:cNvSpPr>
            <a:spLocks xmlns:a="http://schemas.openxmlformats.org/drawingml/2006/main" noGrp="1"/>
          </p:cNvSpPr>
          <p:nvPr/>
        </p:nvSpPr>
        <p:spPr>
          <a:xfrm xmlns:a="http://schemas.openxmlformats.org/drawingml/2006/main">
            <a:off x="12458700" y="7848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5" name="shape-324">
            <a:extLst xmlns:a="http://schemas.openxmlformats.org/drawingml/2006/main">
              <a:ext uri="{FF2B5EF4-FFF2-40B4-BE49-F238E27FC236}">
                <a16:creationId xmlns:a16="http://schemas.microsoft.com/office/drawing/2014/main" id="{5655A1CB-2DD4-4030-9BF6-A4B32754AFB6}"/>
              </a:ext>
            </a:extLst>
          </p:cNvPr>
          <p:cNvSpPr>
            <a:spLocks xmlns:a="http://schemas.openxmlformats.org/drawingml/2006/main" noGrp="1"/>
          </p:cNvSpPr>
          <p:nvPr/>
        </p:nvSpPr>
        <p:spPr>
          <a:xfrm xmlns:a="http://schemas.openxmlformats.org/drawingml/2006/main">
            <a:off x="571500" y="2552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26" name="text-326">
            <a:extLst xmlns:a="http://schemas.openxmlformats.org/drawingml/2006/main">
              <a:ext uri="{FF2B5EF4-FFF2-40B4-BE49-F238E27FC236}">
                <a16:creationId xmlns:a16="http://schemas.microsoft.com/office/drawing/2014/main" id="{1F07431C-7CE0-4C89-A409-03C6CC48F4DB}"/>
              </a:ext>
            </a:extLst>
          </p:cNvPr>
          <p:cNvSpPr>
            <a:spLocks xmlns:a="http://schemas.openxmlformats.org/drawingml/2006/main" noGrp="1"/>
          </p:cNvSpPr>
          <p:nvPr/>
        </p:nvSpPr>
        <p:spPr>
          <a:xfrm xmlns:a="http://schemas.openxmlformats.org/drawingml/2006/main">
            <a:off x="698500" y="2654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1</a:t>
            </a:r>
          </a:p>
        </p:txBody>
      </p:sp>
      <p:sp>
        <p:nvSpPr>
          <p:cNvPr id="27" name="text-328">
            <a:extLst xmlns:a="http://schemas.openxmlformats.org/drawingml/2006/main">
              <a:ext uri="{FF2B5EF4-FFF2-40B4-BE49-F238E27FC236}">
                <a16:creationId xmlns:a16="http://schemas.microsoft.com/office/drawing/2014/main" id="{C8D332A9-B0A6-48E2-A083-BA36856BB328}"/>
              </a:ext>
            </a:extLst>
          </p:cNvPr>
          <p:cNvSpPr>
            <a:spLocks xmlns:a="http://schemas.openxmlformats.org/drawingml/2006/main" noGrp="1"/>
          </p:cNvSpPr>
          <p:nvPr/>
        </p:nvSpPr>
        <p:spPr>
          <a:xfrm xmlns:a="http://schemas.openxmlformats.org/drawingml/2006/main">
            <a:off x="1397000" y="2413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HR AND RECRUITMENT</a:t>
            </a:r>
          </a:p>
        </p:txBody>
      </p:sp>
      <p:sp>
        <p:nvSpPr>
          <p:cNvPr id="28" name="text-330">
            <a:extLst xmlns:a="http://schemas.openxmlformats.org/drawingml/2006/main">
              <a:ext uri="{FF2B5EF4-FFF2-40B4-BE49-F238E27FC236}">
                <a16:creationId xmlns:a16="http://schemas.microsoft.com/office/drawing/2014/main" id="{DB553EB3-3FD4-4A23-B0FD-955FB114AEA7}"/>
              </a:ext>
            </a:extLst>
          </p:cNvPr>
          <p:cNvSpPr>
            <a:spLocks xmlns:a="http://schemas.openxmlformats.org/drawingml/2006/main" noGrp="1"/>
          </p:cNvSpPr>
          <p:nvPr/>
        </p:nvSpPr>
        <p:spPr>
          <a:xfrm xmlns:a="http://schemas.openxmlformats.org/drawingml/2006/main">
            <a:off x="1397000" y="3073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Planners and hiring managers</a:t>
            </a:r>
          </a:p>
        </p:txBody>
      </p:sp>
      <p:sp>
        <p:nvSpPr>
          <p:cNvPr id="29" name="shape-331">
            <a:extLst xmlns:a="http://schemas.openxmlformats.org/drawingml/2006/main">
              <a:ext uri="{FF2B5EF4-FFF2-40B4-BE49-F238E27FC236}">
                <a16:creationId xmlns:a16="http://schemas.microsoft.com/office/drawing/2014/main" id="{24D97987-DEE3-4BFE-81CD-828AD8E911BB}"/>
              </a:ext>
            </a:extLst>
          </p:cNvPr>
          <p:cNvSpPr>
            <a:spLocks xmlns:a="http://schemas.openxmlformats.org/drawingml/2006/main" noGrp="1"/>
          </p:cNvSpPr>
          <p:nvPr/>
        </p:nvSpPr>
        <p:spPr>
          <a:xfrm xmlns:a="http://schemas.openxmlformats.org/drawingml/2006/main">
            <a:off x="571500" y="3949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30" name="text-333">
            <a:extLst xmlns:a="http://schemas.openxmlformats.org/drawingml/2006/main">
              <a:ext uri="{FF2B5EF4-FFF2-40B4-BE49-F238E27FC236}">
                <a16:creationId xmlns:a16="http://schemas.microsoft.com/office/drawing/2014/main" id="{EEEEEDDE-D4B5-4485-9861-380BA025D6F5}"/>
              </a:ext>
            </a:extLst>
          </p:cNvPr>
          <p:cNvSpPr>
            <a:spLocks xmlns:a="http://schemas.openxmlformats.org/drawingml/2006/main" noGrp="1"/>
          </p:cNvSpPr>
          <p:nvPr/>
        </p:nvSpPr>
        <p:spPr>
          <a:xfrm xmlns:a="http://schemas.openxmlformats.org/drawingml/2006/main">
            <a:off x="698500" y="4051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2</a:t>
            </a:r>
          </a:p>
        </p:txBody>
      </p:sp>
      <p:sp>
        <p:nvSpPr>
          <p:cNvPr id="31" name="text-335">
            <a:extLst xmlns:a="http://schemas.openxmlformats.org/drawingml/2006/main">
              <a:ext uri="{FF2B5EF4-FFF2-40B4-BE49-F238E27FC236}">
                <a16:creationId xmlns:a16="http://schemas.microsoft.com/office/drawing/2014/main" id="{2DC73ABA-1271-44D6-B161-D55F815D74EB}"/>
              </a:ext>
            </a:extLst>
          </p:cNvPr>
          <p:cNvSpPr>
            <a:spLocks xmlns:a="http://schemas.openxmlformats.org/drawingml/2006/main" noGrp="1"/>
          </p:cNvSpPr>
          <p:nvPr/>
        </p:nvSpPr>
        <p:spPr>
          <a:xfrm xmlns:a="http://schemas.openxmlformats.org/drawingml/2006/main">
            <a:off x="1397000" y="3810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EMPLOYEES</a:t>
            </a:r>
          </a:p>
        </p:txBody>
      </p:sp>
      <p:sp>
        <p:nvSpPr>
          <p:cNvPr id="32" name="text-337">
            <a:extLst xmlns:a="http://schemas.openxmlformats.org/drawingml/2006/main">
              <a:ext uri="{FF2B5EF4-FFF2-40B4-BE49-F238E27FC236}">
                <a16:creationId xmlns:a16="http://schemas.microsoft.com/office/drawing/2014/main" id="{9FED5CD5-E2B8-4103-B985-764A5BFC5975}"/>
              </a:ext>
            </a:extLst>
          </p:cNvPr>
          <p:cNvSpPr>
            <a:spLocks xmlns:a="http://schemas.openxmlformats.org/drawingml/2006/main" noGrp="1"/>
          </p:cNvSpPr>
          <p:nvPr/>
        </p:nvSpPr>
        <p:spPr>
          <a:xfrm xmlns:a="http://schemas.openxmlformats.org/drawingml/2006/main">
            <a:off x="1397000" y="4470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Internal mobility and development</a:t>
            </a:r>
          </a:p>
        </p:txBody>
      </p:sp>
      <p:sp>
        <p:nvSpPr>
          <p:cNvPr id="33" name="shape-338">
            <a:extLst xmlns:a="http://schemas.openxmlformats.org/drawingml/2006/main">
              <a:ext uri="{FF2B5EF4-FFF2-40B4-BE49-F238E27FC236}">
                <a16:creationId xmlns:a16="http://schemas.microsoft.com/office/drawing/2014/main" id="{EA801EDA-96FD-4C46-B590-072FEB203530}"/>
              </a:ext>
            </a:extLst>
          </p:cNvPr>
          <p:cNvSpPr>
            <a:spLocks xmlns:a="http://schemas.openxmlformats.org/drawingml/2006/main" noGrp="1"/>
          </p:cNvSpPr>
          <p:nvPr/>
        </p:nvSpPr>
        <p:spPr>
          <a:xfrm xmlns:a="http://schemas.openxmlformats.org/drawingml/2006/main">
            <a:off x="571500" y="5346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34" name="text-340">
            <a:extLst xmlns:a="http://schemas.openxmlformats.org/drawingml/2006/main">
              <a:ext uri="{FF2B5EF4-FFF2-40B4-BE49-F238E27FC236}">
                <a16:creationId xmlns:a16="http://schemas.microsoft.com/office/drawing/2014/main" id="{E0C1E1E0-9DE4-4F35-B242-9DB59A37E716}"/>
              </a:ext>
            </a:extLst>
          </p:cNvPr>
          <p:cNvSpPr>
            <a:spLocks xmlns:a="http://schemas.openxmlformats.org/drawingml/2006/main" noGrp="1"/>
          </p:cNvSpPr>
          <p:nvPr/>
        </p:nvSpPr>
        <p:spPr>
          <a:xfrm xmlns:a="http://schemas.openxmlformats.org/drawingml/2006/main">
            <a:off x="698500" y="5448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3</a:t>
            </a:r>
          </a:p>
        </p:txBody>
      </p:sp>
      <p:sp>
        <p:nvSpPr>
          <p:cNvPr id="35" name="text-342">
            <a:extLst xmlns:a="http://schemas.openxmlformats.org/drawingml/2006/main">
              <a:ext uri="{FF2B5EF4-FFF2-40B4-BE49-F238E27FC236}">
                <a16:creationId xmlns:a16="http://schemas.microsoft.com/office/drawing/2014/main" id="{668C9B5F-BB5B-4E85-AD5C-CFF28B29DCB9}"/>
              </a:ext>
            </a:extLst>
          </p:cNvPr>
          <p:cNvSpPr>
            <a:spLocks xmlns:a="http://schemas.openxmlformats.org/drawingml/2006/main" noGrp="1"/>
          </p:cNvSpPr>
          <p:nvPr/>
        </p:nvSpPr>
        <p:spPr>
          <a:xfrm xmlns:a="http://schemas.openxmlformats.org/drawingml/2006/main">
            <a:off x="1397000" y="5207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CONTRACTORS</a:t>
            </a:r>
          </a:p>
        </p:txBody>
      </p:sp>
      <p:sp>
        <p:nvSpPr>
          <p:cNvPr id="36" name="text-344">
            <a:extLst xmlns:a="http://schemas.openxmlformats.org/drawingml/2006/main">
              <a:ext uri="{FF2B5EF4-FFF2-40B4-BE49-F238E27FC236}">
                <a16:creationId xmlns:a16="http://schemas.microsoft.com/office/drawing/2014/main" id="{23434A4C-0281-47ED-8148-E5D3F4ACF635}"/>
              </a:ext>
            </a:extLst>
          </p:cNvPr>
          <p:cNvSpPr>
            <a:spLocks xmlns:a="http://schemas.openxmlformats.org/drawingml/2006/main" noGrp="1"/>
          </p:cNvSpPr>
          <p:nvPr/>
        </p:nvSpPr>
        <p:spPr>
          <a:xfrm xmlns:a="http://schemas.openxmlformats.org/drawingml/2006/main">
            <a:off x="1397000" y="5867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Visible skills and conversion interest</a:t>
            </a:r>
          </a:p>
        </p:txBody>
      </p:sp>
      <p:sp>
        <p:nvSpPr>
          <p:cNvPr id="37" name="shape-345">
            <a:extLst xmlns:a="http://schemas.openxmlformats.org/drawingml/2006/main">
              <a:ext uri="{FF2B5EF4-FFF2-40B4-BE49-F238E27FC236}">
                <a16:creationId xmlns:a16="http://schemas.microsoft.com/office/drawing/2014/main" id="{9C37AEE4-B884-4E1C-A032-E3232DDBFC95}"/>
              </a:ext>
            </a:extLst>
          </p:cNvPr>
          <p:cNvSpPr>
            <a:spLocks xmlns:a="http://schemas.openxmlformats.org/drawingml/2006/main" noGrp="1"/>
          </p:cNvSpPr>
          <p:nvPr/>
        </p:nvSpPr>
        <p:spPr>
          <a:xfrm xmlns:a="http://schemas.openxmlformats.org/drawingml/2006/main">
            <a:off x="571500" y="6743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38" name="text-347">
            <a:extLst xmlns:a="http://schemas.openxmlformats.org/drawingml/2006/main">
              <a:ext uri="{FF2B5EF4-FFF2-40B4-BE49-F238E27FC236}">
                <a16:creationId xmlns:a16="http://schemas.microsoft.com/office/drawing/2014/main" id="{8357B830-8985-4CD0-A98E-E9A4F1AB0C85}"/>
              </a:ext>
            </a:extLst>
          </p:cNvPr>
          <p:cNvSpPr>
            <a:spLocks xmlns:a="http://schemas.openxmlformats.org/drawingml/2006/main" noGrp="1"/>
          </p:cNvSpPr>
          <p:nvPr/>
        </p:nvSpPr>
        <p:spPr>
          <a:xfrm xmlns:a="http://schemas.openxmlformats.org/drawingml/2006/main">
            <a:off x="698500" y="6845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4</a:t>
            </a:r>
          </a:p>
        </p:txBody>
      </p:sp>
      <p:sp>
        <p:nvSpPr>
          <p:cNvPr id="39" name="text-349">
            <a:extLst xmlns:a="http://schemas.openxmlformats.org/drawingml/2006/main">
              <a:ext uri="{FF2B5EF4-FFF2-40B4-BE49-F238E27FC236}">
                <a16:creationId xmlns:a16="http://schemas.microsoft.com/office/drawing/2014/main" id="{FE4B5506-A0D2-4DEA-9DA7-A16F9F3B4677}"/>
              </a:ext>
            </a:extLst>
          </p:cNvPr>
          <p:cNvSpPr>
            <a:spLocks xmlns:a="http://schemas.openxmlformats.org/drawingml/2006/main" noGrp="1"/>
          </p:cNvSpPr>
          <p:nvPr/>
        </p:nvSpPr>
        <p:spPr>
          <a:xfrm xmlns:a="http://schemas.openxmlformats.org/drawingml/2006/main">
            <a:off x="1397000" y="6604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STAFFING AND INDUSTRY</a:t>
            </a:r>
          </a:p>
        </p:txBody>
      </p:sp>
      <p:sp>
        <p:nvSpPr>
          <p:cNvPr id="40" name="text-351">
            <a:extLst xmlns:a="http://schemas.openxmlformats.org/drawingml/2006/main">
              <a:ext uri="{FF2B5EF4-FFF2-40B4-BE49-F238E27FC236}">
                <a16:creationId xmlns:a16="http://schemas.microsoft.com/office/drawing/2014/main" id="{4F1F1D9C-D7AC-4833-9F6F-5E5CE73FEE09}"/>
              </a:ext>
            </a:extLst>
          </p:cNvPr>
          <p:cNvSpPr>
            <a:spLocks xmlns:a="http://schemas.openxmlformats.org/drawingml/2006/main" noGrp="1"/>
          </p:cNvSpPr>
          <p:nvPr/>
        </p:nvSpPr>
        <p:spPr>
          <a:xfrm xmlns:a="http://schemas.openxmlformats.org/drawingml/2006/main">
            <a:off x="1397000" y="7264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Project demand and flexible capacity</a:t>
            </a:r>
          </a:p>
        </p:txBody>
      </p:sp>
      <p:sp>
        <p:nvSpPr>
          <p:cNvPr id="41" name="shape-352">
            <a:extLst xmlns:a="http://schemas.openxmlformats.org/drawingml/2006/main">
              <a:ext uri="{FF2B5EF4-FFF2-40B4-BE49-F238E27FC236}">
                <a16:creationId xmlns:a16="http://schemas.microsoft.com/office/drawing/2014/main" id="{7E942ADB-518F-40C2-BD41-9E06CC0F15C2}"/>
              </a:ext>
            </a:extLst>
          </p:cNvPr>
          <p:cNvSpPr>
            <a:spLocks xmlns:a="http://schemas.openxmlformats.org/drawingml/2006/main" noGrp="1"/>
          </p:cNvSpPr>
          <p:nvPr/>
        </p:nvSpPr>
        <p:spPr>
          <a:xfrm xmlns:a="http://schemas.openxmlformats.org/drawingml/2006/main">
            <a:off x="571500" y="8140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42" name="text-354">
            <a:extLst xmlns:a="http://schemas.openxmlformats.org/drawingml/2006/main">
              <a:ext uri="{FF2B5EF4-FFF2-40B4-BE49-F238E27FC236}">
                <a16:creationId xmlns:a16="http://schemas.microsoft.com/office/drawing/2014/main" id="{B2AA056A-2611-494F-B1E9-FA9118A80283}"/>
              </a:ext>
            </a:extLst>
          </p:cNvPr>
          <p:cNvSpPr>
            <a:spLocks xmlns:a="http://schemas.openxmlformats.org/drawingml/2006/main" noGrp="1"/>
          </p:cNvSpPr>
          <p:nvPr/>
        </p:nvSpPr>
        <p:spPr>
          <a:xfrm xmlns:a="http://schemas.openxmlformats.org/drawingml/2006/main">
            <a:off x="698500" y="8242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5</a:t>
            </a:r>
          </a:p>
        </p:txBody>
      </p:sp>
      <p:sp>
        <p:nvSpPr>
          <p:cNvPr id="43" name="text-356">
            <a:extLst xmlns:a="http://schemas.openxmlformats.org/drawingml/2006/main">
              <a:ext uri="{FF2B5EF4-FFF2-40B4-BE49-F238E27FC236}">
                <a16:creationId xmlns:a16="http://schemas.microsoft.com/office/drawing/2014/main" id="{D0EC61C1-1F05-49DC-81BB-95B9DA5B4D04}"/>
              </a:ext>
            </a:extLst>
          </p:cNvPr>
          <p:cNvSpPr>
            <a:spLocks xmlns:a="http://schemas.openxmlformats.org/drawingml/2006/main" noGrp="1"/>
          </p:cNvSpPr>
          <p:nvPr/>
        </p:nvSpPr>
        <p:spPr>
          <a:xfrm xmlns:a="http://schemas.openxmlformats.org/drawingml/2006/main">
            <a:off x="1397000" y="8001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GROWING ENTERPRISES</a:t>
            </a:r>
          </a:p>
        </p:txBody>
      </p:sp>
      <p:sp>
        <p:nvSpPr>
          <p:cNvPr id="44" name="text-358">
            <a:extLst xmlns:a="http://schemas.openxmlformats.org/drawingml/2006/main">
              <a:ext uri="{FF2B5EF4-FFF2-40B4-BE49-F238E27FC236}">
                <a16:creationId xmlns:a16="http://schemas.microsoft.com/office/drawing/2014/main" id="{1FB8305D-A339-4ADB-8E6A-A54B3C3DAE83}"/>
              </a:ext>
            </a:extLst>
          </p:cNvPr>
          <p:cNvSpPr>
            <a:spLocks xmlns:a="http://schemas.openxmlformats.org/drawingml/2006/main" noGrp="1"/>
          </p:cNvSpPr>
          <p:nvPr/>
        </p:nvSpPr>
        <p:spPr>
          <a:xfrm xmlns:a="http://schemas.openxmlformats.org/drawingml/2006/main">
            <a:off x="1397000" y="8661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Consistent workforce decision records</a:t>
            </a:r>
          </a:p>
        </p:txBody>
      </p:sp>
      <p:sp>
        <p:nvSpPr>
          <p:cNvPr id="45" name="shape-359">
            <a:extLst xmlns:a="http://schemas.openxmlformats.org/drawingml/2006/main">
              <a:ext uri="{FF2B5EF4-FFF2-40B4-BE49-F238E27FC236}">
                <a16:creationId xmlns:a16="http://schemas.microsoft.com/office/drawing/2014/main" id="{43AEA0C0-9BA1-4854-ACCC-79665CB42163}"/>
              </a:ext>
            </a:extLst>
          </p:cNvPr>
          <p:cNvSpPr>
            <a:spLocks xmlns:a="http://schemas.openxmlformats.org/drawingml/2006/main" noGrp="1"/>
          </p:cNvSpPr>
          <p:nvPr/>
        </p:nvSpPr>
        <p:spPr>
          <a:xfrm xmlns:a="http://schemas.openxmlformats.org/drawingml/2006/main">
            <a:off x="6654800" y="2552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46" name="text-361">
            <a:extLst xmlns:a="http://schemas.openxmlformats.org/drawingml/2006/main">
              <a:ext uri="{FF2B5EF4-FFF2-40B4-BE49-F238E27FC236}">
                <a16:creationId xmlns:a16="http://schemas.microsoft.com/office/drawing/2014/main" id="{182896EF-6D07-4118-8809-EDD209913F1A}"/>
              </a:ext>
            </a:extLst>
          </p:cNvPr>
          <p:cNvSpPr>
            <a:spLocks xmlns:a="http://schemas.openxmlformats.org/drawingml/2006/main" noGrp="1"/>
          </p:cNvSpPr>
          <p:nvPr/>
        </p:nvSpPr>
        <p:spPr>
          <a:xfrm xmlns:a="http://schemas.openxmlformats.org/drawingml/2006/main">
            <a:off x="6781800" y="2654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1</a:t>
            </a:r>
          </a:p>
        </p:txBody>
      </p:sp>
      <p:sp>
        <p:nvSpPr>
          <p:cNvPr id="47" name="text-363">
            <a:extLst xmlns:a="http://schemas.openxmlformats.org/drawingml/2006/main">
              <a:ext uri="{FF2B5EF4-FFF2-40B4-BE49-F238E27FC236}">
                <a16:creationId xmlns:a16="http://schemas.microsoft.com/office/drawing/2014/main" id="{2CF71226-7B54-45BF-9733-3720682EAAEF}"/>
              </a:ext>
            </a:extLst>
          </p:cNvPr>
          <p:cNvSpPr>
            <a:spLocks xmlns:a="http://schemas.openxmlformats.org/drawingml/2006/main" noGrp="1"/>
          </p:cNvSpPr>
          <p:nvPr/>
        </p:nvSpPr>
        <p:spPr>
          <a:xfrm xmlns:a="http://schemas.openxmlformats.org/drawingml/2006/main">
            <a:off x="7480300" y="2413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INTERNAL MOBILITY</a:t>
            </a:r>
          </a:p>
        </p:txBody>
      </p:sp>
      <p:sp>
        <p:nvSpPr>
          <p:cNvPr id="48" name="text-365">
            <a:extLst xmlns:a="http://schemas.openxmlformats.org/drawingml/2006/main">
              <a:ext uri="{FF2B5EF4-FFF2-40B4-BE49-F238E27FC236}">
                <a16:creationId xmlns:a16="http://schemas.microsoft.com/office/drawing/2014/main" id="{28289B36-A0B4-4A0E-814A-D062DCD215D3}"/>
              </a:ext>
            </a:extLst>
          </p:cNvPr>
          <p:cNvSpPr>
            <a:spLocks xmlns:a="http://schemas.openxmlformats.org/drawingml/2006/main" noGrp="1"/>
          </p:cNvSpPr>
          <p:nvPr/>
        </p:nvSpPr>
        <p:spPr>
          <a:xfrm xmlns:a="http://schemas.openxmlformats.org/drawingml/2006/main">
            <a:off x="7480300" y="3073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Show skills and development gaps.</a:t>
            </a:r>
          </a:p>
        </p:txBody>
      </p:sp>
      <p:sp>
        <p:nvSpPr>
          <p:cNvPr id="49" name="shape-366">
            <a:extLst xmlns:a="http://schemas.openxmlformats.org/drawingml/2006/main">
              <a:ext uri="{FF2B5EF4-FFF2-40B4-BE49-F238E27FC236}">
                <a16:creationId xmlns:a16="http://schemas.microsoft.com/office/drawing/2014/main" id="{8521E88B-360D-4E05-999A-029DD0A791A2}"/>
              </a:ext>
            </a:extLst>
          </p:cNvPr>
          <p:cNvSpPr>
            <a:spLocks xmlns:a="http://schemas.openxmlformats.org/drawingml/2006/main" noGrp="1"/>
          </p:cNvSpPr>
          <p:nvPr/>
        </p:nvSpPr>
        <p:spPr>
          <a:xfrm xmlns:a="http://schemas.openxmlformats.org/drawingml/2006/main">
            <a:off x="6654800" y="3949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50" name="text-368">
            <a:extLst xmlns:a="http://schemas.openxmlformats.org/drawingml/2006/main">
              <a:ext uri="{FF2B5EF4-FFF2-40B4-BE49-F238E27FC236}">
                <a16:creationId xmlns:a16="http://schemas.microsoft.com/office/drawing/2014/main" id="{EC91BD08-821E-40C5-8789-C6593DEEF56F}"/>
              </a:ext>
            </a:extLst>
          </p:cNvPr>
          <p:cNvSpPr>
            <a:spLocks xmlns:a="http://schemas.openxmlformats.org/drawingml/2006/main" noGrp="1"/>
          </p:cNvSpPr>
          <p:nvPr/>
        </p:nvSpPr>
        <p:spPr>
          <a:xfrm xmlns:a="http://schemas.openxmlformats.org/drawingml/2006/main">
            <a:off x="6781800" y="4051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2</a:t>
            </a:r>
          </a:p>
        </p:txBody>
      </p:sp>
      <p:sp>
        <p:nvSpPr>
          <p:cNvPr id="51" name="text-370">
            <a:extLst xmlns:a="http://schemas.openxmlformats.org/drawingml/2006/main">
              <a:ext uri="{FF2B5EF4-FFF2-40B4-BE49-F238E27FC236}">
                <a16:creationId xmlns:a16="http://schemas.microsoft.com/office/drawing/2014/main" id="{3FBC222D-A8EE-4FF0-B67F-4E7860E46DDB}"/>
              </a:ext>
            </a:extLst>
          </p:cNvPr>
          <p:cNvSpPr>
            <a:spLocks xmlns:a="http://schemas.openxmlformats.org/drawingml/2006/main" noGrp="1"/>
          </p:cNvSpPr>
          <p:nvPr/>
        </p:nvSpPr>
        <p:spPr>
          <a:xfrm xmlns:a="http://schemas.openxmlformats.org/drawingml/2006/main">
            <a:off x="7480300" y="3810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CONTRACTOR OPPORTUNITY</a:t>
            </a:r>
          </a:p>
        </p:txBody>
      </p:sp>
      <p:sp>
        <p:nvSpPr>
          <p:cNvPr id="52" name="text-372">
            <a:extLst xmlns:a="http://schemas.openxmlformats.org/drawingml/2006/main">
              <a:ext uri="{FF2B5EF4-FFF2-40B4-BE49-F238E27FC236}">
                <a16:creationId xmlns:a16="http://schemas.microsoft.com/office/drawing/2014/main" id="{3C788DDC-780A-4006-9AF7-918A963BE300}"/>
              </a:ext>
            </a:extLst>
          </p:cNvPr>
          <p:cNvSpPr>
            <a:spLocks xmlns:a="http://schemas.openxmlformats.org/drawingml/2006/main" noGrp="1"/>
          </p:cNvSpPr>
          <p:nvPr/>
        </p:nvSpPr>
        <p:spPr>
          <a:xfrm xmlns:a="http://schemas.openxmlformats.org/drawingml/2006/main">
            <a:off x="7480300" y="4470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Review engagement and conversion interest.</a:t>
            </a:r>
          </a:p>
        </p:txBody>
      </p:sp>
      <p:sp>
        <p:nvSpPr>
          <p:cNvPr id="53" name="shape-373">
            <a:extLst xmlns:a="http://schemas.openxmlformats.org/drawingml/2006/main">
              <a:ext uri="{FF2B5EF4-FFF2-40B4-BE49-F238E27FC236}">
                <a16:creationId xmlns:a16="http://schemas.microsoft.com/office/drawing/2014/main" id="{A2659902-D40E-49E6-978F-8CB9AEF4766F}"/>
              </a:ext>
            </a:extLst>
          </p:cNvPr>
          <p:cNvSpPr>
            <a:spLocks xmlns:a="http://schemas.openxmlformats.org/drawingml/2006/main" noGrp="1"/>
          </p:cNvSpPr>
          <p:nvPr/>
        </p:nvSpPr>
        <p:spPr>
          <a:xfrm xmlns:a="http://schemas.openxmlformats.org/drawingml/2006/main">
            <a:off x="6654800" y="5346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54" name="text-375">
            <a:extLst xmlns:a="http://schemas.openxmlformats.org/drawingml/2006/main">
              <a:ext uri="{FF2B5EF4-FFF2-40B4-BE49-F238E27FC236}">
                <a16:creationId xmlns:a16="http://schemas.microsoft.com/office/drawing/2014/main" id="{6A1049CD-44F4-472A-ACCD-CA0FBF6CA7F4}"/>
              </a:ext>
            </a:extLst>
          </p:cNvPr>
          <p:cNvSpPr>
            <a:spLocks xmlns:a="http://schemas.openxmlformats.org/drawingml/2006/main" noGrp="1"/>
          </p:cNvSpPr>
          <p:nvPr/>
        </p:nvSpPr>
        <p:spPr>
          <a:xfrm xmlns:a="http://schemas.openxmlformats.org/drawingml/2006/main">
            <a:off x="6781800" y="5448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3</a:t>
            </a:r>
          </a:p>
        </p:txBody>
      </p:sp>
      <p:sp>
        <p:nvSpPr>
          <p:cNvPr id="55" name="text-377">
            <a:extLst xmlns:a="http://schemas.openxmlformats.org/drawingml/2006/main">
              <a:ext uri="{FF2B5EF4-FFF2-40B4-BE49-F238E27FC236}">
                <a16:creationId xmlns:a16="http://schemas.microsoft.com/office/drawing/2014/main" id="{2E1913E7-6038-4F57-93E9-517CAA6335A3}"/>
              </a:ext>
            </a:extLst>
          </p:cNvPr>
          <p:cNvSpPr>
            <a:spLocks xmlns:a="http://schemas.openxmlformats.org/drawingml/2006/main" noGrp="1"/>
          </p:cNvSpPr>
          <p:nvPr/>
        </p:nvSpPr>
        <p:spPr>
          <a:xfrm xmlns:a="http://schemas.openxmlformats.org/drawingml/2006/main">
            <a:off x="7480300" y="5207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GEOGRAPHIC ACCESS</a:t>
            </a:r>
          </a:p>
        </p:txBody>
      </p:sp>
      <p:sp>
        <p:nvSpPr>
          <p:cNvPr id="56" name="text-379">
            <a:extLst xmlns:a="http://schemas.openxmlformats.org/drawingml/2006/main">
              <a:ext uri="{FF2B5EF4-FFF2-40B4-BE49-F238E27FC236}">
                <a16:creationId xmlns:a16="http://schemas.microsoft.com/office/drawing/2014/main" id="{D6E40185-AA04-4C3F-9E4F-DC37537E8A89}"/>
              </a:ext>
            </a:extLst>
          </p:cNvPr>
          <p:cNvSpPr>
            <a:spLocks xmlns:a="http://schemas.openxmlformats.org/drawingml/2006/main" noGrp="1"/>
          </p:cNvSpPr>
          <p:nvPr/>
        </p:nvSpPr>
        <p:spPr>
          <a:xfrm xmlns:a="http://schemas.openxmlformats.org/drawingml/2006/main">
            <a:off x="7480300" y="5867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Compare remote work and eligibility.</a:t>
            </a:r>
          </a:p>
        </p:txBody>
      </p:sp>
      <p:sp>
        <p:nvSpPr>
          <p:cNvPr id="57" name="shape-380">
            <a:extLst xmlns:a="http://schemas.openxmlformats.org/drawingml/2006/main">
              <a:ext uri="{FF2B5EF4-FFF2-40B4-BE49-F238E27FC236}">
                <a16:creationId xmlns:a16="http://schemas.microsoft.com/office/drawing/2014/main" id="{E4663EDA-221D-48A8-9638-1D8971323387}"/>
              </a:ext>
            </a:extLst>
          </p:cNvPr>
          <p:cNvSpPr>
            <a:spLocks xmlns:a="http://schemas.openxmlformats.org/drawingml/2006/main" noGrp="1"/>
          </p:cNvSpPr>
          <p:nvPr/>
        </p:nvSpPr>
        <p:spPr>
          <a:xfrm xmlns:a="http://schemas.openxmlformats.org/drawingml/2006/main">
            <a:off x="6654800" y="6743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58" name="text-382">
            <a:extLst xmlns:a="http://schemas.openxmlformats.org/drawingml/2006/main">
              <a:ext uri="{FF2B5EF4-FFF2-40B4-BE49-F238E27FC236}">
                <a16:creationId xmlns:a16="http://schemas.microsoft.com/office/drawing/2014/main" id="{FF871928-B619-41D0-9CED-956A6159E4EB}"/>
              </a:ext>
            </a:extLst>
          </p:cNvPr>
          <p:cNvSpPr>
            <a:spLocks xmlns:a="http://schemas.openxmlformats.org/drawingml/2006/main" noGrp="1"/>
          </p:cNvSpPr>
          <p:nvPr/>
        </p:nvSpPr>
        <p:spPr>
          <a:xfrm xmlns:a="http://schemas.openxmlformats.org/drawingml/2006/main">
            <a:off x="6781800" y="6845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4</a:t>
            </a:r>
          </a:p>
        </p:txBody>
      </p:sp>
      <p:sp>
        <p:nvSpPr>
          <p:cNvPr id="59" name="text-384">
            <a:extLst xmlns:a="http://schemas.openxmlformats.org/drawingml/2006/main">
              <a:ext uri="{FF2B5EF4-FFF2-40B4-BE49-F238E27FC236}">
                <a16:creationId xmlns:a16="http://schemas.microsoft.com/office/drawing/2014/main" id="{D7E6F786-4E90-406C-BCBA-829C75E78CE2}"/>
              </a:ext>
            </a:extLst>
          </p:cNvPr>
          <p:cNvSpPr>
            <a:spLocks xmlns:a="http://schemas.openxmlformats.org/drawingml/2006/main" noGrp="1"/>
          </p:cNvSpPr>
          <p:nvPr/>
        </p:nvSpPr>
        <p:spPr>
          <a:xfrm xmlns:a="http://schemas.openxmlformats.org/drawingml/2006/main">
            <a:off x="7480300" y="6604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CAPACITY UTILIZATION</a:t>
            </a:r>
          </a:p>
        </p:txBody>
      </p:sp>
      <p:sp>
        <p:nvSpPr>
          <p:cNvPr id="60" name="text-386">
            <a:extLst xmlns:a="http://schemas.openxmlformats.org/drawingml/2006/main">
              <a:ext uri="{FF2B5EF4-FFF2-40B4-BE49-F238E27FC236}">
                <a16:creationId xmlns:a16="http://schemas.microsoft.com/office/drawing/2014/main" id="{2DD5B3BA-131E-4E51-82DB-4C180F7FC285}"/>
              </a:ext>
            </a:extLst>
          </p:cNvPr>
          <p:cNvSpPr>
            <a:spLocks xmlns:a="http://schemas.openxmlformats.org/drawingml/2006/main" noGrp="1"/>
          </p:cNvSpPr>
          <p:nvPr/>
        </p:nvSpPr>
        <p:spPr>
          <a:xfrm xmlns:a="http://schemas.openxmlformats.org/drawingml/2006/main">
            <a:off x="7480300" y="7264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Reveal competing commitments.</a:t>
            </a:r>
          </a:p>
        </p:txBody>
      </p:sp>
      <p:sp>
        <p:nvSpPr>
          <p:cNvPr id="61" name="shape-387">
            <a:extLst xmlns:a="http://schemas.openxmlformats.org/drawingml/2006/main">
              <a:ext uri="{FF2B5EF4-FFF2-40B4-BE49-F238E27FC236}">
                <a16:creationId xmlns:a16="http://schemas.microsoft.com/office/drawing/2014/main" id="{96AF730C-8600-4F0D-A982-614048AC79B8}"/>
              </a:ext>
            </a:extLst>
          </p:cNvPr>
          <p:cNvSpPr>
            <a:spLocks xmlns:a="http://schemas.openxmlformats.org/drawingml/2006/main" noGrp="1"/>
          </p:cNvSpPr>
          <p:nvPr/>
        </p:nvSpPr>
        <p:spPr>
          <a:xfrm xmlns:a="http://schemas.openxmlformats.org/drawingml/2006/main">
            <a:off x="6654800" y="8140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62" name="text-389">
            <a:extLst xmlns:a="http://schemas.openxmlformats.org/drawingml/2006/main">
              <a:ext uri="{FF2B5EF4-FFF2-40B4-BE49-F238E27FC236}">
                <a16:creationId xmlns:a16="http://schemas.microsoft.com/office/drawing/2014/main" id="{BDF57E11-231E-4A77-818F-BD4780841A7C}"/>
              </a:ext>
            </a:extLst>
          </p:cNvPr>
          <p:cNvSpPr>
            <a:spLocks xmlns:a="http://schemas.openxmlformats.org/drawingml/2006/main" noGrp="1"/>
          </p:cNvSpPr>
          <p:nvPr/>
        </p:nvSpPr>
        <p:spPr>
          <a:xfrm xmlns:a="http://schemas.openxmlformats.org/drawingml/2006/main">
            <a:off x="6781800" y="8242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5</a:t>
            </a:r>
          </a:p>
        </p:txBody>
      </p:sp>
      <p:sp>
        <p:nvSpPr>
          <p:cNvPr id="63" name="text-391">
            <a:extLst xmlns:a="http://schemas.openxmlformats.org/drawingml/2006/main">
              <a:ext uri="{FF2B5EF4-FFF2-40B4-BE49-F238E27FC236}">
                <a16:creationId xmlns:a16="http://schemas.microsoft.com/office/drawing/2014/main" id="{EE333D0C-2F44-404C-AE89-83F31DF14519}"/>
              </a:ext>
            </a:extLst>
          </p:cNvPr>
          <p:cNvSpPr>
            <a:spLocks xmlns:a="http://schemas.openxmlformats.org/drawingml/2006/main" noGrp="1"/>
          </p:cNvSpPr>
          <p:nvPr/>
        </p:nvSpPr>
        <p:spPr>
          <a:xfrm xmlns:a="http://schemas.openxmlformats.org/drawingml/2006/main">
            <a:off x="7480300" y="8001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HUMAN ACCOUNTABILITY</a:t>
            </a:r>
          </a:p>
        </p:txBody>
      </p:sp>
      <p:sp>
        <p:nvSpPr>
          <p:cNvPr id="64" name="text-393">
            <a:extLst xmlns:a="http://schemas.openxmlformats.org/drawingml/2006/main">
              <a:ext uri="{FF2B5EF4-FFF2-40B4-BE49-F238E27FC236}">
                <a16:creationId xmlns:a16="http://schemas.microsoft.com/office/drawing/2014/main" id="{99C7DD5B-D5B8-491E-AA9C-AD86C943639A}"/>
              </a:ext>
            </a:extLst>
          </p:cNvPr>
          <p:cNvSpPr>
            <a:spLocks xmlns:a="http://schemas.openxmlformats.org/drawingml/2006/main" noGrp="1"/>
          </p:cNvSpPr>
          <p:nvPr/>
        </p:nvSpPr>
        <p:spPr>
          <a:xfrm xmlns:a="http://schemas.openxmlformats.org/drawingml/2006/main">
            <a:off x="7480300" y="8661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Record rationale and source corrections.</a:t>
            </a:r>
          </a:p>
        </p:txBody>
      </p:sp>
      <p:sp>
        <p:nvSpPr>
          <p:cNvPr id="65" name="shape-394">
            <a:extLst xmlns:a="http://schemas.openxmlformats.org/drawingml/2006/main">
              <a:ext uri="{FF2B5EF4-FFF2-40B4-BE49-F238E27FC236}">
                <a16:creationId xmlns:a16="http://schemas.microsoft.com/office/drawing/2014/main" id="{FC774BB3-2B21-47FB-B175-680D1991C422}"/>
              </a:ext>
            </a:extLst>
          </p:cNvPr>
          <p:cNvSpPr>
            <a:spLocks xmlns:a="http://schemas.openxmlformats.org/drawingml/2006/main" noGrp="1"/>
          </p:cNvSpPr>
          <p:nvPr/>
        </p:nvSpPr>
        <p:spPr>
          <a:xfrm xmlns:a="http://schemas.openxmlformats.org/drawingml/2006/main">
            <a:off x="12661900" y="2552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66" name="text-396">
            <a:extLst xmlns:a="http://schemas.openxmlformats.org/drawingml/2006/main">
              <a:ext uri="{FF2B5EF4-FFF2-40B4-BE49-F238E27FC236}">
                <a16:creationId xmlns:a16="http://schemas.microsoft.com/office/drawing/2014/main" id="{1CC384BE-E6A5-4539-B7D5-5ED38753A3C4}"/>
              </a:ext>
            </a:extLst>
          </p:cNvPr>
          <p:cNvSpPr>
            <a:spLocks xmlns:a="http://schemas.openxmlformats.org/drawingml/2006/main" noGrp="1"/>
          </p:cNvSpPr>
          <p:nvPr/>
        </p:nvSpPr>
        <p:spPr>
          <a:xfrm xmlns:a="http://schemas.openxmlformats.org/drawingml/2006/main">
            <a:off x="12788900" y="2654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1</a:t>
            </a:r>
          </a:p>
        </p:txBody>
      </p:sp>
      <p:sp>
        <p:nvSpPr>
          <p:cNvPr id="67" name="text-398">
            <a:extLst xmlns:a="http://schemas.openxmlformats.org/drawingml/2006/main">
              <a:ext uri="{FF2B5EF4-FFF2-40B4-BE49-F238E27FC236}">
                <a16:creationId xmlns:a16="http://schemas.microsoft.com/office/drawing/2014/main" id="{F814B4A5-643E-41E2-B02E-ADCA07A00593}"/>
              </a:ext>
            </a:extLst>
          </p:cNvPr>
          <p:cNvSpPr>
            <a:spLocks xmlns:a="http://schemas.openxmlformats.org/drawingml/2006/main" noGrp="1"/>
          </p:cNvSpPr>
          <p:nvPr/>
        </p:nvSpPr>
        <p:spPr>
          <a:xfrm xmlns:a="http://schemas.openxmlformats.org/drawingml/2006/main">
            <a:off x="13487400" y="2413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TIME TO FILL</a:t>
            </a:r>
          </a:p>
        </p:txBody>
      </p:sp>
      <p:sp>
        <p:nvSpPr>
          <p:cNvPr id="68" name="text-400">
            <a:extLst xmlns:a="http://schemas.openxmlformats.org/drawingml/2006/main">
              <a:ext uri="{FF2B5EF4-FFF2-40B4-BE49-F238E27FC236}">
                <a16:creationId xmlns:a16="http://schemas.microsoft.com/office/drawing/2014/main" id="{E90FF461-C3B8-4106-998A-42D69FCF7F8A}"/>
              </a:ext>
            </a:extLst>
          </p:cNvPr>
          <p:cNvSpPr>
            <a:spLocks xmlns:a="http://schemas.openxmlformats.org/drawingml/2006/main" noGrp="1"/>
          </p:cNvSpPr>
          <p:nvPr/>
        </p:nvSpPr>
        <p:spPr>
          <a:xfrm xmlns:a="http://schemas.openxmlformats.org/drawingml/2006/main">
            <a:off x="13487400" y="3073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Recorded opening-to-hire duration</a:t>
            </a:r>
          </a:p>
        </p:txBody>
      </p:sp>
      <p:sp>
        <p:nvSpPr>
          <p:cNvPr id="69" name="shape-401">
            <a:extLst xmlns:a="http://schemas.openxmlformats.org/drawingml/2006/main">
              <a:ext uri="{FF2B5EF4-FFF2-40B4-BE49-F238E27FC236}">
                <a16:creationId xmlns:a16="http://schemas.microsoft.com/office/drawing/2014/main" id="{49E7C211-42AD-4ECC-AA6F-EC2E9FA02792}"/>
              </a:ext>
            </a:extLst>
          </p:cNvPr>
          <p:cNvSpPr>
            <a:spLocks xmlns:a="http://schemas.openxmlformats.org/drawingml/2006/main" noGrp="1"/>
          </p:cNvSpPr>
          <p:nvPr/>
        </p:nvSpPr>
        <p:spPr>
          <a:xfrm xmlns:a="http://schemas.openxmlformats.org/drawingml/2006/main">
            <a:off x="12661900" y="3949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70" name="text-403">
            <a:extLst xmlns:a="http://schemas.openxmlformats.org/drawingml/2006/main">
              <a:ext uri="{FF2B5EF4-FFF2-40B4-BE49-F238E27FC236}">
                <a16:creationId xmlns:a16="http://schemas.microsoft.com/office/drawing/2014/main" id="{603C5C12-045D-4DE6-B962-B87EDFB54347}"/>
              </a:ext>
            </a:extLst>
          </p:cNvPr>
          <p:cNvSpPr>
            <a:spLocks xmlns:a="http://schemas.openxmlformats.org/drawingml/2006/main" noGrp="1"/>
          </p:cNvSpPr>
          <p:nvPr/>
        </p:nvSpPr>
        <p:spPr>
          <a:xfrm xmlns:a="http://schemas.openxmlformats.org/drawingml/2006/main">
            <a:off x="12788900" y="4051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2</a:t>
            </a:r>
          </a:p>
        </p:txBody>
      </p:sp>
      <p:sp>
        <p:nvSpPr>
          <p:cNvPr id="71" name="text-405">
            <a:extLst xmlns:a="http://schemas.openxmlformats.org/drawingml/2006/main">
              <a:ext uri="{FF2B5EF4-FFF2-40B4-BE49-F238E27FC236}">
                <a16:creationId xmlns:a16="http://schemas.microsoft.com/office/drawing/2014/main" id="{D82C6D84-DBD2-4817-B616-CCD89DE46642}"/>
              </a:ext>
            </a:extLst>
          </p:cNvPr>
          <p:cNvSpPr>
            <a:spLocks xmlns:a="http://schemas.openxmlformats.org/drawingml/2006/main" noGrp="1"/>
          </p:cNvSpPr>
          <p:nvPr/>
        </p:nvSpPr>
        <p:spPr>
          <a:xfrm xmlns:a="http://schemas.openxmlformats.org/drawingml/2006/main">
            <a:off x="13487400" y="3810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INTERNAL FILL SHARE</a:t>
            </a:r>
          </a:p>
        </p:txBody>
      </p:sp>
      <p:sp>
        <p:nvSpPr>
          <p:cNvPr id="72" name="text-407">
            <a:extLst xmlns:a="http://schemas.openxmlformats.org/drawingml/2006/main">
              <a:ext uri="{FF2B5EF4-FFF2-40B4-BE49-F238E27FC236}">
                <a16:creationId xmlns:a16="http://schemas.microsoft.com/office/drawing/2014/main" id="{C774D88F-37C2-43A9-B15B-4D56953649B4}"/>
              </a:ext>
            </a:extLst>
          </p:cNvPr>
          <p:cNvSpPr>
            <a:spLocks xmlns:a="http://schemas.openxmlformats.org/drawingml/2006/main" noGrp="1"/>
          </p:cNvSpPr>
          <p:nvPr/>
        </p:nvSpPr>
        <p:spPr>
          <a:xfrm xmlns:a="http://schemas.openxmlformats.org/drawingml/2006/main">
            <a:off x="13487400" y="4470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Internal placements ÷ filled positions</a:t>
            </a:r>
          </a:p>
        </p:txBody>
      </p:sp>
      <p:sp>
        <p:nvSpPr>
          <p:cNvPr id="73" name="shape-408">
            <a:extLst xmlns:a="http://schemas.openxmlformats.org/drawingml/2006/main">
              <a:ext uri="{FF2B5EF4-FFF2-40B4-BE49-F238E27FC236}">
                <a16:creationId xmlns:a16="http://schemas.microsoft.com/office/drawing/2014/main" id="{8967C327-694E-48DD-9CCD-DD94D3B85EC6}"/>
              </a:ext>
            </a:extLst>
          </p:cNvPr>
          <p:cNvSpPr>
            <a:spLocks xmlns:a="http://schemas.openxmlformats.org/drawingml/2006/main" noGrp="1"/>
          </p:cNvSpPr>
          <p:nvPr/>
        </p:nvSpPr>
        <p:spPr>
          <a:xfrm xmlns:a="http://schemas.openxmlformats.org/drawingml/2006/main">
            <a:off x="12661900" y="5346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74" name="text-410">
            <a:extLst xmlns:a="http://schemas.openxmlformats.org/drawingml/2006/main">
              <a:ext uri="{FF2B5EF4-FFF2-40B4-BE49-F238E27FC236}">
                <a16:creationId xmlns:a16="http://schemas.microsoft.com/office/drawing/2014/main" id="{BE99A296-61FD-4AA1-8C5E-924F22C3E6B1}"/>
              </a:ext>
            </a:extLst>
          </p:cNvPr>
          <p:cNvSpPr>
            <a:spLocks xmlns:a="http://schemas.openxmlformats.org/drawingml/2006/main" noGrp="1"/>
          </p:cNvSpPr>
          <p:nvPr/>
        </p:nvSpPr>
        <p:spPr>
          <a:xfrm xmlns:a="http://schemas.openxmlformats.org/drawingml/2006/main">
            <a:off x="12788900" y="5448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3</a:t>
            </a:r>
          </a:p>
        </p:txBody>
      </p:sp>
      <p:sp>
        <p:nvSpPr>
          <p:cNvPr id="75" name="text-412">
            <a:extLst xmlns:a="http://schemas.openxmlformats.org/drawingml/2006/main">
              <a:ext uri="{FF2B5EF4-FFF2-40B4-BE49-F238E27FC236}">
                <a16:creationId xmlns:a16="http://schemas.microsoft.com/office/drawing/2014/main" id="{54D0AB6C-8269-4B64-B564-3508CA68B87B}"/>
              </a:ext>
            </a:extLst>
          </p:cNvPr>
          <p:cNvSpPr>
            <a:spLocks xmlns:a="http://schemas.openxmlformats.org/drawingml/2006/main" noGrp="1"/>
          </p:cNvSpPr>
          <p:nvPr/>
        </p:nvSpPr>
        <p:spPr>
          <a:xfrm xmlns:a="http://schemas.openxmlformats.org/drawingml/2006/main">
            <a:off x="13487400" y="5207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REALIZED COST</a:t>
            </a:r>
          </a:p>
        </p:txBody>
      </p:sp>
      <p:sp>
        <p:nvSpPr>
          <p:cNvPr id="76" name="text-414">
            <a:extLst xmlns:a="http://schemas.openxmlformats.org/drawingml/2006/main">
              <a:ext uri="{FF2B5EF4-FFF2-40B4-BE49-F238E27FC236}">
                <a16:creationId xmlns:a16="http://schemas.microsoft.com/office/drawing/2014/main" id="{978B34A0-A6FF-4A7D-8A53-EA89BC72C160}"/>
              </a:ext>
            </a:extLst>
          </p:cNvPr>
          <p:cNvSpPr>
            <a:spLocks xmlns:a="http://schemas.openxmlformats.org/drawingml/2006/main" noGrp="1"/>
          </p:cNvSpPr>
          <p:nvPr/>
        </p:nvSpPr>
        <p:spPr>
          <a:xfrm xmlns:a="http://schemas.openxmlformats.org/drawingml/2006/main">
            <a:off x="13487400" y="5867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Actual spend against the baseline</a:t>
            </a:r>
          </a:p>
        </p:txBody>
      </p:sp>
      <p:sp>
        <p:nvSpPr>
          <p:cNvPr id="77" name="shape-415">
            <a:extLst xmlns:a="http://schemas.openxmlformats.org/drawingml/2006/main">
              <a:ext uri="{FF2B5EF4-FFF2-40B4-BE49-F238E27FC236}">
                <a16:creationId xmlns:a16="http://schemas.microsoft.com/office/drawing/2014/main" id="{28BCC140-4784-485C-8088-42BF69370831}"/>
              </a:ext>
            </a:extLst>
          </p:cNvPr>
          <p:cNvSpPr>
            <a:spLocks xmlns:a="http://schemas.openxmlformats.org/drawingml/2006/main" noGrp="1"/>
          </p:cNvSpPr>
          <p:nvPr/>
        </p:nvSpPr>
        <p:spPr>
          <a:xfrm xmlns:a="http://schemas.openxmlformats.org/drawingml/2006/main">
            <a:off x="12661900" y="6743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78" name="text-417">
            <a:extLst xmlns:a="http://schemas.openxmlformats.org/drawingml/2006/main">
              <a:ext uri="{FF2B5EF4-FFF2-40B4-BE49-F238E27FC236}">
                <a16:creationId xmlns:a16="http://schemas.microsoft.com/office/drawing/2014/main" id="{3C912BA0-6DCC-488B-93E7-358471545E37}"/>
              </a:ext>
            </a:extLst>
          </p:cNvPr>
          <p:cNvSpPr>
            <a:spLocks xmlns:a="http://schemas.openxmlformats.org/drawingml/2006/main" noGrp="1"/>
          </p:cNvSpPr>
          <p:nvPr/>
        </p:nvSpPr>
        <p:spPr>
          <a:xfrm xmlns:a="http://schemas.openxmlformats.org/drawingml/2006/main">
            <a:off x="12788900" y="6845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4</a:t>
            </a:r>
          </a:p>
        </p:txBody>
      </p:sp>
      <p:sp>
        <p:nvSpPr>
          <p:cNvPr id="79" name="text-419">
            <a:extLst xmlns:a="http://schemas.openxmlformats.org/drawingml/2006/main">
              <a:ext uri="{FF2B5EF4-FFF2-40B4-BE49-F238E27FC236}">
                <a16:creationId xmlns:a16="http://schemas.microsoft.com/office/drawing/2014/main" id="{CBCCAF17-CFF1-4157-A2B5-17FCA39AC2F0}"/>
              </a:ext>
            </a:extLst>
          </p:cNvPr>
          <p:cNvSpPr>
            <a:spLocks xmlns:a="http://schemas.openxmlformats.org/drawingml/2006/main" noGrp="1"/>
          </p:cNvSpPr>
          <p:nvPr/>
        </p:nvSpPr>
        <p:spPr>
          <a:xfrm xmlns:a="http://schemas.openxmlformats.org/drawingml/2006/main">
            <a:off x="13487400" y="6604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LEARNING OUTCOMES</a:t>
            </a:r>
          </a:p>
        </p:txBody>
      </p:sp>
      <p:sp>
        <p:nvSpPr>
          <p:cNvPr id="80" name="text-421">
            <a:extLst xmlns:a="http://schemas.openxmlformats.org/drawingml/2006/main">
              <a:ext uri="{FF2B5EF4-FFF2-40B4-BE49-F238E27FC236}">
                <a16:creationId xmlns:a16="http://schemas.microsoft.com/office/drawing/2014/main" id="{68BF9E3D-F26D-47CE-BAB2-DDFB9436363C}"/>
              </a:ext>
            </a:extLst>
          </p:cNvPr>
          <p:cNvSpPr>
            <a:spLocks xmlns:a="http://schemas.openxmlformats.org/drawingml/2006/main" noGrp="1"/>
          </p:cNvSpPr>
          <p:nvPr/>
        </p:nvSpPr>
        <p:spPr>
          <a:xfrm xmlns:a="http://schemas.openxmlformats.org/drawingml/2006/main">
            <a:off x="13487400" y="7264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Completion and reassessed skills</a:t>
            </a:r>
          </a:p>
        </p:txBody>
      </p:sp>
      <p:sp>
        <p:nvSpPr>
          <p:cNvPr id="81" name="shape-422">
            <a:extLst xmlns:a="http://schemas.openxmlformats.org/drawingml/2006/main">
              <a:ext uri="{FF2B5EF4-FFF2-40B4-BE49-F238E27FC236}">
                <a16:creationId xmlns:a16="http://schemas.microsoft.com/office/drawing/2014/main" id="{A701E429-AE9B-428B-9EA9-B0878FFFA6CA}"/>
              </a:ext>
            </a:extLst>
          </p:cNvPr>
          <p:cNvSpPr>
            <a:spLocks xmlns:a="http://schemas.openxmlformats.org/drawingml/2006/main" noGrp="1"/>
          </p:cNvSpPr>
          <p:nvPr/>
        </p:nvSpPr>
        <p:spPr>
          <a:xfrm xmlns:a="http://schemas.openxmlformats.org/drawingml/2006/main">
            <a:off x="12661900" y="8140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82" name="text-424">
            <a:extLst xmlns:a="http://schemas.openxmlformats.org/drawingml/2006/main">
              <a:ext uri="{FF2B5EF4-FFF2-40B4-BE49-F238E27FC236}">
                <a16:creationId xmlns:a16="http://schemas.microsoft.com/office/drawing/2014/main" id="{58D23479-5FAD-43E1-BDF9-B79628661975}"/>
              </a:ext>
            </a:extLst>
          </p:cNvPr>
          <p:cNvSpPr>
            <a:spLocks xmlns:a="http://schemas.openxmlformats.org/drawingml/2006/main" noGrp="1"/>
          </p:cNvSpPr>
          <p:nvPr/>
        </p:nvSpPr>
        <p:spPr>
          <a:xfrm xmlns:a="http://schemas.openxmlformats.org/drawingml/2006/main">
            <a:off x="12788900" y="8242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5</a:t>
            </a:r>
          </a:p>
        </p:txBody>
      </p:sp>
      <p:sp>
        <p:nvSpPr>
          <p:cNvPr id="83" name="text-426">
            <a:extLst xmlns:a="http://schemas.openxmlformats.org/drawingml/2006/main">
              <a:ext uri="{FF2B5EF4-FFF2-40B4-BE49-F238E27FC236}">
                <a16:creationId xmlns:a16="http://schemas.microsoft.com/office/drawing/2014/main" id="{CF44C9F3-DF78-47CE-AFF6-D9D6429B9049}"/>
              </a:ext>
            </a:extLst>
          </p:cNvPr>
          <p:cNvSpPr>
            <a:spLocks xmlns:a="http://schemas.openxmlformats.org/drawingml/2006/main" noGrp="1"/>
          </p:cNvSpPr>
          <p:nvPr/>
        </p:nvSpPr>
        <p:spPr>
          <a:xfrm xmlns:a="http://schemas.openxmlformats.org/drawingml/2006/main">
            <a:off x="13487400" y="8001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FAIR ACCESS</a:t>
            </a:r>
          </a:p>
        </p:txBody>
      </p:sp>
      <p:sp>
        <p:nvSpPr>
          <p:cNvPr id="84" name="text-428">
            <a:extLst xmlns:a="http://schemas.openxmlformats.org/drawingml/2006/main">
              <a:ext uri="{FF2B5EF4-FFF2-40B4-BE49-F238E27FC236}">
                <a16:creationId xmlns:a16="http://schemas.microsoft.com/office/drawing/2014/main" id="{85E01909-A4BB-4957-976A-30F1C5A03280}"/>
              </a:ext>
            </a:extLst>
          </p:cNvPr>
          <p:cNvSpPr>
            <a:spLocks xmlns:a="http://schemas.openxmlformats.org/drawingml/2006/main" noGrp="1"/>
          </p:cNvSpPr>
          <p:nvPr/>
        </p:nvSpPr>
        <p:spPr>
          <a:xfrm xmlns:a="http://schemas.openxmlformats.org/drawingml/2006/main">
            <a:off x="13487400" y="8661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Review outcomes and correction requests</a:t>
            </a:r>
          </a:p>
        </p:txBody>
      </p:sp>
    </p:spTree>
    <p:extLst>
      <p:ext uri="{BB962C8B-B14F-4D97-AF65-F5344CB8AC3E}">
        <p14:creationId xmlns:p14="http://schemas.microsoft.com/office/powerpoint/2010/main" val="18621219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hape-429">
            <a:extLst xmlns:a="http://schemas.openxmlformats.org/drawingml/2006/main">
              <a:ext uri="{FF2B5EF4-FFF2-40B4-BE49-F238E27FC236}">
                <a16:creationId xmlns:a16="http://schemas.microsoft.com/office/drawing/2014/main" id="{8D693385-29F3-4759-A668-F6A9AC5A33AF}"/>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431">
            <a:extLst xmlns:a="http://schemas.openxmlformats.org/drawingml/2006/main">
              <a:ext uri="{FF2B5EF4-FFF2-40B4-BE49-F238E27FC236}">
                <a16:creationId xmlns:a16="http://schemas.microsoft.com/office/drawing/2014/main" id="{DD962365-1620-40B0-B40A-1B7499A4F8FB}"/>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F5E1F8CE-78EA-42B5-BD3B-9FF17FE8C6E9}"/>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RESEARCH AND REFERENCES</a:t>
            </a:r>
          </a:p>
        </p:txBody>
      </p:sp>
      <p:sp>
        <p:nvSpPr>
          <p:cNvPr id="4" name="text-434">
            <a:extLst xmlns:a="http://schemas.openxmlformats.org/drawingml/2006/main">
              <a:ext uri="{FF2B5EF4-FFF2-40B4-BE49-F238E27FC236}">
                <a16:creationId xmlns:a16="http://schemas.microsoft.com/office/drawing/2014/main" id="{D0EE4A8E-CC91-4A42-8416-2D725C42AD74}"/>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435">
            <a:extLst xmlns:a="http://schemas.openxmlformats.org/drawingml/2006/main">
              <a:ext uri="{FF2B5EF4-FFF2-40B4-BE49-F238E27FC236}">
                <a16:creationId xmlns:a16="http://schemas.microsoft.com/office/drawing/2014/main" id="{3D56222B-7ADD-44BC-82CA-7065DB7C2C22}"/>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437">
            <a:extLst xmlns:a="http://schemas.openxmlformats.org/drawingml/2006/main">
              <a:ext uri="{FF2B5EF4-FFF2-40B4-BE49-F238E27FC236}">
                <a16:creationId xmlns:a16="http://schemas.microsoft.com/office/drawing/2014/main" id="{942A7136-ED48-4903-BFF8-1E30DBFD32F1}"/>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7</a:t>
            </a:r>
          </a:p>
        </p:txBody>
      </p:sp>
      <p:sp>
        <p:nvSpPr>
          <p:cNvPr id="7" name="text-439">
            <a:extLst xmlns:a="http://schemas.openxmlformats.org/drawingml/2006/main">
              <a:ext uri="{FF2B5EF4-FFF2-40B4-BE49-F238E27FC236}">
                <a16:creationId xmlns:a16="http://schemas.microsoft.com/office/drawing/2014/main" id="{8732B5CF-6881-49FB-8389-55B8D171DD81}"/>
              </a:ext>
            </a:extLst>
          </p:cNvPr>
          <p:cNvSpPr>
            <a:spLocks xmlns:a="http://schemas.openxmlformats.org/drawingml/2006/main" noGrp="1"/>
          </p:cNvSpPr>
          <p:nvPr/>
        </p:nvSpPr>
        <p:spPr>
          <a:xfrm xmlns:a="http://schemas.openxmlformats.org/drawingml/2006/main">
            <a:off x="203200" y="1333500"/>
            <a:ext cx="48260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u="sng">
                <a:solidFill>
                  <a:srgbClr val="214E83"/>
                </a:solidFill>
                <a:latin typeface="Times New Roman"/>
                <a:ea typeface="Times New Roman"/>
                <a:cs typeface="Times New Roman"/>
              </a:defRPr>
            </a:defPPr>
          </a:lstStyle>
          <a:p xmlns:a="http://schemas.openxmlformats.org/drawingml/2006/main">
            <a:pPr algn="l">
              <a:defRPr sz="2700" b="1" i="0" u="sng">
                <a:solidFill>
                  <a:srgbClr val="214E83"/>
                </a:solidFill>
                <a:latin typeface="Times New Roman"/>
                <a:ea typeface="Times New Roman"/>
                <a:cs typeface="Times New Roman"/>
              </a:defRPr>
            </a:pPr>
            <a:r>
              <a:rPr sz="2700" b="1" i="0" u="sng">
                <a:solidFill>
                  <a:srgbClr val="214E83"/>
                </a:solidFill>
                <a:latin typeface="Times New Roman"/>
                <a:ea typeface="Times New Roman"/>
                <a:cs typeface="Times New Roman"/>
              </a:rPr>
              <a:t>REFERENCES</a:t>
            </a:r>
          </a:p>
        </p:txBody>
      </p:sp>
      <p:sp>
        <p:nvSpPr>
          <p:cNvPr id="8" name="text-441">
            <a:extLst xmlns:a="http://schemas.openxmlformats.org/drawingml/2006/main">
              <a:ext uri="{FF2B5EF4-FFF2-40B4-BE49-F238E27FC236}">
                <a16:creationId xmlns:a16="http://schemas.microsoft.com/office/drawing/2014/main" id="{A5332B66-1EA1-41E0-BC7F-AA2D9F656B20}"/>
              </a:ext>
            </a:extLst>
          </p:cNvPr>
          <p:cNvSpPr>
            <a:spLocks xmlns:a="http://schemas.openxmlformats.org/drawingml/2006/main" noGrp="1"/>
          </p:cNvSpPr>
          <p:nvPr/>
        </p:nvSpPr>
        <p:spPr>
          <a:xfrm xmlns:a="http://schemas.openxmlformats.org/drawingml/2006/main">
            <a:off x="5613400" y="1422400"/>
            <a:ext cx="123571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u="sng">
                <a:solidFill>
                  <a:srgbClr val="214E83"/>
                </a:solidFill>
                <a:latin typeface="Times New Roman"/>
                <a:ea typeface="Times New Roman"/>
                <a:cs typeface="Times New Roman"/>
              </a:defRPr>
            </a:defPPr>
          </a:lstStyle>
          <a:p xmlns:a="http://schemas.openxmlformats.org/drawingml/2006/main">
            <a:pPr algn="l">
              <a:defRPr sz="2700" b="1" i="0" u="sng">
                <a:solidFill>
                  <a:srgbClr val="214E83"/>
                </a:solidFill>
                <a:latin typeface="Times New Roman"/>
                <a:ea typeface="Times New Roman"/>
                <a:cs typeface="Times New Roman"/>
              </a:defRPr>
            </a:pPr>
            <a:r>
              <a:rPr sz="2700" b="1" i="0" u="sng">
                <a:solidFill>
                  <a:srgbClr val="214E83"/>
                </a:solidFill>
                <a:latin typeface="Times New Roman"/>
                <a:ea typeface="Times New Roman"/>
                <a:cs typeface="Times New Roman"/>
              </a:rPr>
              <a:t>COMPARISON OF WORKFORCE SYSTEM ROLES</a:t>
            </a:r>
          </a:p>
        </p:txBody>
      </p:sp>
      <p:sp>
        <p:nvSpPr>
          <p:cNvPr id="9" name="text-443">
            <a:extLst xmlns:a="http://schemas.openxmlformats.org/drawingml/2006/main">
              <a:ext uri="{FF2B5EF4-FFF2-40B4-BE49-F238E27FC236}">
                <a16:creationId xmlns:a16="http://schemas.microsoft.com/office/drawing/2014/main" id="{BB9B7B3E-9F39-428F-BC47-70FA724AA7A5}"/>
              </a:ext>
            </a:extLst>
          </p:cNvPr>
          <p:cNvSpPr>
            <a:spLocks xmlns:a="http://schemas.openxmlformats.org/drawingml/2006/main" noGrp="1"/>
          </p:cNvSpPr>
          <p:nvPr/>
        </p:nvSpPr>
        <p:spPr>
          <a:xfrm xmlns:a="http://schemas.openxmlformats.org/drawingml/2006/main">
            <a:off x="190500" y="19177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OCCUPATIONAL FOUNDATION</a:t>
            </a:r>
          </a:p>
        </p:txBody>
      </p:sp>
      <p:sp>
        <p:nvSpPr>
          <p:cNvPr id="10" name="text-445">
            <a:extLst xmlns:a="http://schemas.openxmlformats.org/drawingml/2006/main">
              <a:ext uri="{FF2B5EF4-FFF2-40B4-BE49-F238E27FC236}">
                <a16:creationId xmlns:a16="http://schemas.microsoft.com/office/drawing/2014/main" id="{EA04CE16-8AA7-4122-B828-9CDDB69E9D5E}"/>
              </a:ext>
            </a:extLst>
          </p:cNvPr>
          <p:cNvSpPr>
            <a:spLocks xmlns:a="http://schemas.openxmlformats.org/drawingml/2006/main" noGrp="1"/>
          </p:cNvSpPr>
          <p:nvPr/>
        </p:nvSpPr>
        <p:spPr>
          <a:xfrm xmlns:a="http://schemas.openxmlformats.org/drawingml/2006/main">
            <a:off x="317500" y="23495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O*NET 31.0 roles, skills and tasks</a:t>
            </a:r>
          </a:p>
        </p:txBody>
      </p:sp>
      <p:sp>
        <p:nvSpPr>
          <p:cNvPr id="11" name="text-447">
            <a:extLst xmlns:a="http://schemas.openxmlformats.org/drawingml/2006/main">
              <a:ext uri="{FF2B5EF4-FFF2-40B4-BE49-F238E27FC236}">
                <a16:creationId xmlns:a16="http://schemas.microsoft.com/office/drawing/2014/main" id="{463B2F4A-1430-4F47-9948-812CAED6AA3F}"/>
              </a:ext>
            </a:extLst>
          </p:cNvPr>
          <p:cNvSpPr>
            <a:spLocks xmlns:a="http://schemas.openxmlformats.org/drawingml/2006/main" noGrp="1"/>
          </p:cNvSpPr>
          <p:nvPr/>
        </p:nvSpPr>
        <p:spPr>
          <a:xfrm xmlns:a="http://schemas.openxmlformats.org/drawingml/2006/main">
            <a:off x="317500" y="29337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681a368cfa8240ea"/>
              </a:rPr>
              <a:t>onetcenter.org/database.html</a:t>
            </a:r>
          </a:p>
        </p:txBody>
      </p:sp>
      <p:sp>
        <p:nvSpPr>
          <p:cNvPr id="12" name="text-449">
            <a:extLst xmlns:a="http://schemas.openxmlformats.org/drawingml/2006/main">
              <a:ext uri="{FF2B5EF4-FFF2-40B4-BE49-F238E27FC236}">
                <a16:creationId xmlns:a16="http://schemas.microsoft.com/office/drawing/2014/main" id="{A2EF63DC-C851-4B13-A428-F33506C3299E}"/>
              </a:ext>
            </a:extLst>
          </p:cNvPr>
          <p:cNvSpPr>
            <a:spLocks xmlns:a="http://schemas.openxmlformats.org/drawingml/2006/main" noGrp="1"/>
          </p:cNvSpPr>
          <p:nvPr/>
        </p:nvSpPr>
        <p:spPr>
          <a:xfrm xmlns:a="http://schemas.openxmlformats.org/drawingml/2006/main">
            <a:off x="190500" y="33401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LEARNING CATALOGUE</a:t>
            </a:r>
          </a:p>
        </p:txBody>
      </p:sp>
      <p:sp>
        <p:nvSpPr>
          <p:cNvPr id="13" name="text-451">
            <a:extLst xmlns:a="http://schemas.openxmlformats.org/drawingml/2006/main">
              <a:ext uri="{FF2B5EF4-FFF2-40B4-BE49-F238E27FC236}">
                <a16:creationId xmlns:a16="http://schemas.microsoft.com/office/drawing/2014/main" id="{BE108316-016E-40E3-8984-76332CA3E335}"/>
              </a:ext>
            </a:extLst>
          </p:cNvPr>
          <p:cNvSpPr>
            <a:spLocks xmlns:a="http://schemas.openxmlformats.org/drawingml/2006/main" noGrp="1"/>
          </p:cNvSpPr>
          <p:nvPr/>
        </p:nvSpPr>
        <p:spPr>
          <a:xfrm xmlns:a="http://schemas.openxmlformats.org/drawingml/2006/main">
            <a:off x="317500" y="37719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Microsoft Learn module metadata</a:t>
            </a:r>
          </a:p>
        </p:txBody>
      </p:sp>
      <p:sp>
        <p:nvSpPr>
          <p:cNvPr id="14" name="text-453">
            <a:extLst xmlns:a="http://schemas.openxmlformats.org/drawingml/2006/main">
              <a:ext uri="{FF2B5EF4-FFF2-40B4-BE49-F238E27FC236}">
                <a16:creationId xmlns:a16="http://schemas.microsoft.com/office/drawing/2014/main" id="{CE4C7F82-A44C-4A93-A3DD-2BC60E3B472D}"/>
              </a:ext>
            </a:extLst>
          </p:cNvPr>
          <p:cNvSpPr>
            <a:spLocks xmlns:a="http://schemas.openxmlformats.org/drawingml/2006/main" noGrp="1"/>
          </p:cNvSpPr>
          <p:nvPr/>
        </p:nvSpPr>
        <p:spPr>
          <a:xfrm xmlns:a="http://schemas.openxmlformats.org/drawingml/2006/main">
            <a:off x="317500" y="43561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c3da8cc937304f0b"/>
              </a:rPr>
              <a:t>learn.microsoft.com/training</a:t>
            </a:r>
          </a:p>
        </p:txBody>
      </p:sp>
      <p:sp>
        <p:nvSpPr>
          <p:cNvPr id="15" name="text-455">
            <a:extLst xmlns:a="http://schemas.openxmlformats.org/drawingml/2006/main">
              <a:ext uri="{FF2B5EF4-FFF2-40B4-BE49-F238E27FC236}">
                <a16:creationId xmlns:a16="http://schemas.microsoft.com/office/drawing/2014/main" id="{A6E60EB7-7DC0-45DB-85C1-923786A91F82}"/>
              </a:ext>
            </a:extLst>
          </p:cNvPr>
          <p:cNvSpPr>
            <a:spLocks xmlns:a="http://schemas.openxmlformats.org/drawingml/2006/main" noGrp="1"/>
          </p:cNvSpPr>
          <p:nvPr/>
        </p:nvSpPr>
        <p:spPr>
          <a:xfrm xmlns:a="http://schemas.openxmlformats.org/drawingml/2006/main">
            <a:off x="190500" y="47625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PUBLIC JOB OBSERVATIONS</a:t>
            </a:r>
          </a:p>
        </p:txBody>
      </p:sp>
      <p:sp>
        <p:nvSpPr>
          <p:cNvPr id="16" name="text-457">
            <a:extLst xmlns:a="http://schemas.openxmlformats.org/drawingml/2006/main">
              <a:ext uri="{FF2B5EF4-FFF2-40B4-BE49-F238E27FC236}">
                <a16:creationId xmlns:a16="http://schemas.microsoft.com/office/drawing/2014/main" id="{C42DEFA8-1B61-43D6-9D33-1402D33BB4EA}"/>
              </a:ext>
            </a:extLst>
          </p:cNvPr>
          <p:cNvSpPr>
            <a:spLocks xmlns:a="http://schemas.openxmlformats.org/drawingml/2006/main" noGrp="1"/>
          </p:cNvSpPr>
          <p:nvPr/>
        </p:nvSpPr>
        <p:spPr>
          <a:xfrm xmlns:a="http://schemas.openxmlformats.org/drawingml/2006/main">
            <a:off x="317500" y="51943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Remotive public job API</a:t>
            </a:r>
          </a:p>
        </p:txBody>
      </p:sp>
      <p:sp>
        <p:nvSpPr>
          <p:cNvPr id="17" name="text-459">
            <a:extLst xmlns:a="http://schemas.openxmlformats.org/drawingml/2006/main">
              <a:ext uri="{FF2B5EF4-FFF2-40B4-BE49-F238E27FC236}">
                <a16:creationId xmlns:a16="http://schemas.microsoft.com/office/drawing/2014/main" id="{59F91B70-2DB2-4150-8377-2321219084B1}"/>
              </a:ext>
            </a:extLst>
          </p:cNvPr>
          <p:cNvSpPr>
            <a:spLocks xmlns:a="http://schemas.openxmlformats.org/drawingml/2006/main" noGrp="1"/>
          </p:cNvSpPr>
          <p:nvPr/>
        </p:nvSpPr>
        <p:spPr>
          <a:xfrm xmlns:a="http://schemas.openxmlformats.org/drawingml/2006/main">
            <a:off x="317500" y="57785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1" i="0" u="sng">
                <a:solidFill>
                  <a:srgbClr val="005CB9"/>
                </a:solidFill>
                <a:latin typeface="Times New Roman"/>
                <a:ea typeface="Times New Roman"/>
                <a:cs typeface="Times New Roman"/>
              </a:defRPr>
            </a:defPPr>
          </a:lstStyle>
          <a:p xmlns:a="http://schemas.openxmlformats.org/drawingml/2006/main">
            <a:pPr algn="l">
              <a:defRPr sz="1600" b="1" i="0" u="sng">
                <a:solidFill>
                  <a:srgbClr val="005CB9"/>
                </a:solidFill>
                <a:latin typeface="Times New Roman"/>
                <a:ea typeface="Times New Roman"/>
                <a:cs typeface="Times New Roman"/>
              </a:defRPr>
            </a:pPr>
            <a:r>
              <a:rPr sz="1600" b="1" i="0" u="sng">
                <a:solidFill>
                  <a:srgbClr val="005CB9"/>
                </a:solidFill>
                <a:latin typeface="Times New Roman"/>
                <a:ea typeface="Times New Roman"/>
                <a:cs typeface="Times New Roman"/>
                <a:hlinkClick xmlns:r="http://schemas.openxmlformats.org/officeDocument/2006/relationships" r:id="Ref742a34488646fe"/>
              </a:rPr>
              <a:t>github.com/remotive-com/remote-jobs-api</a:t>
            </a:r>
          </a:p>
        </p:txBody>
      </p:sp>
      <p:sp>
        <p:nvSpPr>
          <p:cNvPr id="18" name="text-461">
            <a:extLst xmlns:a="http://schemas.openxmlformats.org/drawingml/2006/main">
              <a:ext uri="{FF2B5EF4-FFF2-40B4-BE49-F238E27FC236}">
                <a16:creationId xmlns:a16="http://schemas.microsoft.com/office/drawing/2014/main" id="{3CCEA6D9-01A0-4D67-B822-D49AC0EF746A}"/>
              </a:ext>
            </a:extLst>
          </p:cNvPr>
          <p:cNvSpPr>
            <a:spLocks xmlns:a="http://schemas.openxmlformats.org/drawingml/2006/main" noGrp="1"/>
          </p:cNvSpPr>
          <p:nvPr/>
        </p:nvSpPr>
        <p:spPr>
          <a:xfrm xmlns:a="http://schemas.openxmlformats.org/drawingml/2006/main">
            <a:off x="190500" y="61849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OPTIONAL MARKET CONNECTOR</a:t>
            </a:r>
          </a:p>
        </p:txBody>
      </p:sp>
      <p:sp>
        <p:nvSpPr>
          <p:cNvPr id="19" name="text-463">
            <a:extLst xmlns:a="http://schemas.openxmlformats.org/drawingml/2006/main">
              <a:ext uri="{FF2B5EF4-FFF2-40B4-BE49-F238E27FC236}">
                <a16:creationId xmlns:a16="http://schemas.microsoft.com/office/drawing/2014/main" id="{12798E42-6B0A-4F3D-BE15-EA11014690BF}"/>
              </a:ext>
            </a:extLst>
          </p:cNvPr>
          <p:cNvSpPr>
            <a:spLocks xmlns:a="http://schemas.openxmlformats.org/drawingml/2006/main" noGrp="1"/>
          </p:cNvSpPr>
          <p:nvPr/>
        </p:nvSpPr>
        <p:spPr>
          <a:xfrm xmlns:a="http://schemas.openxmlformats.org/drawingml/2006/main">
            <a:off x="317500" y="66167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Adzuna job-search API</a:t>
            </a:r>
          </a:p>
        </p:txBody>
      </p:sp>
      <p:sp>
        <p:nvSpPr>
          <p:cNvPr id="20" name="text-465">
            <a:extLst xmlns:a="http://schemas.openxmlformats.org/drawingml/2006/main">
              <a:ext uri="{FF2B5EF4-FFF2-40B4-BE49-F238E27FC236}">
                <a16:creationId xmlns:a16="http://schemas.microsoft.com/office/drawing/2014/main" id="{AF3A0516-DB01-415E-BF35-E655BE3FD05E}"/>
              </a:ext>
            </a:extLst>
          </p:cNvPr>
          <p:cNvSpPr>
            <a:spLocks xmlns:a="http://schemas.openxmlformats.org/drawingml/2006/main" noGrp="1"/>
          </p:cNvSpPr>
          <p:nvPr/>
        </p:nvSpPr>
        <p:spPr>
          <a:xfrm xmlns:a="http://schemas.openxmlformats.org/drawingml/2006/main">
            <a:off x="317500" y="72009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38c49227a216406a"/>
              </a:rPr>
              <a:t>developer.adzuna.com/docs/search</a:t>
            </a:r>
          </a:p>
        </p:txBody>
      </p:sp>
      <p:sp>
        <p:nvSpPr>
          <p:cNvPr id="21" name="text-467">
            <a:extLst xmlns:a="http://schemas.openxmlformats.org/drawingml/2006/main">
              <a:ext uri="{FF2B5EF4-FFF2-40B4-BE49-F238E27FC236}">
                <a16:creationId xmlns:a16="http://schemas.microsoft.com/office/drawing/2014/main" id="{786E8536-5DE6-41CD-AC0A-4EF35F379038}"/>
              </a:ext>
            </a:extLst>
          </p:cNvPr>
          <p:cNvSpPr>
            <a:spLocks xmlns:a="http://schemas.openxmlformats.org/drawingml/2006/main" noGrp="1"/>
          </p:cNvSpPr>
          <p:nvPr/>
        </p:nvSpPr>
        <p:spPr>
          <a:xfrm xmlns:a="http://schemas.openxmlformats.org/drawingml/2006/main">
            <a:off x="190500" y="76073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PROJECT EVIDENCE</a:t>
            </a:r>
          </a:p>
        </p:txBody>
      </p:sp>
      <p:sp>
        <p:nvSpPr>
          <p:cNvPr id="22" name="text-469">
            <a:extLst xmlns:a="http://schemas.openxmlformats.org/drawingml/2006/main">
              <a:ext uri="{FF2B5EF4-FFF2-40B4-BE49-F238E27FC236}">
                <a16:creationId xmlns:a16="http://schemas.microsoft.com/office/drawing/2014/main" id="{CBC54F91-6C2F-42CE-97A4-E1E46F9F394C}"/>
              </a:ext>
            </a:extLst>
          </p:cNvPr>
          <p:cNvSpPr>
            <a:spLocks xmlns:a="http://schemas.openxmlformats.org/drawingml/2006/main" noGrp="1"/>
          </p:cNvSpPr>
          <p:nvPr/>
        </p:nvSpPr>
        <p:spPr>
          <a:xfrm xmlns:a="http://schemas.openxmlformats.org/drawingml/2006/main">
            <a:off x="317500" y="80391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Source dates, hashes and workflow logic</a:t>
            </a:r>
          </a:p>
        </p:txBody>
      </p:sp>
      <p:sp>
        <p:nvSpPr>
          <p:cNvPr id="23" name="text-471">
            <a:extLst xmlns:a="http://schemas.openxmlformats.org/drawingml/2006/main">
              <a:ext uri="{FF2B5EF4-FFF2-40B4-BE49-F238E27FC236}">
                <a16:creationId xmlns:a16="http://schemas.microsoft.com/office/drawing/2014/main" id="{3F84A065-7FED-41F1-B7E9-D0DD5961768F}"/>
              </a:ext>
            </a:extLst>
          </p:cNvPr>
          <p:cNvSpPr>
            <a:spLocks xmlns:a="http://schemas.openxmlformats.org/drawingml/2006/main" noGrp="1"/>
          </p:cNvSpPr>
          <p:nvPr/>
        </p:nvSpPr>
        <p:spPr>
          <a:xfrm xmlns:a="http://schemas.openxmlformats.org/drawingml/2006/main">
            <a:off x="317500" y="86233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dbdb6a28de064e3e"/>
              </a:rPr>
              <a:t>O*NET attribution: CC BY 4.0</a:t>
            </a:r>
          </a:p>
        </p:txBody>
      </p:sp>
      <p:graphicFrame>
        <p:nvGraphicFramePr>
          <p:cNvPr id="24" name="">
            <a:extLst xmlns:a="http://schemas.openxmlformats.org/drawingml/2006/main">
              <a:ext uri="{FF2B5EF4-FFF2-40B4-BE49-F238E27FC236}">
                <a16:creationId xmlns:a16="http://schemas.microsoft.com/office/drawing/2014/main" id="{77D2ECFA-5F07-45BF-8EA7-52F73A254B6B}"/>
              </a:ext>
            </a:extLst>
          </p:cNvPr>
          <p:cNvGraphicFramePr/>
          <p:nvPr/>
        </p:nvGraphicFramePr>
        <p:xfrm>
          <a:off xmlns:a="http://schemas.openxmlformats.org/drawingml/2006/main" x="5321300" y="2171700"/>
          <a:ext xmlns:a="http://schemas.openxmlformats.org/drawingml/2006/main" cx="12865100" cy="5905500"/>
        </p:xfrm>
        <a:graphic xmlns:a="http://schemas.openxmlformats.org/drawingml/2006/main">
          <a:graphicData uri="http://schemas.openxmlformats.org/drawingml/2006/table">
            <a:tbl>
              <a:tblPr/>
              <a:tblGrid>
                <a:gridCol w="2336800"/>
                <a:gridCol w="2273300"/>
                <a:gridCol w="2063750"/>
                <a:gridCol w="2063750"/>
                <a:gridCol w="2063750"/>
                <a:gridCol w="2063750"/>
              </a:tblGrid>
              <a:tr h="939800">
                <a:tc>
                  <a:txBody>
                    <a:bodyPr wrap="square" lIns="101600" tIns="101600" rIns="101600" bIns="101600">
                      <a:noAutofit/>
                    </a:bodyPr>
                    <a:lstStyle/>
                    <a:p>
                      <a:pPr algn="ctr"/>
                      <a:r>
                        <a:rPr sz="1900" b="1">
                          <a:solidFill>
                            <a:srgbClr val="000000"/>
                          </a:solidFill>
                          <a:latin typeface="Times New Roman"/>
                          <a:ea typeface="Times New Roman"/>
                          <a:cs typeface="Times New Roman"/>
                        </a:rPr>
                        <a:t>Capability</a:t>
                      </a:r>
                    </a:p>
                  </a:txBody>
                  <a:tcPr marL="50800" marR="50800" marT="38100" marB="38100" anchor="ctr">
                    <a:solidFill>
                      <a:srgbClr val="D7E9FA"/>
                    </a:solidFill>
                  </a:tcPr>
                </a:tc>
                <a:tc>
                  <a:txBody>
                    <a:bodyPr wrap="square" lIns="101600" tIns="101600" rIns="101600" bIns="101600">
                      <a:noAutofit/>
                    </a:bodyPr>
                    <a:lstStyle/>
                    <a:p>
                      <a:pPr algn="ctr"/>
                      <a:r>
                        <a:rPr sz="1900" b="1">
                          <a:solidFill>
                            <a:srgbClr val="000000"/>
                          </a:solidFill>
                          <a:latin typeface="Times New Roman"/>
                          <a:ea typeface="Times New Roman"/>
                          <a:cs typeface="Times New Roman"/>
                        </a:rPr>
                        <a:t>Workforce</a:t>
                      </a:r>
                    </a:p>
                    <a:p>
                      <a:pPr algn="ctr"/>
                      <a:r>
                        <a:rPr sz="1900" b="1">
                          <a:solidFill>
                            <a:srgbClr val="000000"/>
                          </a:solidFill>
                          <a:latin typeface="Times New Roman"/>
                          <a:ea typeface="Times New Roman"/>
                          <a:cs typeface="Times New Roman"/>
                        </a:rPr>
                        <a:t>Advisory</a:t>
                      </a:r>
                    </a:p>
                  </a:txBody>
                  <a:tcPr marL="50800" marR="50800" marT="38100" marB="38100" anchor="ctr">
                    <a:solidFill>
                      <a:srgbClr val="C8F7E4"/>
                    </a:solidFill>
                  </a:tcPr>
                </a:tc>
                <a:tc>
                  <a:txBody>
                    <a:bodyPr wrap="square" lIns="101600" tIns="101600" rIns="101600" bIns="101600">
                      <a:noAutofit/>
                    </a:bodyPr>
                    <a:lstStyle/>
                    <a:p>
                      <a:pPr algn="ctr"/>
                      <a:r>
                        <a:rPr sz="1900" b="1">
                          <a:solidFill>
                            <a:srgbClr val="000000"/>
                          </a:solidFill>
                          <a:latin typeface="Times New Roman"/>
                          <a:ea typeface="Times New Roman"/>
                          <a:cs typeface="Times New Roman"/>
                        </a:rPr>
                        <a:t>HRIS</a:t>
                      </a:r>
                    </a:p>
                  </a:txBody>
                  <a:tcPr marL="50800" marR="50800" marT="38100" marB="38100" anchor="ctr">
                    <a:solidFill>
                      <a:srgbClr val="E0F4FF"/>
                    </a:solidFill>
                  </a:tcPr>
                </a:tc>
                <a:tc>
                  <a:txBody>
                    <a:bodyPr wrap="square" lIns="101600" tIns="101600" rIns="101600" bIns="101600">
                      <a:noAutofit/>
                    </a:bodyPr>
                    <a:lstStyle/>
                    <a:p>
                      <a:pPr algn="ctr"/>
                      <a:r>
                        <a:rPr sz="1900" b="1">
                          <a:solidFill>
                            <a:srgbClr val="000000"/>
                          </a:solidFill>
                          <a:latin typeface="Times New Roman"/>
                          <a:ea typeface="Times New Roman"/>
                          <a:cs typeface="Times New Roman"/>
                        </a:rPr>
                        <a:t>ATS</a:t>
                      </a:r>
                    </a:p>
                  </a:txBody>
                  <a:tcPr marL="50800" marR="50800" marT="38100" marB="38100" anchor="ctr">
                    <a:solidFill>
                      <a:srgbClr val="F5F6DD"/>
                    </a:solidFill>
                  </a:tcPr>
                </a:tc>
                <a:tc>
                  <a:txBody>
                    <a:bodyPr wrap="square" lIns="101600" tIns="101600" rIns="101600" bIns="101600">
                      <a:noAutofit/>
                    </a:bodyPr>
                    <a:lstStyle/>
                    <a:p>
                      <a:pPr algn="ctr"/>
                      <a:r>
                        <a:rPr sz="1900" b="1">
                          <a:solidFill>
                            <a:srgbClr val="000000"/>
                          </a:solidFill>
                          <a:latin typeface="Times New Roman"/>
                          <a:ea typeface="Times New Roman"/>
                          <a:cs typeface="Times New Roman"/>
                        </a:rPr>
                        <a:t>VMS</a:t>
                      </a:r>
                    </a:p>
                  </a:txBody>
                  <a:tcPr marL="50800" marR="50800" marT="38100" marB="38100" anchor="ctr">
                    <a:solidFill>
                      <a:srgbClr val="FBE8E6"/>
                    </a:solidFill>
                  </a:tcPr>
                </a:tc>
                <a:tc>
                  <a:txBody>
                    <a:bodyPr wrap="square" lIns="101600" tIns="101600" rIns="101600" bIns="101600">
                      <a:noAutofit/>
                    </a:bodyPr>
                    <a:lstStyle/>
                    <a:p>
                      <a:pPr algn="ctr"/>
                      <a:r>
                        <a:rPr sz="1900" b="1">
                          <a:solidFill>
                            <a:srgbClr val="000000"/>
                          </a:solidFill>
                          <a:latin typeface="Times New Roman"/>
                          <a:ea typeface="Times New Roman"/>
                          <a:cs typeface="Times New Roman"/>
                        </a:rPr>
                        <a:t>Job boards</a:t>
                      </a:r>
                    </a:p>
                  </a:txBody>
                  <a:tcPr marL="50800" marR="50800" marT="38100" marB="38100" anchor="ctr">
                    <a:solidFill>
                      <a:srgbClr val="E9E5FA"/>
                    </a:solidFill>
                  </a:tcPr>
                </a:tc>
              </a:tr>
              <a:tr h="711200">
                <a:tc>
                  <a:txBody>
                    <a:bodyPr wrap="square" lIns="101600" tIns="101600" rIns="101600" bIns="101600">
                      <a:noAutofit/>
                    </a:bodyPr>
                    <a:lstStyle/>
                    <a:p>
                      <a:pPr algn="ctr"/>
                      <a:r>
                        <a:rPr sz="1700" b="1">
                          <a:solidFill>
                            <a:srgbClr val="000000"/>
                          </a:solidFill>
                          <a:latin typeface="Times New Roman"/>
                          <a:ea typeface="Times New Roman"/>
                          <a:cs typeface="Times New Roman"/>
                        </a:rPr>
                        <a:t>Primary purpose</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Decision before</a:t>
                      </a:r>
                    </a:p>
                    <a:p>
                      <a:pPr algn="ctr"/>
                      <a:r>
                        <a:rPr sz="1700" b="0">
                          <a:solidFill>
                            <a:srgbClr val="000000"/>
                          </a:solidFill>
                          <a:latin typeface="Times New Roman"/>
                          <a:ea typeface="Times New Roman"/>
                          <a:cs typeface="Times New Roman"/>
                        </a:rPr>
                        <a:t>requisition</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Employee</a:t>
                      </a:r>
                    </a:p>
                    <a:p>
                      <a:pPr algn="ctr"/>
                      <a:r>
                        <a:rPr sz="1700" b="0">
                          <a:solidFill>
                            <a:srgbClr val="000000"/>
                          </a:solidFill>
                          <a:latin typeface="Times New Roman"/>
                          <a:ea typeface="Times New Roman"/>
                          <a:cs typeface="Times New Roman"/>
                        </a:rPr>
                        <a:t>records</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Recruitment</a:t>
                      </a:r>
                    </a:p>
                    <a:p>
                      <a:pPr algn="ctr"/>
                      <a:r>
                        <a:rPr sz="1700" b="0">
                          <a:solidFill>
                            <a:srgbClr val="000000"/>
                          </a:solidFill>
                          <a:latin typeface="Times New Roman"/>
                          <a:ea typeface="Times New Roman"/>
                          <a:cs typeface="Times New Roman"/>
                        </a:rPr>
                        <a:t>pipeline</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Contingent</a:t>
                      </a:r>
                    </a:p>
                    <a:p>
                      <a:pPr algn="ctr"/>
                      <a:r>
                        <a:rPr sz="1700" b="0">
                          <a:solidFill>
                            <a:srgbClr val="000000"/>
                          </a:solidFill>
                          <a:latin typeface="Times New Roman"/>
                          <a:ea typeface="Times New Roman"/>
                          <a:cs typeface="Times New Roman"/>
                        </a:rPr>
                        <a:t>workforce</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Advertised</a:t>
                      </a:r>
                    </a:p>
                    <a:p>
                      <a:pPr algn="ctr"/>
                      <a:r>
                        <a:rPr sz="1700" b="0">
                          <a:solidFill>
                            <a:srgbClr val="000000"/>
                          </a:solidFill>
                          <a:latin typeface="Times New Roman"/>
                          <a:ea typeface="Times New Roman"/>
                          <a:cs typeface="Times New Roman"/>
                        </a:rPr>
                        <a:t>vacancies</a:t>
                      </a:r>
                    </a:p>
                  </a:txBody>
                  <a:tcPr marL="50800" marR="50800" marT="38100" marB="38100" anchor="ctr">
                    <a:solidFill>
                      <a:srgbClr val="FFFFFF"/>
                    </a:solidFill>
                  </a:tcPr>
                </a:tc>
              </a:tr>
              <a:tr h="711200">
                <a:tc>
                  <a:txBody>
                    <a:bodyPr wrap="square" lIns="101600" tIns="101600" rIns="101600" bIns="101600">
                      <a:noAutofit/>
                    </a:bodyPr>
                    <a:lstStyle/>
                    <a:p>
                      <a:pPr algn="ctr"/>
                      <a:r>
                        <a:rPr sz="1700" b="1">
                          <a:solidFill>
                            <a:srgbClr val="000000"/>
                          </a:solidFill>
                          <a:latin typeface="Times New Roman"/>
                          <a:ea typeface="Times New Roman"/>
                          <a:cs typeface="Times New Roman"/>
                        </a:rPr>
                        <a:t>People evidence</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Assessments and</a:t>
                      </a:r>
                    </a:p>
                    <a:p>
                      <a:pPr algn="ctr"/>
                      <a:r>
                        <a:rPr sz="1700" b="0">
                          <a:solidFill>
                            <a:srgbClr val="000000"/>
                          </a:solidFill>
                          <a:latin typeface="Times New Roman"/>
                          <a:ea typeface="Times New Roman"/>
                          <a:cs typeface="Times New Roman"/>
                        </a:rPr>
                        <a:t>separate claims</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Employee</a:t>
                      </a:r>
                    </a:p>
                    <a:p>
                      <a:pPr algn="ctr"/>
                      <a:r>
                        <a:rPr sz="1700" b="0">
                          <a:solidFill>
                            <a:srgbClr val="000000"/>
                          </a:solidFill>
                          <a:latin typeface="Times New Roman"/>
                          <a:ea typeface="Times New Roman"/>
                          <a:cs typeface="Times New Roman"/>
                        </a:rPr>
                        <a:t>profile data</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Candidate</a:t>
                      </a:r>
                    </a:p>
                    <a:p>
                      <a:pPr algn="ctr"/>
                      <a:r>
                        <a:rPr sz="1700" b="0">
                          <a:solidFill>
                            <a:srgbClr val="000000"/>
                          </a:solidFill>
                          <a:latin typeface="Times New Roman"/>
                          <a:ea typeface="Times New Roman"/>
                          <a:cs typeface="Times New Roman"/>
                        </a:rPr>
                        <a:t>records</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Contractor</a:t>
                      </a:r>
                    </a:p>
                    <a:p>
                      <a:pPr algn="ctr"/>
                      <a:r>
                        <a:rPr sz="1700" b="0">
                          <a:solidFill>
                            <a:srgbClr val="000000"/>
                          </a:solidFill>
                          <a:latin typeface="Times New Roman"/>
                          <a:ea typeface="Times New Roman"/>
                          <a:cs typeface="Times New Roman"/>
                        </a:rPr>
                        <a:t>records</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Job</a:t>
                      </a:r>
                    </a:p>
                    <a:p>
                      <a:pPr algn="ctr"/>
                      <a:r>
                        <a:rPr sz="1700" b="0">
                          <a:solidFill>
                            <a:srgbClr val="000000"/>
                          </a:solidFill>
                          <a:latin typeface="Times New Roman"/>
                          <a:ea typeface="Times New Roman"/>
                          <a:cs typeface="Times New Roman"/>
                        </a:rPr>
                        <a:t>requirements</a:t>
                      </a:r>
                    </a:p>
                  </a:txBody>
                  <a:tcPr marL="50800" marR="50800" marT="38100" marB="38100" anchor="ctr">
                    <a:solidFill>
                      <a:srgbClr val="FFFFFF"/>
                    </a:solidFill>
                  </a:tcPr>
                </a:tc>
              </a:tr>
              <a:tr h="711200">
                <a:tc>
                  <a:txBody>
                    <a:bodyPr wrap="square" lIns="101600" tIns="101600" rIns="101600" bIns="101600">
                      <a:noAutofit/>
                    </a:bodyPr>
                    <a:lstStyle/>
                    <a:p>
                      <a:pPr algn="ctr"/>
                      <a:r>
                        <a:rPr sz="1700" b="1">
                          <a:solidFill>
                            <a:srgbClr val="000000"/>
                          </a:solidFill>
                          <a:latin typeface="Times New Roman"/>
                          <a:ea typeface="Times New Roman"/>
                          <a:cs typeface="Times New Roman"/>
                        </a:rPr>
                        <a:t>Internal development</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Skill gaps and</a:t>
                      </a:r>
                    </a:p>
                    <a:p>
                      <a:pPr algn="ctr"/>
                      <a:r>
                        <a:rPr sz="1700" b="0">
                          <a:solidFill>
                            <a:srgbClr val="000000"/>
                          </a:solidFill>
                          <a:latin typeface="Times New Roman"/>
                          <a:ea typeface="Times New Roman"/>
                          <a:cs typeface="Times New Roman"/>
                        </a:rPr>
                        <a:t>learning plans</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Source</a:t>
                      </a:r>
                    </a:p>
                    <a:p>
                      <a:pPr algn="ctr"/>
                      <a:r>
                        <a:rPr sz="1700" b="0">
                          <a:solidFill>
                            <a:srgbClr val="000000"/>
                          </a:solidFill>
                          <a:latin typeface="Times New Roman"/>
                          <a:ea typeface="Times New Roman"/>
                          <a:cs typeface="Times New Roman"/>
                        </a:rPr>
                        <a:t>records</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Role</a:t>
                      </a:r>
                    </a:p>
                    <a:p>
                      <a:pPr algn="ctr"/>
                      <a:r>
                        <a:rPr sz="1700" b="0">
                          <a:solidFill>
                            <a:srgbClr val="000000"/>
                          </a:solidFill>
                          <a:latin typeface="Times New Roman"/>
                          <a:ea typeface="Times New Roman"/>
                          <a:cs typeface="Times New Roman"/>
                        </a:rPr>
                        <a:t>dependent</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Limited</a:t>
                      </a:r>
                    </a:p>
                    <a:p>
                      <a:pPr algn="ctr"/>
                      <a:r>
                        <a:rPr sz="1700" b="0">
                          <a:solidFill>
                            <a:srgbClr val="000000"/>
                          </a:solidFill>
                          <a:latin typeface="Times New Roman"/>
                          <a:ea typeface="Times New Roman"/>
                          <a:cs typeface="Times New Roman"/>
                        </a:rPr>
                        <a:t>scope</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Not a</a:t>
                      </a:r>
                    </a:p>
                    <a:p>
                      <a:pPr algn="ctr"/>
                      <a:r>
                        <a:rPr sz="1700" b="0">
                          <a:solidFill>
                            <a:srgbClr val="000000"/>
                          </a:solidFill>
                          <a:latin typeface="Times New Roman"/>
                          <a:ea typeface="Times New Roman"/>
                          <a:cs typeface="Times New Roman"/>
                        </a:rPr>
                        <a:t>people record</a:t>
                      </a:r>
                    </a:p>
                  </a:txBody>
                  <a:tcPr marL="50800" marR="50800" marT="38100" marB="38100" anchor="ctr">
                    <a:solidFill>
                      <a:srgbClr val="FFFFFF"/>
                    </a:solidFill>
                  </a:tcPr>
                </a:tc>
              </a:tr>
              <a:tr h="711200">
                <a:tc>
                  <a:txBody>
                    <a:bodyPr wrap="square" lIns="101600" tIns="101600" rIns="101600" bIns="101600">
                      <a:noAutofit/>
                    </a:bodyPr>
                    <a:lstStyle/>
                    <a:p>
                      <a:pPr algn="ctr"/>
                      <a:r>
                        <a:rPr sz="1700" b="1">
                          <a:solidFill>
                            <a:srgbClr val="000000"/>
                          </a:solidFill>
                          <a:latin typeface="Times New Roman"/>
                          <a:ea typeface="Times New Roman"/>
                          <a:cs typeface="Times New Roman"/>
                        </a:rPr>
                        <a:t>Contractor options</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Match, rates and</a:t>
                      </a:r>
                    </a:p>
                    <a:p>
                      <a:pPr algn="ctr"/>
                      <a:r>
                        <a:rPr sz="1700" b="0">
                          <a:solidFill>
                            <a:srgbClr val="000000"/>
                          </a:solidFill>
                          <a:latin typeface="Times New Roman"/>
                          <a:ea typeface="Times New Roman"/>
                          <a:cs typeface="Times New Roman"/>
                        </a:rPr>
                        <a:t>reported interest</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Context</a:t>
                      </a:r>
                    </a:p>
                    <a:p>
                      <a:pPr algn="ctr"/>
                      <a:r>
                        <a:rPr sz="1700" b="0">
                          <a:solidFill>
                            <a:srgbClr val="000000"/>
                          </a:solidFill>
                          <a:latin typeface="Times New Roman"/>
                          <a:ea typeface="Times New Roman"/>
                          <a:cs typeface="Times New Roman"/>
                        </a:rPr>
                        <a:t>dependent</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Hiring</a:t>
                      </a:r>
                    </a:p>
                    <a:p>
                      <a:pPr algn="ctr"/>
                      <a:r>
                        <a:rPr sz="1700" b="0">
                          <a:solidFill>
                            <a:srgbClr val="000000"/>
                          </a:solidFill>
                          <a:latin typeface="Times New Roman"/>
                          <a:ea typeface="Times New Roman"/>
                          <a:cs typeface="Times New Roman"/>
                        </a:rPr>
                        <a:t>context</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Core</a:t>
                      </a:r>
                    </a:p>
                    <a:p>
                      <a:pPr algn="ctr"/>
                      <a:r>
                        <a:rPr sz="1700" b="0">
                          <a:solidFill>
                            <a:srgbClr val="000000"/>
                          </a:solidFill>
                          <a:latin typeface="Times New Roman"/>
                          <a:ea typeface="Times New Roman"/>
                          <a:cs typeface="Times New Roman"/>
                        </a:rPr>
                        <a:t>workflow</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Contract</a:t>
                      </a:r>
                    </a:p>
                    <a:p>
                      <a:pPr algn="ctr"/>
                      <a:r>
                        <a:rPr sz="1700" b="0">
                          <a:solidFill>
                            <a:srgbClr val="000000"/>
                          </a:solidFill>
                          <a:latin typeface="Times New Roman"/>
                          <a:ea typeface="Times New Roman"/>
                          <a:cs typeface="Times New Roman"/>
                        </a:rPr>
                        <a:t>advertisements</a:t>
                      </a:r>
                    </a:p>
                  </a:txBody>
                  <a:tcPr marL="50800" marR="50800" marT="38100" marB="38100" anchor="ctr">
                    <a:solidFill>
                      <a:srgbClr val="FFFFFF"/>
                    </a:solidFill>
                  </a:tcPr>
                </a:tc>
              </a:tr>
              <a:tr h="711200">
                <a:tc>
                  <a:txBody>
                    <a:bodyPr wrap="square" lIns="101600" tIns="101600" rIns="101600" bIns="101600">
                      <a:noAutofit/>
                    </a:bodyPr>
                    <a:lstStyle/>
                    <a:p>
                      <a:pPr algn="ctr"/>
                      <a:r>
                        <a:rPr sz="1700" b="1">
                          <a:solidFill>
                            <a:srgbClr val="000000"/>
                          </a:solidFill>
                          <a:latin typeface="Times New Roman"/>
                          <a:ea typeface="Times New Roman"/>
                          <a:cs typeface="Times New Roman"/>
                        </a:rPr>
                        <a:t>Market context</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Dated ads and</a:t>
                      </a:r>
                    </a:p>
                    <a:p>
                      <a:pPr algn="ctr"/>
                      <a:r>
                        <a:rPr sz="1700" b="0">
                          <a:solidFill>
                            <a:srgbClr val="000000"/>
                          </a:solidFill>
                          <a:latin typeface="Times New Roman"/>
                          <a:ea typeface="Times New Roman"/>
                          <a:cs typeface="Times New Roman"/>
                        </a:rPr>
                        <a:t>permitted samples</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Internal</a:t>
                      </a:r>
                    </a:p>
                    <a:p>
                      <a:pPr algn="ctr"/>
                      <a:r>
                        <a:rPr sz="1700" b="0">
                          <a:solidFill>
                            <a:srgbClr val="000000"/>
                          </a:solidFill>
                          <a:latin typeface="Times New Roman"/>
                          <a:ea typeface="Times New Roman"/>
                          <a:cs typeface="Times New Roman"/>
                        </a:rPr>
                        <a:t>compensation</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Hiring</a:t>
                      </a:r>
                    </a:p>
                    <a:p>
                      <a:pPr algn="ctr"/>
                      <a:r>
                        <a:rPr sz="1700" b="0">
                          <a:solidFill>
                            <a:srgbClr val="000000"/>
                          </a:solidFill>
                          <a:latin typeface="Times New Roman"/>
                          <a:ea typeface="Times New Roman"/>
                          <a:cs typeface="Times New Roman"/>
                        </a:rPr>
                        <a:t>outcomes</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Supplier</a:t>
                      </a:r>
                    </a:p>
                    <a:p>
                      <a:pPr algn="ctr"/>
                      <a:r>
                        <a:rPr sz="1700" b="0">
                          <a:solidFill>
                            <a:srgbClr val="000000"/>
                          </a:solidFill>
                          <a:latin typeface="Times New Roman"/>
                          <a:ea typeface="Times New Roman"/>
                          <a:cs typeface="Times New Roman"/>
                        </a:rPr>
                        <a:t>observations</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Published</a:t>
                      </a:r>
                    </a:p>
                    <a:p>
                      <a:pPr algn="ctr"/>
                      <a:r>
                        <a:rPr sz="1700" b="0">
                          <a:solidFill>
                            <a:srgbClr val="000000"/>
                          </a:solidFill>
                          <a:latin typeface="Times New Roman"/>
                          <a:ea typeface="Times New Roman"/>
                          <a:cs typeface="Times New Roman"/>
                        </a:rPr>
                        <a:t>job demand</a:t>
                      </a:r>
                    </a:p>
                  </a:txBody>
                  <a:tcPr marL="50800" marR="50800" marT="38100" marB="38100" anchor="ctr">
                    <a:solidFill>
                      <a:srgbClr val="FFFFFF"/>
                    </a:solidFill>
                  </a:tcPr>
                </a:tc>
              </a:tr>
              <a:tr h="711200">
                <a:tc>
                  <a:txBody>
                    <a:bodyPr wrap="square" lIns="101600" tIns="101600" rIns="101600" bIns="101600">
                      <a:noAutofit/>
                    </a:bodyPr>
                    <a:lstStyle/>
                    <a:p>
                      <a:pPr algn="ctr"/>
                      <a:r>
                        <a:rPr sz="1700" b="1">
                          <a:solidFill>
                            <a:srgbClr val="000000"/>
                          </a:solidFill>
                          <a:latin typeface="Times New Roman"/>
                          <a:ea typeface="Times New Roman"/>
                          <a:cs typeface="Times New Roman"/>
                        </a:rPr>
                        <a:t>Delivery alternatives</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Five-option</a:t>
                      </a:r>
                    </a:p>
                    <a:p>
                      <a:pPr algn="ctr"/>
                      <a:r>
                        <a:rPr sz="1700" b="0">
                          <a:solidFill>
                            <a:srgbClr val="000000"/>
                          </a:solidFill>
                          <a:latin typeface="Times New Roman"/>
                          <a:ea typeface="Times New Roman"/>
                          <a:cs typeface="Times New Roman"/>
                        </a:rPr>
                        <a:t>comparison</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Source to</a:t>
                      </a:r>
                    </a:p>
                    <a:p>
                      <a:pPr algn="ctr"/>
                      <a:r>
                        <a:rPr sz="1700" b="0">
                          <a:solidFill>
                            <a:srgbClr val="000000"/>
                          </a:solidFill>
                          <a:latin typeface="Times New Roman"/>
                          <a:ea typeface="Times New Roman"/>
                          <a:cs typeface="Times New Roman"/>
                        </a:rPr>
                        <a:t>comparison</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External</a:t>
                      </a:r>
                    </a:p>
                    <a:p>
                      <a:pPr algn="ctr"/>
                      <a:r>
                        <a:rPr sz="1700" b="0">
                          <a:solidFill>
                            <a:srgbClr val="000000"/>
                          </a:solidFill>
                          <a:latin typeface="Times New Roman"/>
                          <a:ea typeface="Times New Roman"/>
                          <a:cs typeface="Times New Roman"/>
                        </a:rPr>
                        <a:t>hiring flow</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Contingent</a:t>
                      </a:r>
                    </a:p>
                    <a:p>
                      <a:pPr algn="ctr"/>
                      <a:r>
                        <a:rPr sz="1700" b="0">
                          <a:solidFill>
                            <a:srgbClr val="000000"/>
                          </a:solidFill>
                          <a:latin typeface="Times New Roman"/>
                          <a:ea typeface="Times New Roman"/>
                          <a:cs typeface="Times New Roman"/>
                        </a:rPr>
                        <a:t>engagement</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External</a:t>
                      </a:r>
                    </a:p>
                    <a:p>
                      <a:pPr algn="ctr"/>
                      <a:r>
                        <a:rPr sz="1700" b="0">
                          <a:solidFill>
                            <a:srgbClr val="000000"/>
                          </a:solidFill>
                          <a:latin typeface="Times New Roman"/>
                          <a:ea typeface="Times New Roman"/>
                          <a:cs typeface="Times New Roman"/>
                        </a:rPr>
                        <a:t>sourcing</a:t>
                      </a:r>
                    </a:p>
                  </a:txBody>
                  <a:tcPr marL="50800" marR="50800" marT="38100" marB="38100" anchor="ctr">
                    <a:solidFill>
                      <a:srgbClr val="FFFFFF"/>
                    </a:solidFill>
                  </a:tcPr>
                </a:tc>
              </a:tr>
              <a:tr h="698500">
                <a:tc>
                  <a:txBody>
                    <a:bodyPr wrap="square" lIns="101600" tIns="101600" rIns="101600" bIns="101600">
                      <a:noAutofit/>
                    </a:bodyPr>
                    <a:lstStyle/>
                    <a:p>
                      <a:pPr algn="ctr"/>
                      <a:r>
                        <a:rPr sz="1700" b="1">
                          <a:solidFill>
                            <a:srgbClr val="000000"/>
                          </a:solidFill>
                          <a:latin typeface="Times New Roman"/>
                          <a:ea typeface="Times New Roman"/>
                          <a:cs typeface="Times New Roman"/>
                        </a:rPr>
                        <a:t>Human traceability</a:t>
                      </a:r>
                    </a:p>
                  </a:txBody>
                  <a:tcPr marL="50800" marR="50800" marT="38100" marB="38100" anchor="ctr">
                    <a:solidFill>
                      <a:srgbClr val="EAF5F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Rationale and</a:t>
                      </a:r>
                    </a:p>
                    <a:p>
                      <a:pPr algn="ctr"/>
                      <a:r>
                        <a:rPr sz="1700" b="0">
                          <a:solidFill>
                            <a:srgbClr val="000000"/>
                          </a:solidFill>
                          <a:latin typeface="Times New Roman"/>
                          <a:ea typeface="Times New Roman"/>
                          <a:cs typeface="Times New Roman"/>
                        </a:rPr>
                        <a:t>action history</a:t>
                      </a:r>
                    </a:p>
                  </a:txBody>
                  <a:tcPr marL="50800" marR="50800" marT="38100" marB="38100" anchor="ctr">
                    <a:solidFill>
                      <a:srgbClr val="E2F9EB"/>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System</a:t>
                      </a:r>
                    </a:p>
                    <a:p>
                      <a:pPr algn="ctr"/>
                      <a:r>
                        <a:rPr sz="1700" b="0">
                          <a:solidFill>
                            <a:srgbClr val="000000"/>
                          </a:solidFill>
                          <a:latin typeface="Times New Roman"/>
                          <a:ea typeface="Times New Roman"/>
                          <a:cs typeface="Times New Roman"/>
                        </a:rPr>
                        <a:t>dependent</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Stage</a:t>
                      </a:r>
                    </a:p>
                    <a:p>
                      <a:pPr algn="ctr"/>
                      <a:r>
                        <a:rPr sz="1700" b="0">
                          <a:solidFill>
                            <a:srgbClr val="000000"/>
                          </a:solidFill>
                          <a:latin typeface="Times New Roman"/>
                          <a:ea typeface="Times New Roman"/>
                          <a:cs typeface="Times New Roman"/>
                        </a:rPr>
                        <a:t>history</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Engagement</a:t>
                      </a:r>
                    </a:p>
                    <a:p>
                      <a:pPr algn="ctr"/>
                      <a:r>
                        <a:rPr sz="1700" b="0">
                          <a:solidFill>
                            <a:srgbClr val="000000"/>
                          </a:solidFill>
                          <a:latin typeface="Times New Roman"/>
                          <a:ea typeface="Times New Roman"/>
                          <a:cs typeface="Times New Roman"/>
                        </a:rPr>
                        <a:t>history</a:t>
                      </a:r>
                    </a:p>
                  </a:txBody>
                  <a:tcPr marL="50800" marR="50800" marT="38100" marB="38100" anchor="ctr">
                    <a:solidFill>
                      <a:srgbClr val="FFFFFF"/>
                    </a:solidFill>
                  </a:tcPr>
                </a:tc>
                <a:tc>
                  <a:txBody>
                    <a:bodyPr wrap="square" lIns="101600" tIns="101600" rIns="101600" bIns="101600">
                      <a:noAutofit/>
                    </a:bodyPr>
                    <a:lstStyle/>
                    <a:p>
                      <a:pPr algn="ctr"/>
                      <a:r>
                        <a:rPr sz="1700" b="0">
                          <a:solidFill>
                            <a:srgbClr val="000000"/>
                          </a:solidFill>
                          <a:latin typeface="Times New Roman"/>
                          <a:ea typeface="Times New Roman"/>
                          <a:cs typeface="Times New Roman"/>
                        </a:rPr>
                        <a:t>Posting</a:t>
                      </a:r>
                    </a:p>
                    <a:p>
                      <a:pPr algn="ctr"/>
                      <a:r>
                        <a:rPr sz="1700" b="0">
                          <a:solidFill>
                            <a:srgbClr val="000000"/>
                          </a:solidFill>
                          <a:latin typeface="Times New Roman"/>
                          <a:ea typeface="Times New Roman"/>
                          <a:cs typeface="Times New Roman"/>
                        </a:rPr>
                        <a:t>history</a:t>
                      </a:r>
                    </a:p>
                  </a:txBody>
                  <a:tcPr marL="50800" marR="50800" marT="38100" marB="38100" anchor="ctr">
                    <a:solidFill>
                      <a:srgbClr val="FFFFFF"/>
                    </a:solidFill>
                  </a:tcPr>
                </a:tc>
              </a:tr>
            </a:tbl>
          </a:graphicData>
        </a:graphic>
      </p:graphicFrame>
      <p:sp>
        <p:nvSpPr>
          <p:cNvPr id="25" name="text-473">
            <a:extLst xmlns:a="http://schemas.openxmlformats.org/drawingml/2006/main">
              <a:ext uri="{FF2B5EF4-FFF2-40B4-BE49-F238E27FC236}">
                <a16:creationId xmlns:a16="http://schemas.microsoft.com/office/drawing/2014/main" id="{FA3B2F66-2BA4-441E-AE82-DED9DAA457BB}"/>
              </a:ext>
            </a:extLst>
          </p:cNvPr>
          <p:cNvSpPr>
            <a:spLocks xmlns:a="http://schemas.openxmlformats.org/drawingml/2006/main" noGrp="1"/>
          </p:cNvSpPr>
          <p:nvPr/>
        </p:nvSpPr>
        <p:spPr>
          <a:xfrm xmlns:a="http://schemas.openxmlformats.org/drawingml/2006/main">
            <a:off x="5524500" y="8293100"/>
            <a:ext cx="123825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0" i="1">
                <a:solidFill>
                  <a:srgbClr val="000000"/>
                </a:solidFill>
                <a:latin typeface="Times New Roman"/>
                <a:ea typeface="Times New Roman"/>
                <a:cs typeface="Times New Roman"/>
              </a:defRPr>
            </a:defPPr>
          </a:lstStyle>
          <a:p xmlns:a="http://schemas.openxmlformats.org/drawingml/2006/main">
            <a:pPr algn="l">
              <a:defRPr sz="1900" b="0" i="1">
                <a:solidFill>
                  <a:srgbClr val="000000"/>
                </a:solidFill>
                <a:latin typeface="Times New Roman"/>
                <a:ea typeface="Times New Roman"/>
                <a:cs typeface="Times New Roman"/>
              </a:defRPr>
            </a:pPr>
            <a:r>
              <a:rPr sz="1900" b="0" i="1">
                <a:solidFill>
                  <a:srgbClr val="000000"/>
                </a:solidFill>
                <a:latin typeface="Times New Roman"/>
                <a:ea typeface="Times New Roman"/>
                <a:cs typeface="Times New Roman"/>
              </a:rPr>
              <a:t>Comparison describes typical system roles. Vendor capabilities vary.</a:t>
            </a:r>
          </a:p>
        </p:txBody>
      </p:sp>
      <p:sp>
        <p:nvSpPr>
          <p:cNvPr id="26" name="text-475">
            <a:extLst xmlns:a="http://schemas.openxmlformats.org/drawingml/2006/main">
              <a:ext uri="{FF2B5EF4-FFF2-40B4-BE49-F238E27FC236}">
                <a16:creationId xmlns:a16="http://schemas.microsoft.com/office/drawing/2014/main" id="{3C5417E2-2BA4-487A-A4E2-FDE059F026FC}"/>
              </a:ext>
            </a:extLst>
          </p:cNvPr>
          <p:cNvSpPr>
            <a:spLocks xmlns:a="http://schemas.openxmlformats.org/drawingml/2006/main" noGrp="1"/>
          </p:cNvSpPr>
          <p:nvPr/>
        </p:nvSpPr>
        <p:spPr>
          <a:xfrm xmlns:a="http://schemas.openxmlformats.org/drawingml/2006/main">
            <a:off x="5524500" y="8763000"/>
            <a:ext cx="1239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214E83"/>
                </a:solidFill>
                <a:latin typeface="Times New Roman"/>
                <a:ea typeface="Times New Roman"/>
                <a:cs typeface="Times New Roman"/>
              </a:defRPr>
            </a:defPPr>
          </a:lstStyle>
          <a:p xmlns:a="http://schemas.openxmlformats.org/drawingml/2006/main">
            <a:pPr algn="l">
              <a:defRPr sz="2100" b="0" i="0">
                <a:solidFill>
                  <a:srgbClr val="214E83"/>
                </a:solidFill>
                <a:latin typeface="Times New Roman"/>
                <a:ea typeface="Times New Roman"/>
                <a:cs typeface="Times New Roman"/>
              </a:defRPr>
            </a:pPr>
            <a:r>
              <a:rPr sz="2100" b="0" i="0">
                <a:solidFill>
                  <a:srgbClr val="214E83"/>
                </a:solidFill>
                <a:latin typeface="Times New Roman"/>
                <a:ea typeface="Times New Roman"/>
                <a:cs typeface="Times New Roman"/>
              </a:rPr>
              <a:t>Real reference data supports the prototype. Private workforce data needs authorization.</a:t>
            </a:r>
          </a:p>
        </p:txBody>
      </p:sp>
    </p:spTree>
    <p:extLst>
      <p:ext uri="{BB962C8B-B14F-4D97-AF65-F5344CB8AC3E}">
        <p14:creationId xmlns:p14="http://schemas.microsoft.com/office/powerpoint/2010/main" val="1867243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2026-10-08T12:21:23.6310000Z</dcterms:created>
  <dcterms:modified xsi:type="dcterms:W3CDTF">2026-10-08T12:21:23.6320000Z</dcterms:modified>
</coreProperties>
</file>